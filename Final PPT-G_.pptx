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eb1e61717b4d6c" /><Relationship Type="http://schemas.openxmlformats.org/officeDocument/2006/relationships/extended-properties" Target="/docProps/app.xml" Id="Rec337ad2e89444e3" /><Relationship Type="http://schemas.openxmlformats.org/officeDocument/2006/relationships/officeDocument" Target="/ppt/presentation.xml" Id="Rcf733bfeb6b04e51" /></Relationships>
</file>

<file path=ppt/presentation.xml><?xml version="1.0" encoding="utf-8"?>
<p:presentation xmlns:p="http://schemas.openxmlformats.org/presentationml/2006/main">
  <p:sldMasterIdLst>
    <p:sldMasterId xmlns:r="http://schemas.openxmlformats.org/officeDocument/2006/relationships" id="2147483648" r:id="R3842eb6532cf4f27"/>
  </p:sldMasterIdLst>
  <p:notesMasterIdLst>
    <p:notesMasterId xmlns:r="http://schemas.openxmlformats.org/officeDocument/2006/relationships" r:id="Rc4ed32cfeeb34ebd"/>
  </p:notesMasterIdLst>
  <p:sldIdLst>
    <p:sldId xmlns:r="http://schemas.openxmlformats.org/officeDocument/2006/relationships" id="256" r:id="R8833c6909efc402b"/>
    <p:sldId xmlns:r="http://schemas.openxmlformats.org/officeDocument/2006/relationships" id="257" r:id="Rabdf0e08e3bb433b"/>
    <p:sldId xmlns:r="http://schemas.openxmlformats.org/officeDocument/2006/relationships" id="258" r:id="R18a431efc5914375"/>
    <p:sldId xmlns:r="http://schemas.openxmlformats.org/officeDocument/2006/relationships" id="259" r:id="R3e16b2d98c374b7a"/>
    <p:sldId xmlns:r="http://schemas.openxmlformats.org/officeDocument/2006/relationships" id="260" r:id="R6c504e0504c8490d"/>
    <p:sldId xmlns:r="http://schemas.openxmlformats.org/officeDocument/2006/relationships" id="261" r:id="R1aad2a9880084db1"/>
    <p:sldId xmlns:r="http://schemas.openxmlformats.org/officeDocument/2006/relationships" id="262" r:id="Rf4dd7f96ca994a34"/>
    <p:sldId xmlns:r="http://schemas.openxmlformats.org/officeDocument/2006/relationships" id="263" r:id="R63dcea30b65b49d3"/>
    <p:sldId xmlns:r="http://schemas.openxmlformats.org/officeDocument/2006/relationships" id="264" r:id="R98a9f4b19a004e70"/>
    <p:sldId xmlns:r="http://schemas.openxmlformats.org/officeDocument/2006/relationships" id="265" r:id="R6f95987176a94f75"/>
    <p:sldId xmlns:r="http://schemas.openxmlformats.org/officeDocument/2006/relationships" id="266" r:id="R56675af1245249e4"/>
    <p:sldId xmlns:r="http://schemas.openxmlformats.org/officeDocument/2006/relationships" id="267" r:id="Rcd21797062464bfe"/>
    <p:sldId xmlns:r="http://schemas.openxmlformats.org/officeDocument/2006/relationships" id="268" r:id="Raa60c73d946246dc"/>
    <p:sldId xmlns:r="http://schemas.openxmlformats.org/officeDocument/2006/relationships" id="269" r:id="R8bfe7911d9c54a50"/>
    <p:sldId xmlns:r="http://schemas.openxmlformats.org/officeDocument/2006/relationships" id="270" r:id="R17d48282b8df49c8"/>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af0e941a72c4d3b" /><Relationship Type="http://schemas.openxmlformats.org/officeDocument/2006/relationships/slideMaster" Target="/ppt/slideMasters/slideMaster1.xml" Id="R3842eb6532cf4f27" /><Relationship Type="http://schemas.openxmlformats.org/officeDocument/2006/relationships/notesMaster" Target="/ppt/notesMasters/notesMaster1.xml" Id="Rc4ed32cfeeb34ebd" /><Relationship Type="http://schemas.openxmlformats.org/officeDocument/2006/relationships/presProps" Target="/ppt/presProps.xml" Id="R63d58ab75acb4156" /><Relationship Type="http://schemas.openxmlformats.org/officeDocument/2006/relationships/viewProps" Target="/ppt/viewProps.xml" Id="R7fe04892efff4f9c" /><Relationship Type="http://schemas.openxmlformats.org/officeDocument/2006/relationships/tableStyles" Target="/ppt/tableStyles.xml" Id="R6b08ed6ed2e84d60" /><Relationship Type="http://schemas.openxmlformats.org/officeDocument/2006/relationships/slide" Target="/ppt/slides/slide1.xml" Id="R8833c6909efc402b" /><Relationship Type="http://schemas.openxmlformats.org/officeDocument/2006/relationships/slide" Target="/ppt/slides/slide2.xml" Id="Rabdf0e08e3bb433b" /><Relationship Type="http://schemas.openxmlformats.org/officeDocument/2006/relationships/slide" Target="/ppt/slides/slide3.xml" Id="R18a431efc5914375" /><Relationship Type="http://schemas.openxmlformats.org/officeDocument/2006/relationships/slide" Target="/ppt/slides/slide4.xml" Id="R3e16b2d98c374b7a" /><Relationship Type="http://schemas.openxmlformats.org/officeDocument/2006/relationships/slide" Target="/ppt/slides/slide5.xml" Id="R6c504e0504c8490d" /><Relationship Type="http://schemas.openxmlformats.org/officeDocument/2006/relationships/slide" Target="/ppt/slides/slide6.xml" Id="R1aad2a9880084db1" /><Relationship Type="http://schemas.openxmlformats.org/officeDocument/2006/relationships/slide" Target="/ppt/slides/slide7.xml" Id="Rf4dd7f96ca994a34" /><Relationship Type="http://schemas.openxmlformats.org/officeDocument/2006/relationships/slide" Target="/ppt/slides/slide8.xml" Id="R63dcea30b65b49d3" /><Relationship Type="http://schemas.openxmlformats.org/officeDocument/2006/relationships/slide" Target="/ppt/slides/slide9.xml" Id="R98a9f4b19a004e70" /><Relationship Type="http://schemas.openxmlformats.org/officeDocument/2006/relationships/slide" Target="/ppt/slides/slide10.xml" Id="R6f95987176a94f75" /><Relationship Type="http://schemas.openxmlformats.org/officeDocument/2006/relationships/slide" Target="/ppt/slides/slide11.xml" Id="R56675af1245249e4" /><Relationship Type="http://schemas.openxmlformats.org/officeDocument/2006/relationships/slide" Target="/ppt/slides/slide12.xml" Id="Rcd21797062464bfe" /><Relationship Type="http://schemas.openxmlformats.org/officeDocument/2006/relationships/slide" Target="/ppt/slides/slide13.xml" Id="Raa60c73d946246dc" /><Relationship Type="http://schemas.openxmlformats.org/officeDocument/2006/relationships/slide" Target="/ppt/slides/slide14.xml" Id="R8bfe7911d9c54a50" /><Relationship Type="http://schemas.openxmlformats.org/officeDocument/2006/relationships/slide" Target="/ppt/slides/slide15.xml" Id="R17d48282b8df49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6965b7cfe546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492ed265a24097" /><Relationship Type="http://schemas.openxmlformats.org/officeDocument/2006/relationships/notesMaster" Target="/ppt/notesMasters/notesMaster1.xml" Id="Rc97c64dfe8ee40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09ef40b75143f2" /><Relationship Type="http://schemas.openxmlformats.org/officeDocument/2006/relationships/notesMaster" Target="/ppt/notesMasters/notesMaster1.xml" Id="R5ba21d3efb9948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0b39ac3f904c7a" /><Relationship Type="http://schemas.openxmlformats.org/officeDocument/2006/relationships/notesMaster" Target="/ppt/notesMasters/notesMaster1.xml" Id="R37884a42b1b946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16d496f6834fc6" /><Relationship Type="http://schemas.openxmlformats.org/officeDocument/2006/relationships/notesMaster" Target="/ppt/notesMasters/notesMaster1.xml" Id="R287c65db3d8641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7998c238374b44" /><Relationship Type="http://schemas.openxmlformats.org/officeDocument/2006/relationships/notesMaster" Target="/ppt/notesMasters/notesMaster1.xml" Id="Rb5aeb47f308e44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7784c43f35499e" /><Relationship Type="http://schemas.openxmlformats.org/officeDocument/2006/relationships/notesMaster" Target="/ppt/notesMasters/notesMaster1.xml" Id="Rf41ec2a2211f4d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20fa0e15ff47a5" /><Relationship Type="http://schemas.openxmlformats.org/officeDocument/2006/relationships/notesMaster" Target="/ppt/notesMasters/notesMaster1.xml" Id="R208be543fe9948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3603d27cb44068" /><Relationship Type="http://schemas.openxmlformats.org/officeDocument/2006/relationships/notesMaster" Target="/ppt/notesMasters/notesMaster1.xml" Id="Ra2592df479be46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c5786dae1b48ca" /><Relationship Type="http://schemas.openxmlformats.org/officeDocument/2006/relationships/notesMaster" Target="/ppt/notesMasters/notesMaster1.xml" Id="Rf7e20345427b47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bf92f3eb7d48df" /><Relationship Type="http://schemas.openxmlformats.org/officeDocument/2006/relationships/notesMaster" Target="/ppt/notesMasters/notesMaster1.xml" Id="R4f84c2b4f5134c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bd74141bc44f1e" /><Relationship Type="http://schemas.openxmlformats.org/officeDocument/2006/relationships/notesMaster" Target="/ppt/notesMasters/notesMaster1.xml" Id="R379f0c98bbce4e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8e1923b91842fb" /><Relationship Type="http://schemas.openxmlformats.org/officeDocument/2006/relationships/notesMaster" Target="/ppt/notesMasters/notesMaster1.xml" Id="R4a14bec4b51045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3f1e8d669e44a2" /><Relationship Type="http://schemas.openxmlformats.org/officeDocument/2006/relationships/notesMaster" Target="/ppt/notesMasters/notesMaster1.xml" Id="Rb65bc300c3ad4b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c6ced87ee541b8" /><Relationship Type="http://schemas.openxmlformats.org/officeDocument/2006/relationships/notesMaster" Target="/ppt/notesMasters/notesMaster1.xml" Id="Re710a53896fa48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499c30fc2e4efb" /><Relationship Type="http://schemas.openxmlformats.org/officeDocument/2006/relationships/notesMaster" Target="/ppt/notesMasters/notesMaster1.xml" Id="R0fd5d8e7ad7542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earlier custom part-aware loss did not demonstrate an output-level gain, so we changed the final-week strategy: find a published method built directly on DM-GAN, obtain its author-released checkpoint, and test it under one fixed evaluator. The main result is DM-GAN-MDD. It beats DM-GAN on both primary metrics when conditioning augmentation is matched, but it does not dominate DM-GAN under each repository's native default. That condition is the central message.</a:t>
            </a:r>
            <a:endParaRPr/>
          </a:p>
          <a:p xmlns:a="http://schemas.openxmlformats.org/drawingml/2006/main">
            <a:r>
              <a:t/>
            </a:r>
            <a:endParaRPr/>
          </a:p>
          <a:p xmlns:a="http://schemas.openxmlformats.org/drawingml/2006/main">
            <a:r>
              <a:t>[Sources]</a:t>
            </a:r>
            <a:endParaRPr/>
          </a:p>
          <a:p xmlns:a="http://schemas.openxmlformats.org/drawingml/2006/main">
            <a:r>
              <a:t>/home/zjk/Desktop/DM-GANS/artifacts/final/mdd_matched_mean_30k/report.json</a:t>
            </a:r>
            <a:endParaRPr/>
          </a:p>
          <a:p xmlns:a="http://schemas.openxmlformats.org/drawingml/2006/main">
            <a:r>
              <a:t>/home/zjk/Desktop/DM-GANS/artifacts/final/mdd_native_30k/report.json</a:t>
            </a:r>
            <a:endParaRPr/>
          </a:p>
          <a:p xmlns:a="http://schemas.openxmlformats.org/drawingml/2006/main">
            <a:r>
              <a:t>https://doi.org/10.1109/TMM.2021.3075997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define better before reading the result. FID measures distribution-level visual quality and diversity. R-precision checks whether an image matches its intended caption better than 99 other-class captions. A candidate passes only if FID is lower and the lower bound of the image-cluster bootstrap interval for its R change stays above minus one percentage point.</a:t>
            </a:r>
            <a:endParaRPr/>
          </a:p>
          <a:p xmlns:a="http://schemas.openxmlformats.org/drawingml/2006/main">
            <a:r>
              <a:t/>
            </a:r>
            <a:endParaRPr/>
          </a:p>
          <a:p xmlns:a="http://schemas.openxmlformats.org/drawingml/2006/main">
            <a:r>
              <a:t>[Sources]</a:t>
            </a:r>
            <a:endParaRPr/>
          </a:p>
          <a:p xmlns:a="http://schemas.openxmlformats.org/drawingml/2006/main">
            <a:r>
              <a:t>/home/zjk/Desktop/DM-GANS/scripts/evaluate_successor_checkpoint.py</a:t>
            </a:r>
            <a:endParaRPr/>
          </a:p>
          <a:p xmlns:a="http://schemas.openxmlformats.org/drawingml/2006/main">
            <a:r>
              <a:t>/home/zjk/Desktop/DM-GANS/artifacts/final/mdd_matched_mean_30k/report.json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DM-GAN first generates a low-resolution image and repeatedly queries rewritten word memory. MDD identifies a discriminator-side weakness: conventional features do not explicitly separate content shared with the text from image-only style. This lets us improve the training signal without replacing DM-GAN's inference pipeline.</a:t>
            </a:r>
            <a:endParaRPr/>
          </a:p>
          <a:p xmlns:a="http://schemas.openxmlformats.org/drawingml/2006/main">
            <a:r>
              <a:t/>
            </a:r>
            <a:endParaRPr/>
          </a:p>
          <a:p xmlns:a="http://schemas.openxmlformats.org/drawingml/2006/main">
            <a:r>
              <a:t>[Sources]</a:t>
            </a:r>
            <a:endParaRPr/>
          </a:p>
          <a:p xmlns:a="http://schemas.openxmlformats.org/drawingml/2006/main">
            <a:r>
              <a:t>https://openaccess.thecvf.com/content_CVPR_2019/papers/Zhu_DM-GAN_Dynamic_Memory_Generative_Adversarial_Networks_for_Text-To-Image_Synthesis_CVPR_2019_paper.pdf</a:t>
            </a:r>
            <a:endParaRPr/>
          </a:p>
          <a:p xmlns:a="http://schemas.openxmlformats.org/drawingml/2006/main">
            <a:r>
              <a:t>https://doi.org/10.1109/TMM.2021.3075997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generator and DAMSM weights were evaluated on 30,000 fixed test captions. Local FID is 15.7047 versus 15.34 in the repository; local R-precision is 76.84 percent versus 76.58 percent. This establishes a credible checkpoint and evaluation reproduction, not a repeat of the complete training run.</a:t>
            </a:r>
            <a:endParaRPr/>
          </a:p>
          <a:p xmlns:a="http://schemas.openxmlformats.org/drawingml/2006/main">
            <a:r>
              <a:t/>
            </a:r>
            <a:endParaRPr/>
          </a:p>
          <a:p xmlns:a="http://schemas.openxmlformats.org/drawingml/2006/main">
            <a:r>
              <a:t>[Sources]</a:t>
            </a:r>
            <a:endParaRPr/>
          </a:p>
          <a:p xmlns:a="http://schemas.openxmlformats.org/drawingml/2006/main">
            <a:r>
              <a:t>/home/zjk/Desktop/DM-GANS/artifacts/final/mdd_native_30k/report.json</a:t>
            </a:r>
            <a:endParaRPr/>
          </a:p>
          <a:p xmlns:a="http://schemas.openxmlformats.org/drawingml/2006/main">
            <a:r>
              <a:t>https://github.com/MinfengZhu/DM-GAN#performance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searched for published extensions with released material. MDD is the closest fit and publishes a compatible CUB generator. DM-GAN plus contrastive learning is also direct. DAE-GAN is aspect-aware but changes more of the generator. We select MDD as primary and retain the others as checks.</a:t>
            </a:r>
            <a:endParaRPr/>
          </a:p>
          <a:p xmlns:a="http://schemas.openxmlformats.org/drawingml/2006/main">
            <a:r>
              <a:t/>
            </a:r>
            <a:endParaRPr/>
          </a:p>
          <a:p xmlns:a="http://schemas.openxmlformats.org/drawingml/2006/main">
            <a:r>
              <a:t>[Sources]</a:t>
            </a:r>
            <a:endParaRPr/>
          </a:p>
          <a:p xmlns:a="http://schemas.openxmlformats.org/drawingml/2006/main">
            <a:r>
              <a:t>https://doi.org/10.1109/TMM.2021.3075997</a:t>
            </a:r>
            <a:endParaRPr/>
          </a:p>
          <a:p xmlns:a="http://schemas.openxmlformats.org/drawingml/2006/main">
            <a:r>
              <a:t>https://github.com/FangxiangFeng/DM-GAN-MDD</a:t>
            </a:r>
            <a:endParaRPr/>
          </a:p>
          <a:p xmlns:a="http://schemas.openxmlformats.org/drawingml/2006/main">
            <a:r>
              <a:t>https://arxiv.org/abs/2107.02423</a:t>
            </a:r>
            <a:endParaRPr/>
          </a:p>
          <a:p xmlns:a="http://schemas.openxmlformats.org/drawingml/2006/main">
            <a:r>
              <a:t>https://openaccess.thecvf.com/content/ICCV2021/papers/Ruan_DAE-GAN_Dynamic_Aspect-Aware_GAN_for_Text-to-Image_Synthesis_ICCV_2021_paper.pdf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MDD uses two additional losses so early discriminator layers produce a common representation for shared text-image content and a modality-specific representation for image style. Their combination supplies a richer adversarial signal. At test time, no extra parser or discriminator is needed.</a:t>
            </a:r>
            <a:endParaRPr/>
          </a:p>
          <a:p xmlns:a="http://schemas.openxmlformats.org/drawingml/2006/main">
            <a:r>
              <a:t/>
            </a:r>
            <a:endParaRPr/>
          </a:p>
          <a:p xmlns:a="http://schemas.openxmlformats.org/drawingml/2006/main">
            <a:r>
              <a:t>[Sources]</a:t>
            </a:r>
            <a:endParaRPr/>
          </a:p>
          <a:p xmlns:a="http://schemas.openxmlformats.org/drawingml/2006/main">
            <a:r>
              <a:t>https://doi.org/10.1109/TMM.2021.3075997</a:t>
            </a:r>
            <a:endParaRPr/>
          </a:p>
          <a:p xmlns:a="http://schemas.openxmlformats.org/drawingml/2006/main">
            <a:r>
              <a:t>https://github.com/FangxiangFeng/DM-GAN-MDD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pair shares its caption index, latent noise, negative-caption set, feature extractors, and real-image FID statistics. The MDD state loads strictly and hashes are recorded. Both sides use the corrected batch-major padding mask, so this is a shared-intent modern comparison rather than bit-exact reproduction of the legacy batch bug.</a:t>
            </a:r>
            <a:endParaRPr/>
          </a:p>
          <a:p xmlns:a="http://schemas.openxmlformats.org/drawingml/2006/main">
            <a:r>
              <a:t/>
            </a:r>
            <a:endParaRPr/>
          </a:p>
          <a:p xmlns:a="http://schemas.openxmlformats.org/drawingml/2006/main">
            <a:r>
              <a:t>[Sources]</a:t>
            </a:r>
            <a:endParaRPr/>
          </a:p>
          <a:p xmlns:a="http://schemas.openxmlformats.org/drawingml/2006/main">
            <a:r>
              <a:t>/home/zjk/Desktop/DM-GANS/scripts/evaluate_successor_checkpoint.py</a:t>
            </a:r>
            <a:endParaRPr/>
          </a:p>
          <a:p xmlns:a="http://schemas.openxmlformats.org/drawingml/2006/main">
            <a:r>
              <a:t>/home/zjk/Desktop/DM-GANS/artifacts/final/mdd_matched_mean_30k/report.json</a:t>
            </a:r>
            <a:endParaRPr/>
          </a:p>
          <a:p xmlns:a="http://schemas.openxmlformats.org/drawingml/2006/main">
            <a:r>
              <a:t>/home/zjk/Desktop/DM-GANS/artifacts/final/mdd_native_30k/report.json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releases use conditioning augmentation differently. Native DM-GAN samples around the learned mean, while MDD fixes the condition at the mean. We therefore report native behavior and matched mean separately. Matched mean is the more controlled checkpoint comparison, although the checkpoints still came from different training configurations.</a:t>
            </a:r>
            <a:endParaRPr/>
          </a:p>
          <a:p xmlns:a="http://schemas.openxmlformats.org/drawingml/2006/main">
            <a:r>
              <a:t/>
            </a:r>
            <a:endParaRPr/>
          </a:p>
          <a:p xmlns:a="http://schemas.openxmlformats.org/drawingml/2006/main">
            <a:r>
              <a:t>[Sources]</a:t>
            </a:r>
            <a:endParaRPr/>
          </a:p>
          <a:p xmlns:a="http://schemas.openxmlformats.org/drawingml/2006/main">
            <a:r>
              <a:t>/home/zjk/Desktop/DM-GANS/artifacts/final/mdd_matched_mean_30k/report.json</a:t>
            </a:r>
            <a:endParaRPr/>
          </a:p>
          <a:p xmlns:a="http://schemas.openxmlformats.org/drawingml/2006/main">
            <a:r>
              <a:t>/home/zjk/Desktop/DM-GANS/artifacts/final/mdd_native_30k/report.json</a:t>
            </a:r>
            <a:endParaRPr/>
          </a:p>
          <a:p xmlns:a="http://schemas.openxmlformats.org/drawingml/2006/main">
            <a:r>
              <a:t>https://github.com/FangxiangFeng/DM-GAN-MDD</a:t>
            </a:r>
            <a:endParaRPr/>
          </a:p>
          <a:p xmlns:a="http://schemas.openxmlformats.org/drawingml/2006/main">
            <a:r>
              <a:t>https://github.com/MinfengZhu/DM-GAN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FID and R-precision answer different questions. Captions from the same CUB image are correlated, so our confidence interval resamples 2,933 image clusters rather than treating 30,000 rows as independent. ImageNet Inception Score is not paper-comparable and is not part of the decision.</a:t>
            </a:r>
            <a:endParaRPr/>
          </a:p>
          <a:p xmlns:a="http://schemas.openxmlformats.org/drawingml/2006/main">
            <a:r>
              <a:t/>
            </a:r>
            <a:endParaRPr/>
          </a:p>
          <a:p xmlns:a="http://schemas.openxmlformats.org/drawingml/2006/main">
            <a:r>
              <a:t>[Sources]</a:t>
            </a:r>
            <a:endParaRPr/>
          </a:p>
          <a:p xmlns:a="http://schemas.openxmlformats.org/drawingml/2006/main">
            <a:r>
              <a:t>https://proceedings.neurips.cc/paper/2017/hash/8a1d694707eb0fefe65871369074926d-Abstract.html</a:t>
            </a:r>
            <a:endParaRPr/>
          </a:p>
          <a:p xmlns:a="http://schemas.openxmlformats.org/drawingml/2006/main">
            <a:r>
              <a:t>https://openaccess.thecvf.com/content_cvpr_2018/papers/Xu_AttnGAN_Fine-Grained_Text_CVPR_2018_paper.pdf</a:t>
            </a:r>
            <a:endParaRPr/>
          </a:p>
          <a:p xmlns:a="http://schemas.openxmlformats.org/drawingml/2006/main">
            <a:r>
              <a:t>/home/zjk/Desktop/DM-GANS/scripts/evaluate_successor_checkpoint.py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both models using the conditioning mean, FID falls from 17.1708 to 16.1543, and R-precision rises from 79.10 to 79.77 percent. The R interval is plus 0.134 to plus 1.225 percentage points. Under the pre-specified rule, MDD is supported as better in this matched-mean setting.</a:t>
            </a:r>
            <a:endParaRPr/>
          </a:p>
          <a:p xmlns:a="http://schemas.openxmlformats.org/drawingml/2006/main">
            <a:r>
              <a:t/>
            </a:r>
            <a:endParaRPr/>
          </a:p>
          <a:p xmlns:a="http://schemas.openxmlformats.org/drawingml/2006/main">
            <a:r>
              <a:t>[Sources]</a:t>
            </a:r>
            <a:endParaRPr/>
          </a:p>
          <a:p xmlns:a="http://schemas.openxmlformats.org/drawingml/2006/main">
            <a:r>
              <a:t>/home/zjk/Desktop/DM-GANS/artifacts/final/mdd_matched_mean_30k/report.json</a:t>
            </a:r>
            <a:endParaRPr/>
          </a:p>
          <a:p xmlns:a="http://schemas.openxmlformats.org/drawingml/2006/main">
            <a:r>
              <a:t>/home/zjk/Desktop/DM-GANS/artifacts/final/mdd_matched_mean_30k/SUCCESSOR_CHECKPOINT_EVALUATION.md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each repository's native default, MDD gains 2.93 R-precision points but FID becomes 0.4496 worse. It therefore fails the two-metric rule. This is not a contradiction: this comparison changes both the saved checkpoint and the conditioning policy.</a:t>
            </a:r>
            <a:endParaRPr/>
          </a:p>
          <a:p xmlns:a="http://schemas.openxmlformats.org/drawingml/2006/main">
            <a:r>
              <a:t/>
            </a:r>
            <a:endParaRPr/>
          </a:p>
          <a:p xmlns:a="http://schemas.openxmlformats.org/drawingml/2006/main">
            <a:r>
              <a:t>[Sources]</a:t>
            </a:r>
            <a:endParaRPr/>
          </a:p>
          <a:p xmlns:a="http://schemas.openxmlformats.org/drawingml/2006/main">
            <a:r>
              <a:t>/home/zjk/Desktop/DM-GANS/artifacts/final/mdd_native_30k/report.json</a:t>
            </a:r>
            <a:endParaRPr/>
          </a:p>
          <a:p xmlns:a="http://schemas.openxmlformats.org/drawingml/2006/main">
            <a:r>
              <a:t>/home/zjk/Desktop/DM-GANS/artifacts/final/mdd_native_30k/SUCCESSOR_CHECKPOINT_EVALUATION.md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itself shows why policy matters. Removing CA sampling raises R-precision by 2.253 points but worsens FID by 1.466. Relative to that mean-conditioned baseline, MDD recovers 1.016 FID and adds another 0.673 R point.</a:t>
            </a:r>
            <a:endParaRPr/>
          </a:p>
          <a:p xmlns:a="http://schemas.openxmlformats.org/drawingml/2006/main">
            <a:r>
              <a:t/>
            </a:r>
            <a:endParaRPr/>
          </a:p>
          <a:p xmlns:a="http://schemas.openxmlformats.org/drawingml/2006/main">
            <a:r>
              <a:t>[Sources]</a:t>
            </a:r>
            <a:endParaRPr/>
          </a:p>
          <a:p xmlns:a="http://schemas.openxmlformats.org/drawingml/2006/main">
            <a:r>
              <a:t>/home/zjk/Desktop/DM-GANS/artifacts/final/mdd_matched_mean_30k/report.json</a:t>
            </a:r>
            <a:endParaRPr/>
          </a:p>
          <a:p xmlns:a="http://schemas.openxmlformats.org/drawingml/2006/main">
            <a:r>
              <a:t>/home/zjk/Desktop/DM-GANS/artifacts/final/mdd_native_30k/report.json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Secondary validations show why one metric is unsafe. Official CL improves FID but loses 5.55 R points; DAE gains 9.70 R points but worsens FID by 6.287. Local CL2 is small and inconsistent across three paired seeds. The preview shows the fixed first cases, not selected winners.</a:t>
            </a:r>
            <a:endParaRPr/>
          </a:p>
          <a:p xmlns:a="http://schemas.openxmlformats.org/drawingml/2006/main">
            <a:r>
              <a:t/>
            </a:r>
            <a:endParaRPr/>
          </a:p>
          <a:p xmlns:a="http://schemas.openxmlformats.org/drawingml/2006/main">
            <a:r>
              <a:t>[Sources]</a:t>
            </a:r>
            <a:endParaRPr/>
          </a:p>
          <a:p xmlns:a="http://schemas.openxmlformats.org/drawingml/2006/main">
            <a:r>
              <a:t>/home/zjk/Desktop/DM-GANS/artifacts/final/contrastive_checkpoint_evaluation/report.json</a:t>
            </a:r>
            <a:endParaRPr/>
          </a:p>
          <a:p xmlns:a="http://schemas.openxmlformats.org/drawingml/2006/main">
            <a:r>
              <a:t>/home/zjk/Desktop/DM-GANS/artifacts/final/dae_checkpoint_evaluation_netG_3s/report.json</a:t>
            </a:r>
            <a:endParaRPr/>
          </a:p>
          <a:p xmlns:a="http://schemas.openxmlformats.org/drawingml/2006/main">
            <a:r>
              <a:t>/home/zjk/Desktop/DM-GANS/artifacts/final/contrastive_finetune_evaluation/aggregate_report.json</a:t>
            </a:r>
            <a:endParaRPr/>
          </a:p>
          <a:p xmlns:a="http://schemas.openxmlformats.org/drawingml/2006/main">
            <a:r>
              <a:t>/home/zjk/Desktop/DM-GANS/artifacts/final/mdd_matched_mean_30k/paired_preview_256.png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supports a precise statement: under the same deterministic conditioning policy, this MDD checkpoint lowers FID and improves R-precision. It does not establish native dominance, the isolated causal effect of the MDD loss, or multi-seed training robustness.</a:t>
            </a:r>
            <a:endParaRPr/>
          </a:p>
          <a:p xmlns:a="http://schemas.openxmlformats.org/drawingml/2006/main">
            <a:r>
              <a:t/>
            </a:r>
            <a:endParaRPr/>
          </a:p>
          <a:p xmlns:a="http://schemas.openxmlformats.org/drawingml/2006/main">
            <a:r>
              <a:t>[Sources]</a:t>
            </a:r>
            <a:endParaRPr/>
          </a:p>
          <a:p xmlns:a="http://schemas.openxmlformats.org/drawingml/2006/main">
            <a:r>
              <a:t>/home/zjk/Desktop/DM-GANS/artifacts/final/mdd_matched_mean_30k/report.json</a:t>
            </a:r>
            <a:endParaRPr/>
          </a:p>
          <a:p xmlns:a="http://schemas.openxmlformats.org/drawingml/2006/main">
            <a:r>
              <a:t>/home/zjk/Desktop/DM-GANS/artifacts/final/mdd_native_30k/report.json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DM-GAN-MDD as the literature-backed improvement when both models use deterministic mean conditioning. Under native defaults it is a trade-off, so we do not claim universal superiority. Next: match stochastic conditioning, retrain across paired seeds, and use evaluators independent of DAMSM.</a:t>
            </a:r>
            <a:endParaRPr/>
          </a:p>
          <a:p xmlns:a="http://schemas.openxmlformats.org/drawingml/2006/main">
            <a:r>
              <a:t/>
            </a:r>
            <a:endParaRPr/>
          </a:p>
          <a:p xmlns:a="http://schemas.openxmlformats.org/drawingml/2006/main">
            <a:r>
              <a:t>[Sources]</a:t>
            </a:r>
            <a:endParaRPr/>
          </a:p>
          <a:p xmlns:a="http://schemas.openxmlformats.org/drawingml/2006/main">
            <a:r>
              <a:t>/home/zjk/Desktop/DM-GANS/artifacts/final/mdd_matched_mean_30k/report.json</a:t>
            </a:r>
            <a:endParaRPr/>
          </a:p>
          <a:p xmlns:a="http://schemas.openxmlformats.org/drawingml/2006/main">
            <a:r>
              <a:t>/home/zjk/Desktop/DM-GANS/artifacts/final/mdd_native_30k/report.json</a:t>
            </a:r>
            <a:endParaRPr/>
          </a:p>
          <a:p xmlns:a="http://schemas.openxmlformats.org/drawingml/2006/main">
            <a:r>
              <a:t>https://doi.org/10.1109/TMM.2021.3075997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c1f89e65c142d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ed9f8bf15743b9" /><Relationship Type="http://schemas.openxmlformats.org/officeDocument/2006/relationships/slideLayout" Target="/ppt/slideLayouts/slideLayout1.xml" Id="Rc6adddb4aca8486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adddb4aca8486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66387fd17544f5" /><Relationship Type="http://schemas.openxmlformats.org/officeDocument/2006/relationships/notesSlide" Target="/ppt/notesSlides/notesSlide1.xml" Id="Rf00315e87ded4d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73a345f1944808" /><Relationship Type="http://schemas.openxmlformats.org/officeDocument/2006/relationships/notesSlide" Target="/ppt/notesSlides/notesSlide2.xml" Id="Rf17792bc735d44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a4d8674f1b43b5" /><Relationship Type="http://schemas.openxmlformats.org/officeDocument/2006/relationships/notesSlide" Target="/ppt/notesSlides/notesSlide3.xml" Id="R6f704678027843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f39e80502d4e1d" /><Relationship Type="http://schemas.openxmlformats.org/officeDocument/2006/relationships/image" Target="/ppt/media/image.png" Id="R468c517a9b1546b9" /><Relationship Type="http://schemas.openxmlformats.org/officeDocument/2006/relationships/notesSlide" Target="/ppt/notesSlides/notesSlide4.xml" Id="R75726dc7102b43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da7a0c33a14f8e" /><Relationship Type="http://schemas.openxmlformats.org/officeDocument/2006/relationships/notesSlide" Target="/ppt/notesSlides/notesSlide5.xml" Id="R800c10a2dfad47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f3f18e961b4dfa" /><Relationship Type="http://schemas.openxmlformats.org/officeDocument/2006/relationships/notesSlide" Target="/ppt/notesSlides/notesSlide6.xml" Id="R88dd55b9b29d42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c3a06f3f2b488a" /><Relationship Type="http://schemas.openxmlformats.org/officeDocument/2006/relationships/notesSlide" Target="/ppt/notesSlides/notesSlide7.xml" Id="R6c4bdd4945d542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67823459e84408" /><Relationship Type="http://schemas.openxmlformats.org/officeDocument/2006/relationships/notesSlide" Target="/ppt/notesSlides/notesSlide8.xml" Id="Rb93f1efe13b140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02bce330564b0e" /><Relationship Type="http://schemas.openxmlformats.org/officeDocument/2006/relationships/notesSlide" Target="/ppt/notesSlides/notesSlide9.xml" Id="Ra3e1541c2d064c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5c8ffc32cd418e" /><Relationship Type="http://schemas.openxmlformats.org/officeDocument/2006/relationships/notesSlide" Target="/ppt/notesSlides/notesSlide10.xml" Id="R97f1ed165a8844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0a3118839e454e" /><Relationship Type="http://schemas.openxmlformats.org/officeDocument/2006/relationships/notesSlide" Target="/ppt/notesSlides/notesSlide11.xml" Id="Ra33f69a2fc6d4a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b0bf74d1ee4846" /><Relationship Type="http://schemas.openxmlformats.org/officeDocument/2006/relationships/notesSlide" Target="/ppt/notesSlides/notesSlide12.xml" Id="Rc07240126a954f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58850976caf460e" /><Relationship Type="http://schemas.openxmlformats.org/officeDocument/2006/relationships/image" Target="/ppt/media/image2.png" Id="R0fbaf82a388147bf" /><Relationship Type="http://schemas.openxmlformats.org/officeDocument/2006/relationships/notesSlide" Target="/ppt/notesSlides/notesSlide13.xml" Id="Rb364d489437542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44854210cd4d91" /><Relationship Type="http://schemas.openxmlformats.org/officeDocument/2006/relationships/notesSlide" Target="/ppt/notesSlides/notesSlide14.xml" Id="R28934cb4719d42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432a7db37a4f48" /><Relationship Type="http://schemas.openxmlformats.org/officeDocument/2006/relationships/notesSlide" Target="/ppt/notesSlides/notesSlide15.xml" Id="Ra1b89741c61b4b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991FA01-14C4-4E3C-9A9F-F78054FADFBB}"/>
              </a:ext>
            </a:extLst>
          </p:cNvPr>
          <p:cNvSpPr>
            <a:spLocks xmlns:a="http://schemas.openxmlformats.org/drawingml/2006/main" noGrp="1"/>
          </p:cNvSpPr>
          <p:nvPr/>
        </p:nvSpPr>
        <p:spPr>
          <a:xfrm xmlns:a="http://schemas.openxmlformats.org/drawingml/2006/main">
            <a:off x="0" y="0"/>
            <a:ext cx="9144000" cy="164592"/>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D4A6042-3935-4819-9041-115006315508}"/>
              </a:ext>
            </a:extLst>
          </p:cNvPr>
          <p:cNvSpPr>
            <a:spLocks xmlns:a="http://schemas.openxmlformats.org/drawingml/2006/main" noGrp="1"/>
          </p:cNvSpPr>
          <p:nvPr/>
        </p:nvSpPr>
        <p:spPr>
          <a:xfrm xmlns:a="http://schemas.openxmlformats.org/drawingml/2006/main">
            <a:off x="0" y="4983480"/>
            <a:ext cx="9144000" cy="164592"/>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4CF5E0E2-8370-4934-9625-D6267189B9AB}"/>
              </a:ext>
            </a:extLst>
          </p:cNvPr>
          <p:cNvSpPr>
            <a:spLocks xmlns:a="http://schemas.openxmlformats.org/drawingml/2006/main" noGrp="1"/>
          </p:cNvSpPr>
          <p:nvPr/>
        </p:nvSpPr>
        <p:spPr>
          <a:xfrm xmlns:a="http://schemas.openxmlformats.org/drawingml/2006/main">
            <a:off x="640080" y="685800"/>
            <a:ext cx="78638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325" b="1">
                <a:solidFill>
                  <a:srgbClr val="1F3864"/>
                </a:solidFill>
                <a:latin typeface="Arial"/>
                <a:ea typeface="Arial"/>
                <a:cs typeface="Arial"/>
              </a:rPr>
              <a:t>A Published DM-GAN Successor Can Win—Under Matched Conditioning</a:t>
            </a:r>
            <a:endParaRPr sz="3400"/>
          </a:p>
        </p:txBody>
      </p:sp>
      <p:sp>
        <p:nvSpPr>
          <p:cNvPr id="5" name="Text 3">
            <a:extLst xmlns:a="http://schemas.openxmlformats.org/drawingml/2006/main">
              <a:ext uri="{FF2B5EF4-FFF2-40B4-BE49-F238E27FC236}">
                <a16:creationId xmlns:a16="http://schemas.microsoft.com/office/drawing/2014/main" id="{A7E74682-23A1-468F-9BFD-943D1215A9E0}"/>
              </a:ext>
            </a:extLst>
          </p:cNvPr>
          <p:cNvSpPr>
            <a:spLocks xmlns:a="http://schemas.openxmlformats.org/drawingml/2006/main" noGrp="1"/>
          </p:cNvSpPr>
          <p:nvPr/>
        </p:nvSpPr>
        <p:spPr>
          <a:xfrm xmlns:a="http://schemas.openxmlformats.org/drawingml/2006/main">
            <a:off x="640080" y="1371600"/>
            <a:ext cx="78638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a:solidFill>
                  <a:srgbClr val="1F2937"/>
                </a:solidFill>
                <a:latin typeface="Arial"/>
                <a:ea typeface="Arial"/>
                <a:cs typeface="Arial"/>
              </a:rPr>
              <a:t>DM-GAN-MDD · CUB-200-2011 · 30,000 paired samples · Group G_</a:t>
            </a:r>
            <a:endParaRPr sz="1500"/>
          </a:p>
        </p:txBody>
      </p:sp>
      <p:sp>
        <p:nvSpPr>
          <p:cNvPr id="6" name="Text 4">
            <a:extLst xmlns:a="http://schemas.openxmlformats.org/drawingml/2006/main">
              <a:ext uri="{FF2B5EF4-FFF2-40B4-BE49-F238E27FC236}">
                <a16:creationId xmlns:a16="http://schemas.microsoft.com/office/drawing/2014/main" id="{EA000F15-279A-4C5A-93E2-18ECCB33F828}"/>
              </a:ext>
            </a:extLst>
          </p:cNvPr>
          <p:cNvSpPr>
            <a:spLocks xmlns:a="http://schemas.openxmlformats.org/drawingml/2006/main" noGrp="1"/>
          </p:cNvSpPr>
          <p:nvPr/>
        </p:nvSpPr>
        <p:spPr>
          <a:xfrm xmlns:a="http://schemas.openxmlformats.org/drawingml/2006/main">
            <a:off x="640080" y="1755648"/>
            <a:ext cx="78638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i="1">
                <a:solidFill>
                  <a:srgbClr val="0E7C7B"/>
                </a:solidFill>
                <a:latin typeface="Arial"/>
                <a:ea typeface="Arial"/>
                <a:cs typeface="Arial"/>
              </a:rPr>
              <a:t>Answer: lower FID and higher R-precision when both models use the CA mean.</a:t>
            </a:r>
            <a:endParaRPr sz="1200"/>
          </a:p>
        </p:txBody>
      </p:sp>
      <p:sp>
        <p:nvSpPr>
          <p:cNvPr id="7" name="Shape 5">
            <a:extLst xmlns:a="http://schemas.openxmlformats.org/drawingml/2006/main">
              <a:ext uri="{FF2B5EF4-FFF2-40B4-BE49-F238E27FC236}">
                <a16:creationId xmlns:a16="http://schemas.microsoft.com/office/drawing/2014/main" id="{D5DB531F-55FB-47A9-B335-BB7E0F5BD67C}"/>
              </a:ext>
            </a:extLst>
          </p:cNvPr>
          <p:cNvSpPr>
            <a:spLocks xmlns:a="http://schemas.openxmlformats.org/drawingml/2006/main" noGrp="1"/>
          </p:cNvSpPr>
          <p:nvPr/>
        </p:nvSpPr>
        <p:spPr>
          <a:xfrm xmlns:a="http://schemas.openxmlformats.org/drawingml/2006/main">
            <a:off x="594360" y="2377440"/>
            <a:ext cx="1828800" cy="1325880"/>
          </a:xfrm>
          <a:prstGeom xmlns:a="http://schemas.openxmlformats.org/drawingml/2006/main" prst="roundRect">
            <a:avLst>
              <a:gd name="adj" fmla="val 5517"/>
            </a:avLst>
          </a:prstGeom>
          <a:solidFill xmlns:a="http://schemas.openxmlformats.org/drawingml/2006/main">
            <a:srgbClr val="F3F6FB"/>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89625CE-1F8A-4902-96D1-6FA8A8F2BB19}"/>
              </a:ext>
            </a:extLst>
          </p:cNvPr>
          <p:cNvSpPr>
            <a:spLocks xmlns:a="http://schemas.openxmlformats.org/drawingml/2006/main" noGrp="1"/>
          </p:cNvSpPr>
          <p:nvPr/>
        </p:nvSpPr>
        <p:spPr>
          <a:xfrm xmlns:a="http://schemas.openxmlformats.org/drawingml/2006/main">
            <a:off x="594360" y="2487168"/>
            <a:ext cx="1828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C55A11"/>
                </a:solidFill>
                <a:latin typeface="Arial"/>
                <a:ea typeface="Arial"/>
                <a:cs typeface="Arial"/>
              </a:rPr>
              <a:t>QUESTION</a:t>
            </a:r>
            <a:endParaRPr sz="1100"/>
          </a:p>
        </p:txBody>
      </p:sp>
      <p:sp>
        <p:nvSpPr>
          <p:cNvPr id="9" name="Text 7">
            <a:extLst xmlns:a="http://schemas.openxmlformats.org/drawingml/2006/main">
              <a:ext uri="{FF2B5EF4-FFF2-40B4-BE49-F238E27FC236}">
                <a16:creationId xmlns:a16="http://schemas.microsoft.com/office/drawing/2014/main" id="{F203628C-02A3-40CA-8F9A-270A5EA53124}"/>
              </a:ext>
            </a:extLst>
          </p:cNvPr>
          <p:cNvSpPr>
            <a:spLocks xmlns:a="http://schemas.openxmlformats.org/drawingml/2006/main" noGrp="1"/>
          </p:cNvSpPr>
          <p:nvPr/>
        </p:nvSpPr>
        <p:spPr>
          <a:xfrm xmlns:a="http://schemas.openxmlformats.org/drawingml/2006/main">
            <a:off x="594360" y="2743200"/>
            <a:ext cx="18288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1F3864"/>
                </a:solidFill>
                <a:latin typeface="Arial"/>
                <a:ea typeface="Arial"/>
                <a:cs typeface="Arial"/>
              </a:rPr>
              <a:t>Can MDD win?</a:t>
            </a:r>
            <a:endParaRPr sz="1500"/>
          </a:p>
        </p:txBody>
      </p:sp>
      <p:sp>
        <p:nvSpPr>
          <p:cNvPr id="10" name="Text 8">
            <a:extLst xmlns:a="http://schemas.openxmlformats.org/drawingml/2006/main">
              <a:ext uri="{FF2B5EF4-FFF2-40B4-BE49-F238E27FC236}">
                <a16:creationId xmlns:a16="http://schemas.microsoft.com/office/drawing/2014/main" id="{F2282384-D422-4283-A453-997AD8D52B2D}"/>
              </a:ext>
            </a:extLst>
          </p:cNvPr>
          <p:cNvSpPr>
            <a:spLocks xmlns:a="http://schemas.openxmlformats.org/drawingml/2006/main" noGrp="1"/>
          </p:cNvSpPr>
          <p:nvPr/>
        </p:nvSpPr>
        <p:spPr>
          <a:xfrm xmlns:a="http://schemas.openxmlformats.org/drawingml/2006/main">
            <a:off x="594360" y="3072384"/>
            <a:ext cx="18288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a:solidFill>
                  <a:srgbClr val="1F2937"/>
                </a:solidFill>
                <a:latin typeface="Arial"/>
                <a:ea typeface="Arial"/>
                <a:cs typeface="Arial"/>
              </a:rPr>
              <a:t>Published successor vs DM-GAN</a:t>
            </a:r>
            <a:endParaRPr sz="1000"/>
          </a:p>
        </p:txBody>
      </p:sp>
      <p:sp>
        <p:nvSpPr>
          <p:cNvPr id="11" name="Shape 9">
            <a:extLst xmlns:a="http://schemas.openxmlformats.org/drawingml/2006/main">
              <a:ext uri="{FF2B5EF4-FFF2-40B4-BE49-F238E27FC236}">
                <a16:creationId xmlns:a16="http://schemas.microsoft.com/office/drawing/2014/main" id="{C141F722-7419-4C86-9589-99A1499D6DF6}"/>
              </a:ext>
            </a:extLst>
          </p:cNvPr>
          <p:cNvSpPr>
            <a:spLocks xmlns:a="http://schemas.openxmlformats.org/drawingml/2006/main" noGrp="1"/>
          </p:cNvSpPr>
          <p:nvPr/>
        </p:nvSpPr>
        <p:spPr>
          <a:xfrm xmlns:a="http://schemas.openxmlformats.org/drawingml/2006/main">
            <a:off x="2423160" y="3035808"/>
            <a:ext cx="320040" cy="0"/>
          </a:xfrm>
          <a:prstGeom xmlns:a="http://schemas.openxmlformats.org/drawingml/2006/main" prst="line">
            <a:avLst/>
          </a:prstGeom>
          <a:noFill xmlns:a="http://schemas.openxmlformats.org/drawingml/2006/main"/>
          <a:ln xmlns:a="http://schemas.openxmlformats.org/drawingml/2006/main" w="15240">
            <a:solidFill>
              <a:srgbClr val="6B728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015FF497-7690-495A-975E-14A40707F9CF}"/>
              </a:ext>
            </a:extLst>
          </p:cNvPr>
          <p:cNvSpPr>
            <a:spLocks xmlns:a="http://schemas.openxmlformats.org/drawingml/2006/main" noGrp="1"/>
          </p:cNvSpPr>
          <p:nvPr/>
        </p:nvSpPr>
        <p:spPr>
          <a:xfrm xmlns:a="http://schemas.openxmlformats.org/drawingml/2006/main">
            <a:off x="2743200" y="2377440"/>
            <a:ext cx="1828800" cy="1325880"/>
          </a:xfrm>
          <a:prstGeom xmlns:a="http://schemas.openxmlformats.org/drawingml/2006/main" prst="roundRect">
            <a:avLst>
              <a:gd name="adj" fmla="val 5517"/>
            </a:avLst>
          </a:prstGeom>
          <a:solidFill xmlns:a="http://schemas.openxmlformats.org/drawingml/2006/main">
            <a:srgbClr val="F3F6FB"/>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7D6FE07A-4157-412B-902C-39FC888D9FDA}"/>
              </a:ext>
            </a:extLst>
          </p:cNvPr>
          <p:cNvSpPr>
            <a:spLocks xmlns:a="http://schemas.openxmlformats.org/drawingml/2006/main" noGrp="1"/>
          </p:cNvSpPr>
          <p:nvPr/>
        </p:nvSpPr>
        <p:spPr>
          <a:xfrm xmlns:a="http://schemas.openxmlformats.org/drawingml/2006/main">
            <a:off x="2743200" y="2487168"/>
            <a:ext cx="1828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C55A11"/>
                </a:solidFill>
                <a:latin typeface="Arial"/>
                <a:ea typeface="Arial"/>
                <a:cs typeface="Arial"/>
              </a:rPr>
              <a:t>SEARCH</a:t>
            </a:r>
            <a:endParaRPr sz="1100"/>
          </a:p>
        </p:txBody>
      </p:sp>
      <p:sp>
        <p:nvSpPr>
          <p:cNvPr id="14" name="Text 12">
            <a:extLst xmlns:a="http://schemas.openxmlformats.org/drawingml/2006/main">
              <a:ext uri="{FF2B5EF4-FFF2-40B4-BE49-F238E27FC236}">
                <a16:creationId xmlns:a16="http://schemas.microsoft.com/office/drawing/2014/main" id="{E7BE8D78-A24C-453B-A5A4-6E37B3A789E5}"/>
              </a:ext>
            </a:extLst>
          </p:cNvPr>
          <p:cNvSpPr>
            <a:spLocks xmlns:a="http://schemas.openxmlformats.org/drawingml/2006/main" noGrp="1"/>
          </p:cNvSpPr>
          <p:nvPr/>
        </p:nvSpPr>
        <p:spPr>
          <a:xfrm xmlns:a="http://schemas.openxmlformats.org/drawingml/2006/main">
            <a:off x="2743200" y="2743200"/>
            <a:ext cx="18288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1F3864"/>
                </a:solidFill>
                <a:latin typeface="Arial"/>
                <a:ea typeface="Arial"/>
                <a:cs typeface="Arial"/>
              </a:rPr>
              <a:t>MDD · CL · DAE</a:t>
            </a:r>
            <a:endParaRPr sz="1500"/>
          </a:p>
        </p:txBody>
      </p:sp>
      <p:sp>
        <p:nvSpPr>
          <p:cNvPr id="15" name="Text 13">
            <a:extLst xmlns:a="http://schemas.openxmlformats.org/drawingml/2006/main">
              <a:ext uri="{FF2B5EF4-FFF2-40B4-BE49-F238E27FC236}">
                <a16:creationId xmlns:a16="http://schemas.microsoft.com/office/drawing/2014/main" id="{530FCE7D-55EE-4928-80DB-65862A0030CB}"/>
              </a:ext>
            </a:extLst>
          </p:cNvPr>
          <p:cNvSpPr>
            <a:spLocks xmlns:a="http://schemas.openxmlformats.org/drawingml/2006/main" noGrp="1"/>
          </p:cNvSpPr>
          <p:nvPr/>
        </p:nvSpPr>
        <p:spPr>
          <a:xfrm xmlns:a="http://schemas.openxmlformats.org/drawingml/2006/main">
            <a:off x="2743200" y="3072384"/>
            <a:ext cx="18288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a:solidFill>
                  <a:srgbClr val="1F2937"/>
                </a:solidFill>
                <a:latin typeface="Arial"/>
                <a:ea typeface="Arial"/>
                <a:cs typeface="Arial"/>
              </a:rPr>
              <a:t>Methods with official assets</a:t>
            </a:r>
            <a:endParaRPr sz="1000"/>
          </a:p>
        </p:txBody>
      </p:sp>
      <p:sp>
        <p:nvSpPr>
          <p:cNvPr id="16" name="Shape 14">
            <a:extLst xmlns:a="http://schemas.openxmlformats.org/drawingml/2006/main">
              <a:ext uri="{FF2B5EF4-FFF2-40B4-BE49-F238E27FC236}">
                <a16:creationId xmlns:a16="http://schemas.microsoft.com/office/drawing/2014/main" id="{2B72E24A-B5E3-4E7E-9E2B-02BCDED6921F}"/>
              </a:ext>
            </a:extLst>
          </p:cNvPr>
          <p:cNvSpPr>
            <a:spLocks xmlns:a="http://schemas.openxmlformats.org/drawingml/2006/main" noGrp="1"/>
          </p:cNvSpPr>
          <p:nvPr/>
        </p:nvSpPr>
        <p:spPr>
          <a:xfrm xmlns:a="http://schemas.openxmlformats.org/drawingml/2006/main">
            <a:off x="4572000" y="3035808"/>
            <a:ext cx="320040" cy="0"/>
          </a:xfrm>
          <a:prstGeom xmlns:a="http://schemas.openxmlformats.org/drawingml/2006/main" prst="line">
            <a:avLst/>
          </a:prstGeom>
          <a:noFill xmlns:a="http://schemas.openxmlformats.org/drawingml/2006/main"/>
          <a:ln xmlns:a="http://schemas.openxmlformats.org/drawingml/2006/main" w="15240">
            <a:solidFill>
              <a:srgbClr val="6B7280"/>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hape 15">
            <a:extLst xmlns:a="http://schemas.openxmlformats.org/drawingml/2006/main">
              <a:ext uri="{FF2B5EF4-FFF2-40B4-BE49-F238E27FC236}">
                <a16:creationId xmlns:a16="http://schemas.microsoft.com/office/drawing/2014/main" id="{018EF809-41DC-4BDB-9BB5-03AA8F16850D}"/>
              </a:ext>
            </a:extLst>
          </p:cNvPr>
          <p:cNvSpPr>
            <a:spLocks xmlns:a="http://schemas.openxmlformats.org/drawingml/2006/main" noGrp="1"/>
          </p:cNvSpPr>
          <p:nvPr/>
        </p:nvSpPr>
        <p:spPr>
          <a:xfrm xmlns:a="http://schemas.openxmlformats.org/drawingml/2006/main">
            <a:off x="4892040" y="2377440"/>
            <a:ext cx="1828800" cy="1325880"/>
          </a:xfrm>
          <a:prstGeom xmlns:a="http://schemas.openxmlformats.org/drawingml/2006/main" prst="roundRect">
            <a:avLst>
              <a:gd name="adj" fmla="val 5517"/>
            </a:avLst>
          </a:prstGeom>
          <a:solidFill xmlns:a="http://schemas.openxmlformats.org/drawingml/2006/main">
            <a:srgbClr val="F3F6FB"/>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1268FCC0-6D05-41E7-BB7D-5539F5315F72}"/>
              </a:ext>
            </a:extLst>
          </p:cNvPr>
          <p:cNvSpPr>
            <a:spLocks xmlns:a="http://schemas.openxmlformats.org/drawingml/2006/main" noGrp="1"/>
          </p:cNvSpPr>
          <p:nvPr/>
        </p:nvSpPr>
        <p:spPr>
          <a:xfrm xmlns:a="http://schemas.openxmlformats.org/drawingml/2006/main">
            <a:off x="4892040" y="2487168"/>
            <a:ext cx="1828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C55A11"/>
                </a:solidFill>
                <a:latin typeface="Arial"/>
                <a:ea typeface="Arial"/>
                <a:cs typeface="Arial"/>
              </a:rPr>
              <a:t>TEST</a:t>
            </a:r>
            <a:endParaRPr sz="1100"/>
          </a:p>
        </p:txBody>
      </p:sp>
      <p:sp>
        <p:nvSpPr>
          <p:cNvPr id="19" name="Text 17">
            <a:extLst xmlns:a="http://schemas.openxmlformats.org/drawingml/2006/main">
              <a:ext uri="{FF2B5EF4-FFF2-40B4-BE49-F238E27FC236}">
                <a16:creationId xmlns:a16="http://schemas.microsoft.com/office/drawing/2014/main" id="{BFCA3C64-06D2-4398-B3F6-AA1413F9E34B}"/>
              </a:ext>
            </a:extLst>
          </p:cNvPr>
          <p:cNvSpPr>
            <a:spLocks xmlns:a="http://schemas.openxmlformats.org/drawingml/2006/main" noGrp="1"/>
          </p:cNvSpPr>
          <p:nvPr/>
        </p:nvSpPr>
        <p:spPr>
          <a:xfrm xmlns:a="http://schemas.openxmlformats.org/drawingml/2006/main">
            <a:off x="4892040" y="2743200"/>
            <a:ext cx="18288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1F3864"/>
                </a:solidFill>
                <a:latin typeface="Arial"/>
                <a:ea typeface="Arial"/>
                <a:cs typeface="Arial"/>
              </a:rPr>
              <a:t>Paired 30k</a:t>
            </a:r>
            <a:endParaRPr sz="1500"/>
          </a:p>
        </p:txBody>
      </p:sp>
      <p:sp>
        <p:nvSpPr>
          <p:cNvPr id="20" name="Text 18">
            <a:extLst xmlns:a="http://schemas.openxmlformats.org/drawingml/2006/main">
              <a:ext uri="{FF2B5EF4-FFF2-40B4-BE49-F238E27FC236}">
                <a16:creationId xmlns:a16="http://schemas.microsoft.com/office/drawing/2014/main" id="{05EE4C2B-D184-453E-B2C4-B61C97D7C118}"/>
              </a:ext>
            </a:extLst>
          </p:cNvPr>
          <p:cNvSpPr>
            <a:spLocks xmlns:a="http://schemas.openxmlformats.org/drawingml/2006/main" noGrp="1"/>
          </p:cNvSpPr>
          <p:nvPr/>
        </p:nvSpPr>
        <p:spPr>
          <a:xfrm xmlns:a="http://schemas.openxmlformats.org/drawingml/2006/main">
            <a:off x="4892040" y="3072384"/>
            <a:ext cx="18288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a:solidFill>
                  <a:srgbClr val="1F2937"/>
                </a:solidFill>
                <a:latin typeface="Arial"/>
                <a:ea typeface="Arial"/>
                <a:cs typeface="Arial"/>
              </a:rPr>
              <a:t>Same captions, z, negatives, judges</a:t>
            </a:r>
            <a:endParaRPr sz="1000"/>
          </a:p>
        </p:txBody>
      </p:sp>
      <p:sp>
        <p:nvSpPr>
          <p:cNvPr id="21" name="Shape 19">
            <a:extLst xmlns:a="http://schemas.openxmlformats.org/drawingml/2006/main">
              <a:ext uri="{FF2B5EF4-FFF2-40B4-BE49-F238E27FC236}">
                <a16:creationId xmlns:a16="http://schemas.microsoft.com/office/drawing/2014/main" id="{BA6B3CC8-8888-4466-BB09-7F430B0B2D2A}"/>
              </a:ext>
            </a:extLst>
          </p:cNvPr>
          <p:cNvSpPr>
            <a:spLocks xmlns:a="http://schemas.openxmlformats.org/drawingml/2006/main" noGrp="1"/>
          </p:cNvSpPr>
          <p:nvPr/>
        </p:nvSpPr>
        <p:spPr>
          <a:xfrm xmlns:a="http://schemas.openxmlformats.org/drawingml/2006/main">
            <a:off x="6720840" y="3035808"/>
            <a:ext cx="320040" cy="0"/>
          </a:xfrm>
          <a:prstGeom xmlns:a="http://schemas.openxmlformats.org/drawingml/2006/main" prst="line">
            <a:avLst/>
          </a:prstGeom>
          <a:noFill xmlns:a="http://schemas.openxmlformats.org/drawingml/2006/main"/>
          <a:ln xmlns:a="http://schemas.openxmlformats.org/drawingml/2006/main" w="15240">
            <a:solidFill>
              <a:srgbClr val="6B728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2260540A-770C-48EB-B8F8-26FCCC872372}"/>
              </a:ext>
            </a:extLst>
          </p:cNvPr>
          <p:cNvSpPr>
            <a:spLocks xmlns:a="http://schemas.openxmlformats.org/drawingml/2006/main" noGrp="1"/>
          </p:cNvSpPr>
          <p:nvPr/>
        </p:nvSpPr>
        <p:spPr>
          <a:xfrm xmlns:a="http://schemas.openxmlformats.org/drawingml/2006/main">
            <a:off x="7040880" y="2377440"/>
            <a:ext cx="1828800" cy="1325880"/>
          </a:xfrm>
          <a:prstGeom xmlns:a="http://schemas.openxmlformats.org/drawingml/2006/main" prst="roundRect">
            <a:avLst>
              <a:gd name="adj" fmla="val 5517"/>
            </a:avLst>
          </a:prstGeom>
          <a:solidFill xmlns:a="http://schemas.openxmlformats.org/drawingml/2006/main">
            <a:srgbClr val="F3F6FB"/>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FBDEEE3C-86D3-4608-830F-4F19B4F9B0CB}"/>
              </a:ext>
            </a:extLst>
          </p:cNvPr>
          <p:cNvSpPr>
            <a:spLocks xmlns:a="http://schemas.openxmlformats.org/drawingml/2006/main" noGrp="1"/>
          </p:cNvSpPr>
          <p:nvPr/>
        </p:nvSpPr>
        <p:spPr>
          <a:xfrm xmlns:a="http://schemas.openxmlformats.org/drawingml/2006/main">
            <a:off x="7040880" y="2487168"/>
            <a:ext cx="1828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C55A11"/>
                </a:solidFill>
                <a:latin typeface="Arial"/>
                <a:ea typeface="Arial"/>
                <a:cs typeface="Arial"/>
              </a:rPr>
              <a:t>ANSWER</a:t>
            </a:r>
            <a:endParaRPr sz="1100"/>
          </a:p>
        </p:txBody>
      </p:sp>
      <p:sp>
        <p:nvSpPr>
          <p:cNvPr id="24" name="Text 22">
            <a:extLst xmlns:a="http://schemas.openxmlformats.org/drawingml/2006/main">
              <a:ext uri="{FF2B5EF4-FFF2-40B4-BE49-F238E27FC236}">
                <a16:creationId xmlns:a16="http://schemas.microsoft.com/office/drawing/2014/main" id="{58F06188-AE5F-48F1-8963-C9DEF1F95492}"/>
              </a:ext>
            </a:extLst>
          </p:cNvPr>
          <p:cNvSpPr>
            <a:spLocks xmlns:a="http://schemas.openxmlformats.org/drawingml/2006/main" noGrp="1"/>
          </p:cNvSpPr>
          <p:nvPr/>
        </p:nvSpPr>
        <p:spPr>
          <a:xfrm xmlns:a="http://schemas.openxmlformats.org/drawingml/2006/main">
            <a:off x="7040880" y="2743200"/>
            <a:ext cx="18288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1F3864"/>
                </a:solidFill>
                <a:latin typeface="Arial"/>
                <a:ea typeface="Arial"/>
                <a:cs typeface="Arial"/>
              </a:rPr>
              <a:t>MDD wins*</a:t>
            </a:r>
            <a:endParaRPr sz="1500"/>
          </a:p>
        </p:txBody>
      </p:sp>
      <p:sp>
        <p:nvSpPr>
          <p:cNvPr id="25" name="Text 23">
            <a:extLst xmlns:a="http://schemas.openxmlformats.org/drawingml/2006/main">
              <a:ext uri="{FF2B5EF4-FFF2-40B4-BE49-F238E27FC236}">
                <a16:creationId xmlns:a16="http://schemas.microsoft.com/office/drawing/2014/main" id="{8FD0AB63-4CA7-48A3-BDFD-80F687BC2E9F}"/>
              </a:ext>
            </a:extLst>
          </p:cNvPr>
          <p:cNvSpPr>
            <a:spLocks xmlns:a="http://schemas.openxmlformats.org/drawingml/2006/main" noGrp="1"/>
          </p:cNvSpPr>
          <p:nvPr/>
        </p:nvSpPr>
        <p:spPr>
          <a:xfrm xmlns:a="http://schemas.openxmlformats.org/drawingml/2006/main">
            <a:off x="7040880" y="3072384"/>
            <a:ext cx="18288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a:solidFill>
                  <a:srgbClr val="1F2937"/>
                </a:solidFill>
                <a:latin typeface="Arial"/>
                <a:ea typeface="Arial"/>
                <a:cs typeface="Arial"/>
              </a:rPr>
              <a:t>*matched mean; native defaults trade off</a:t>
            </a:r>
            <a:endParaRPr sz="1000"/>
          </a:p>
        </p:txBody>
      </p:sp>
      <p:sp>
        <p:nvSpPr>
          <p:cNvPr id="26" name="Text 24">
            <a:extLst xmlns:a="http://schemas.openxmlformats.org/drawingml/2006/main">
              <a:ext uri="{FF2B5EF4-FFF2-40B4-BE49-F238E27FC236}">
                <a16:creationId xmlns:a16="http://schemas.microsoft.com/office/drawing/2014/main" id="{BC275CC5-020D-4079-80EE-EB3B0BD14C24}"/>
              </a:ext>
            </a:extLst>
          </p:cNvPr>
          <p:cNvSpPr>
            <a:spLocks xmlns:a="http://schemas.openxmlformats.org/drawingml/2006/main" noGrp="1"/>
          </p:cNvSpPr>
          <p:nvPr/>
        </p:nvSpPr>
        <p:spPr>
          <a:xfrm xmlns:a="http://schemas.openxmlformats.org/drawingml/2006/main">
            <a:off x="640080" y="4160520"/>
            <a:ext cx="78638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a:solidFill>
                  <a:srgbClr val="6B7280"/>
                </a:solidFill>
                <a:latin typeface="Arial"/>
                <a:ea typeface="Arial"/>
                <a:cs typeface="Arial"/>
              </a:rPr>
              <a:t>Wenzhe Cao · Jikui Zhou · Xinyi Jiang · Zhongyu Yin</a:t>
            </a:r>
            <a:endParaRPr sz="1100"/>
          </a:p>
        </p:txBody>
      </p:sp>
      <p:sp>
        <p:nvSpPr>
          <p:cNvPr id="27" name="Text 25">
            <a:extLst xmlns:a="http://schemas.openxmlformats.org/drawingml/2006/main">
              <a:ext uri="{FF2B5EF4-FFF2-40B4-BE49-F238E27FC236}">
                <a16:creationId xmlns:a16="http://schemas.microsoft.com/office/drawing/2014/main" id="{5030227D-D2AA-4B2F-863A-CB57EE552F2D}"/>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1 / 15</a:t>
            </a:r>
            <a:endParaRPr sz="900"/>
          </a:p>
        </p:txBody>
      </p:sp>
      <p:sp>
        <p:nvSpPr>
          <p:cNvPr id="28" name="Shape 26">
            <a:extLst xmlns:a="http://schemas.openxmlformats.org/drawingml/2006/main">
              <a:ext uri="{FF2B5EF4-FFF2-40B4-BE49-F238E27FC236}">
                <a16:creationId xmlns:a16="http://schemas.microsoft.com/office/drawing/2014/main" id="{1C30A1FE-221D-4F09-A572-6CCD8C4BDD96}"/>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F839551D-A15D-48BF-B1DB-33C643EC724E}"/>
              </a:ext>
            </a:extLst>
          </p:cNvPr>
          <p:cNvSpPr>
            <a:spLocks xmlns:a="http://schemas.openxmlformats.org/drawingml/2006/main" noGrp="1"/>
          </p:cNvSpPr>
          <p:nvPr/>
        </p:nvSpPr>
        <p:spPr>
          <a:xfrm xmlns:a="http://schemas.openxmlformats.org/drawingml/2006/main">
            <a:off x="7955280" y="4864608"/>
            <a:ext cx="63305"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7794637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316E448-77A2-4532-A5B5-8E7BFD2C49C0}"/>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568A0851-900D-489A-A3AA-28E841CB8AB1}"/>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01</a:t>
            </a:r>
            <a:endParaRPr sz="1700"/>
          </a:p>
        </p:txBody>
      </p:sp>
      <p:sp>
        <p:nvSpPr>
          <p:cNvPr id="4" name="Text 2">
            <a:extLst xmlns:a="http://schemas.openxmlformats.org/drawingml/2006/main">
              <a:ext uri="{FF2B5EF4-FFF2-40B4-BE49-F238E27FC236}">
                <a16:creationId xmlns:a16="http://schemas.microsoft.com/office/drawing/2014/main" id="{18DE5BCD-37A2-415C-AE20-B56B72E2A376}"/>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75" b="1">
                <a:solidFill>
                  <a:srgbClr val="1F2937"/>
                </a:solidFill>
                <a:latin typeface="Arial"/>
                <a:ea typeface="Arial"/>
                <a:cs typeface="Arial"/>
              </a:rPr>
              <a:t>Better Means Lower FID Without Sacrificing Text Alignment</a:t>
            </a:r>
            <a:endParaRPr sz="2100"/>
          </a:p>
        </p:txBody>
      </p:sp>
      <p:sp>
        <p:nvSpPr>
          <p:cNvPr id="5" name="Text 3">
            <a:extLst xmlns:a="http://schemas.openxmlformats.org/drawingml/2006/main">
              <a:ext uri="{FF2B5EF4-FFF2-40B4-BE49-F238E27FC236}">
                <a16:creationId xmlns:a16="http://schemas.microsoft.com/office/drawing/2014/main" id="{AF219415-A7AD-4CF6-A473-52EBD8AAF743}"/>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The decision rule was fixed before comparing candidates</a:t>
            </a:r>
            <a:endParaRPr sz="1150"/>
          </a:p>
        </p:txBody>
      </p:sp>
      <p:sp>
        <p:nvSpPr>
          <p:cNvPr id="6" name="Shape 4">
            <a:extLst xmlns:a="http://schemas.openxmlformats.org/drawingml/2006/main">
              <a:ext uri="{FF2B5EF4-FFF2-40B4-BE49-F238E27FC236}">
                <a16:creationId xmlns:a16="http://schemas.microsoft.com/office/drawing/2014/main" id="{5C925AD9-8EEB-4A37-B6CA-E22C3ABFEFD7}"/>
              </a:ext>
            </a:extLst>
          </p:cNvPr>
          <p:cNvSpPr>
            <a:spLocks xmlns:a="http://schemas.openxmlformats.org/drawingml/2006/main" noGrp="1"/>
          </p:cNvSpPr>
          <p:nvPr/>
        </p:nvSpPr>
        <p:spPr>
          <a:xfrm xmlns:a="http://schemas.openxmlformats.org/drawingml/2006/main">
            <a:off x="365760" y="1051560"/>
            <a:ext cx="5212080" cy="2788920"/>
          </a:xfrm>
          <a:prstGeom xmlns:a="http://schemas.openxmlformats.org/drawingml/2006/main" prst="roundRect">
            <a:avLst>
              <a:gd name="adj" fmla="val 1967"/>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BF09040B-9C89-4F8C-97CC-E20CB1935DEE}"/>
              </a:ext>
            </a:extLst>
          </p:cNvPr>
          <p:cNvSpPr>
            <a:spLocks xmlns:a="http://schemas.openxmlformats.org/drawingml/2006/main" noGrp="1"/>
          </p:cNvSpPr>
          <p:nvPr/>
        </p:nvSpPr>
        <p:spPr>
          <a:xfrm xmlns:a="http://schemas.openxmlformats.org/drawingml/2006/main">
            <a:off x="365760" y="1051560"/>
            <a:ext cx="5212080" cy="411480"/>
          </a:xfrm>
          <a:prstGeom xmlns:a="http://schemas.openxmlformats.org/drawingml/2006/main" prst="roundRect">
            <a:avLst>
              <a:gd name="adj" fmla="val 13333"/>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2E23B87F-5135-4C86-875F-B91DD3F65649}"/>
              </a:ext>
            </a:extLst>
          </p:cNvPr>
          <p:cNvSpPr>
            <a:spLocks xmlns:a="http://schemas.openxmlformats.org/drawingml/2006/main" noGrp="1"/>
          </p:cNvSpPr>
          <p:nvPr/>
        </p:nvSpPr>
        <p:spPr>
          <a:xfrm xmlns:a="http://schemas.openxmlformats.org/drawingml/2006/main">
            <a:off x="365760" y="1097280"/>
            <a:ext cx="52120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QUALITY + ALIGNMENT</a:t>
            </a:r>
            <a:endParaRPr sz="1300"/>
          </a:p>
        </p:txBody>
      </p:sp>
      <p:sp>
        <p:nvSpPr>
          <p:cNvPr id="9" name="Text 7">
            <a:extLst xmlns:a="http://schemas.openxmlformats.org/drawingml/2006/main">
              <a:ext uri="{FF2B5EF4-FFF2-40B4-BE49-F238E27FC236}">
                <a16:creationId xmlns:a16="http://schemas.microsoft.com/office/drawing/2014/main" id="{E0956879-CA6E-4016-B30D-3A6337BE2AE9}"/>
              </a:ext>
            </a:extLst>
          </p:cNvPr>
          <p:cNvSpPr>
            <a:spLocks xmlns:a="http://schemas.openxmlformats.org/drawingml/2006/main" noGrp="1"/>
          </p:cNvSpPr>
          <p:nvPr/>
        </p:nvSpPr>
        <p:spPr>
          <a:xfrm xmlns:a="http://schemas.openxmlformats.org/drawingml/2006/main">
            <a:off x="566928" y="1600200"/>
            <a:ext cx="4809744" cy="2148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200"/>
              </a:lnSpc>
              <a:buNone/>
            </a:pPr>
            <a:r>
              <a:rPr sz="1400" b="1">
                <a:solidFill>
                  <a:srgbClr val="1F3864"/>
                </a:solidFill>
                <a:latin typeface="Arial"/>
                <a:ea typeface="Arial"/>
                <a:cs typeface="Arial"/>
              </a:rPr>
              <a:t>FID must be lower.
AND
R-precision must be non-inferior.</a:t>
            </a:r>
            <a:endParaRPr sz="1400"/>
          </a:p>
        </p:txBody>
      </p:sp>
      <p:sp>
        <p:nvSpPr>
          <p:cNvPr id="10" name="Shape 8">
            <a:extLst xmlns:a="http://schemas.openxmlformats.org/drawingml/2006/main">
              <a:ext uri="{FF2B5EF4-FFF2-40B4-BE49-F238E27FC236}">
                <a16:creationId xmlns:a16="http://schemas.microsoft.com/office/drawing/2014/main" id="{9CFD7943-F297-407F-A974-94BE2F438B9C}"/>
              </a:ext>
            </a:extLst>
          </p:cNvPr>
          <p:cNvSpPr>
            <a:spLocks xmlns:a="http://schemas.openxmlformats.org/drawingml/2006/main" noGrp="1"/>
          </p:cNvSpPr>
          <p:nvPr/>
        </p:nvSpPr>
        <p:spPr>
          <a:xfrm xmlns:a="http://schemas.openxmlformats.org/drawingml/2006/main">
            <a:off x="5760720" y="1051560"/>
            <a:ext cx="3017520" cy="2788920"/>
          </a:xfrm>
          <a:prstGeom xmlns:a="http://schemas.openxmlformats.org/drawingml/2006/main" prst="roundRect">
            <a:avLst>
              <a:gd name="adj" fmla="val 1967"/>
            </a:avLst>
          </a:prstGeom>
          <a:solidFill xmlns:a="http://schemas.openxmlformats.org/drawingml/2006/main">
            <a:srgbClr val="E8EEF7"/>
          </a:solidFill>
          <a:ln xmlns:a="http://schemas.openxmlformats.org/drawingml/2006/main" w="15875">
            <a:solidFill>
              <a:srgbClr val="0E7C7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1589D3B-B08C-4B21-AC19-B5D37914F3C6}"/>
              </a:ext>
            </a:extLst>
          </p:cNvPr>
          <p:cNvSpPr>
            <a:spLocks xmlns:a="http://schemas.openxmlformats.org/drawingml/2006/main" noGrp="1"/>
          </p:cNvSpPr>
          <p:nvPr/>
        </p:nvSpPr>
        <p:spPr>
          <a:xfrm xmlns:a="http://schemas.openxmlformats.org/drawingml/2006/main">
            <a:off x="5760720" y="1051560"/>
            <a:ext cx="3017520" cy="411480"/>
          </a:xfrm>
          <a:prstGeom xmlns:a="http://schemas.openxmlformats.org/drawingml/2006/main" prst="roundRect">
            <a:avLst>
              <a:gd name="adj" fmla="val 13333"/>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3A3F7E30-0EE4-46FE-AC42-CBC7716B5CA0}"/>
              </a:ext>
            </a:extLst>
          </p:cNvPr>
          <p:cNvSpPr>
            <a:spLocks xmlns:a="http://schemas.openxmlformats.org/drawingml/2006/main" noGrp="1"/>
          </p:cNvSpPr>
          <p:nvPr/>
        </p:nvSpPr>
        <p:spPr>
          <a:xfrm xmlns:a="http://schemas.openxmlformats.org/drawingml/2006/main">
            <a:off x="5760720" y="1097280"/>
            <a:ext cx="30175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FIXED EVIDENCE RULE</a:t>
            </a:r>
            <a:endParaRPr sz="1300"/>
          </a:p>
        </p:txBody>
      </p:sp>
      <p:sp>
        <p:nvSpPr>
          <p:cNvPr id="13" name="Text 11">
            <a:extLst xmlns:a="http://schemas.openxmlformats.org/drawingml/2006/main">
              <a:ext uri="{FF2B5EF4-FFF2-40B4-BE49-F238E27FC236}">
                <a16:creationId xmlns:a16="http://schemas.microsoft.com/office/drawing/2014/main" id="{A8D82350-20FA-4946-ADBE-5355A6367928}"/>
              </a:ext>
            </a:extLst>
          </p:cNvPr>
          <p:cNvSpPr>
            <a:spLocks xmlns:a="http://schemas.openxmlformats.org/drawingml/2006/main" noGrp="1"/>
          </p:cNvSpPr>
          <p:nvPr/>
        </p:nvSpPr>
        <p:spPr>
          <a:xfrm xmlns:a="http://schemas.openxmlformats.org/drawingml/2006/main">
            <a:off x="5943600" y="1600200"/>
            <a:ext cx="2651760" cy="2148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200"/>
              </a:lnSpc>
              <a:buNone/>
            </a:pPr>
            <a:r>
              <a:rPr sz="1300" b="1">
                <a:solidFill>
                  <a:srgbClr val="1F3864"/>
                </a:solidFill>
                <a:latin typeface="Arial"/>
                <a:ea typeface="Arial"/>
                <a:cs typeface="Arial"/>
              </a:rPr>
              <a:t>30,000 generated samples
R 95% image-cluster CI lower bound &gt; −1.0 pp
SUPPORTED = both pass
TRADE-OFF = only one improves</a:t>
            </a:r>
            <a:endParaRPr sz="1300"/>
          </a:p>
        </p:txBody>
      </p:sp>
      <p:sp>
        <p:nvSpPr>
          <p:cNvPr id="14" name="Text 12">
            <a:extLst xmlns:a="http://schemas.openxmlformats.org/drawingml/2006/main">
              <a:ext uri="{FF2B5EF4-FFF2-40B4-BE49-F238E27FC236}">
                <a16:creationId xmlns:a16="http://schemas.microsoft.com/office/drawing/2014/main" id="{B1B04A99-9C85-4974-9538-69B19D927EF4}"/>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2 / 15</a:t>
            </a:r>
            <a:endParaRPr sz="900"/>
          </a:p>
        </p:txBody>
      </p:sp>
      <p:sp>
        <p:nvSpPr>
          <p:cNvPr id="15" name="Shape 13">
            <a:extLst xmlns:a="http://schemas.openxmlformats.org/drawingml/2006/main">
              <a:ext uri="{FF2B5EF4-FFF2-40B4-BE49-F238E27FC236}">
                <a16:creationId xmlns:a16="http://schemas.microsoft.com/office/drawing/2014/main" id="{0509EB95-EFA9-4977-A8C6-B4B5BB0A7FE1}"/>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7FB9E004-941E-4E34-B3F2-85E798F4C2DA}"/>
              </a:ext>
            </a:extLst>
          </p:cNvPr>
          <p:cNvSpPr>
            <a:spLocks xmlns:a="http://schemas.openxmlformats.org/drawingml/2006/main" noGrp="1"/>
          </p:cNvSpPr>
          <p:nvPr/>
        </p:nvSpPr>
        <p:spPr>
          <a:xfrm xmlns:a="http://schemas.openxmlformats.org/drawingml/2006/main">
            <a:off x="7955280" y="4864608"/>
            <a:ext cx="126609"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448090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D7AD54B-1A68-4B5C-9E4D-557F2BCE6B7E}"/>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00543F4F-C12C-401A-82E2-36746A76FF09}"/>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02</a:t>
            </a:r>
            <a:endParaRPr sz="1700"/>
          </a:p>
        </p:txBody>
      </p:sp>
      <p:sp>
        <p:nvSpPr>
          <p:cNvPr id="4" name="Text 2">
            <a:extLst xmlns:a="http://schemas.openxmlformats.org/drawingml/2006/main">
              <a:ext uri="{FF2B5EF4-FFF2-40B4-BE49-F238E27FC236}">
                <a16:creationId xmlns:a16="http://schemas.microsoft.com/office/drawing/2014/main" id="{4F1BB9FA-3763-4B22-8540-05EDC6DAB087}"/>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1F2937"/>
                </a:solidFill>
                <a:latin typeface="Arial"/>
                <a:ea typeface="Arial"/>
                <a:cs typeface="Arial"/>
              </a:rPr>
              <a:t>DM-GAN Refines Images, but Its Discriminator Mixes Content and Style</a:t>
            </a:r>
            <a:endParaRPr sz="2100"/>
          </a:p>
        </p:txBody>
      </p:sp>
      <p:sp>
        <p:nvSpPr>
          <p:cNvPr id="5" name="Text 3">
            <a:extLst xmlns:a="http://schemas.openxmlformats.org/drawingml/2006/main">
              <a:ext uri="{FF2B5EF4-FFF2-40B4-BE49-F238E27FC236}">
                <a16:creationId xmlns:a16="http://schemas.microsoft.com/office/drawing/2014/main" id="{D5A9A135-9852-42A1-8354-FA8F4C7F86B9}"/>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Dynamic word memory improves the image; the training signal remains entangled</a:t>
            </a:r>
            <a:endParaRPr sz="1150"/>
          </a:p>
        </p:txBody>
      </p:sp>
      <p:sp>
        <p:nvSpPr>
          <p:cNvPr id="6" name="Shape 4">
            <a:extLst xmlns:a="http://schemas.openxmlformats.org/drawingml/2006/main">
              <a:ext uri="{FF2B5EF4-FFF2-40B4-BE49-F238E27FC236}">
                <a16:creationId xmlns:a16="http://schemas.microsoft.com/office/drawing/2014/main" id="{5A7D9342-D1CF-4DBE-8058-ADA91F358961}"/>
              </a:ext>
            </a:extLst>
          </p:cNvPr>
          <p:cNvSpPr>
            <a:spLocks xmlns:a="http://schemas.openxmlformats.org/drawingml/2006/main" noGrp="1"/>
          </p:cNvSpPr>
          <p:nvPr/>
        </p:nvSpPr>
        <p:spPr>
          <a:xfrm xmlns:a="http://schemas.openxmlformats.org/drawingml/2006/main">
            <a:off x="365760" y="1051560"/>
            <a:ext cx="5029200" cy="1417320"/>
          </a:xfrm>
          <a:prstGeom xmlns:a="http://schemas.openxmlformats.org/drawingml/2006/main" prst="roundRect">
            <a:avLst>
              <a:gd name="adj" fmla="val 387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3FD97F0C-3B9F-450B-A56F-417E934193E4}"/>
              </a:ext>
            </a:extLst>
          </p:cNvPr>
          <p:cNvSpPr>
            <a:spLocks xmlns:a="http://schemas.openxmlformats.org/drawingml/2006/main" noGrp="1"/>
          </p:cNvSpPr>
          <p:nvPr/>
        </p:nvSpPr>
        <p:spPr>
          <a:xfrm xmlns:a="http://schemas.openxmlformats.org/drawingml/2006/main">
            <a:off x="365760" y="1051560"/>
            <a:ext cx="5029200" cy="384048"/>
          </a:xfrm>
          <a:prstGeom xmlns:a="http://schemas.openxmlformats.org/drawingml/2006/main" prst="roundRect">
            <a:avLst>
              <a:gd name="adj" fmla="val 14286"/>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E93EEE2-5403-4834-B895-3625B1055CB3}"/>
              </a:ext>
            </a:extLst>
          </p:cNvPr>
          <p:cNvSpPr>
            <a:spLocks xmlns:a="http://schemas.openxmlformats.org/drawingml/2006/main" noGrp="1"/>
          </p:cNvSpPr>
          <p:nvPr/>
        </p:nvSpPr>
        <p:spPr>
          <a:xfrm xmlns:a="http://schemas.openxmlformats.org/drawingml/2006/main">
            <a:off x="365760" y="1097280"/>
            <a:ext cx="50292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DM-GAN PIPELINE</a:t>
            </a:r>
            <a:endParaRPr sz="1250"/>
          </a:p>
        </p:txBody>
      </p:sp>
      <p:sp>
        <p:nvSpPr>
          <p:cNvPr id="9" name="Shape 7">
            <a:extLst xmlns:a="http://schemas.openxmlformats.org/drawingml/2006/main">
              <a:ext uri="{FF2B5EF4-FFF2-40B4-BE49-F238E27FC236}">
                <a16:creationId xmlns:a16="http://schemas.microsoft.com/office/drawing/2014/main" id="{2912AF36-7805-4782-8BE8-1F6E2550D8D9}"/>
              </a:ext>
            </a:extLst>
          </p:cNvPr>
          <p:cNvSpPr>
            <a:spLocks xmlns:a="http://schemas.openxmlformats.org/drawingml/2006/main" noGrp="1"/>
          </p:cNvSpPr>
          <p:nvPr/>
        </p:nvSpPr>
        <p:spPr>
          <a:xfrm xmlns:a="http://schemas.openxmlformats.org/drawingml/2006/main">
            <a:off x="566928" y="1572768"/>
            <a:ext cx="1417320" cy="566928"/>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E55D60EC-94C7-489F-AFA8-524C90798E93}"/>
              </a:ext>
            </a:extLst>
          </p:cNvPr>
          <p:cNvSpPr>
            <a:spLocks xmlns:a="http://schemas.openxmlformats.org/drawingml/2006/main" noGrp="1"/>
          </p:cNvSpPr>
          <p:nvPr/>
        </p:nvSpPr>
        <p:spPr>
          <a:xfrm xmlns:a="http://schemas.openxmlformats.org/drawingml/2006/main">
            <a:off x="566928" y="1572768"/>
            <a:ext cx="14173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a:solidFill>
                  <a:srgbClr val="1F2937"/>
                </a:solidFill>
                <a:latin typeface="Arial"/>
                <a:ea typeface="Arial"/>
                <a:cs typeface="Arial"/>
              </a:rPr>
              <a:t>Caption + z</a:t>
            </a:r>
            <a:endParaRPr sz="1050"/>
          </a:p>
        </p:txBody>
      </p:sp>
      <p:sp>
        <p:nvSpPr>
          <p:cNvPr id="11" name="Text 9">
            <a:extLst xmlns:a="http://schemas.openxmlformats.org/drawingml/2006/main">
              <a:ext uri="{FF2B5EF4-FFF2-40B4-BE49-F238E27FC236}">
                <a16:creationId xmlns:a16="http://schemas.microsoft.com/office/drawing/2014/main" id="{0A8A389F-279B-4380-92C1-C6E714840852}"/>
              </a:ext>
            </a:extLst>
          </p:cNvPr>
          <p:cNvSpPr>
            <a:spLocks xmlns:a="http://schemas.openxmlformats.org/drawingml/2006/main" noGrp="1"/>
          </p:cNvSpPr>
          <p:nvPr/>
        </p:nvSpPr>
        <p:spPr>
          <a:xfrm xmlns:a="http://schemas.openxmlformats.org/drawingml/2006/main">
            <a:off x="1938528" y="1572768"/>
            <a:ext cx="2743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6B7280"/>
                </a:solidFill>
              </a:rPr>
              <a:t>→</a:t>
            </a:r>
            <a:endParaRPr sz="1400"/>
          </a:p>
        </p:txBody>
      </p:sp>
      <p:sp>
        <p:nvSpPr>
          <p:cNvPr id="12" name="Shape 10">
            <a:extLst xmlns:a="http://schemas.openxmlformats.org/drawingml/2006/main">
              <a:ext uri="{FF2B5EF4-FFF2-40B4-BE49-F238E27FC236}">
                <a16:creationId xmlns:a16="http://schemas.microsoft.com/office/drawing/2014/main" id="{9FE13017-4B74-4C9C-B091-724FEB3A5527}"/>
              </a:ext>
            </a:extLst>
          </p:cNvPr>
          <p:cNvSpPr>
            <a:spLocks xmlns:a="http://schemas.openxmlformats.org/drawingml/2006/main" noGrp="1"/>
          </p:cNvSpPr>
          <p:nvPr/>
        </p:nvSpPr>
        <p:spPr>
          <a:xfrm xmlns:a="http://schemas.openxmlformats.org/drawingml/2006/main">
            <a:off x="2148840" y="1572768"/>
            <a:ext cx="1417320" cy="566928"/>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5D341EB2-D8C8-4730-A78C-BAAD3B61FD3C}"/>
              </a:ext>
            </a:extLst>
          </p:cNvPr>
          <p:cNvSpPr>
            <a:spLocks xmlns:a="http://schemas.openxmlformats.org/drawingml/2006/main" noGrp="1"/>
          </p:cNvSpPr>
          <p:nvPr/>
        </p:nvSpPr>
        <p:spPr>
          <a:xfrm xmlns:a="http://schemas.openxmlformats.org/drawingml/2006/main">
            <a:off x="2148840" y="1572768"/>
            <a:ext cx="14173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a:solidFill>
                  <a:srgbClr val="1F2937"/>
                </a:solidFill>
                <a:latin typeface="Arial"/>
                <a:ea typeface="Arial"/>
                <a:cs typeface="Arial"/>
              </a:rPr>
              <a:t>64×64 sketch</a:t>
            </a:r>
            <a:endParaRPr sz="1050"/>
          </a:p>
        </p:txBody>
      </p:sp>
      <p:sp>
        <p:nvSpPr>
          <p:cNvPr id="14" name="Text 12">
            <a:extLst xmlns:a="http://schemas.openxmlformats.org/drawingml/2006/main">
              <a:ext uri="{FF2B5EF4-FFF2-40B4-BE49-F238E27FC236}">
                <a16:creationId xmlns:a16="http://schemas.microsoft.com/office/drawing/2014/main" id="{F2CF9EAB-2156-46E0-A6D3-5CFEBC1DEBDE}"/>
              </a:ext>
            </a:extLst>
          </p:cNvPr>
          <p:cNvSpPr>
            <a:spLocks xmlns:a="http://schemas.openxmlformats.org/drawingml/2006/main" noGrp="1"/>
          </p:cNvSpPr>
          <p:nvPr/>
        </p:nvSpPr>
        <p:spPr>
          <a:xfrm xmlns:a="http://schemas.openxmlformats.org/drawingml/2006/main">
            <a:off x="3520440" y="1572768"/>
            <a:ext cx="2743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6B7280"/>
                </a:solidFill>
              </a:rPr>
              <a:t>→</a:t>
            </a:r>
            <a:endParaRPr sz="1400"/>
          </a:p>
        </p:txBody>
      </p:sp>
      <p:sp>
        <p:nvSpPr>
          <p:cNvPr id="15" name="Shape 13">
            <a:extLst xmlns:a="http://schemas.openxmlformats.org/drawingml/2006/main">
              <a:ext uri="{FF2B5EF4-FFF2-40B4-BE49-F238E27FC236}">
                <a16:creationId xmlns:a16="http://schemas.microsoft.com/office/drawing/2014/main" id="{0192756A-9468-499E-BD63-BCE8F653C24A}"/>
              </a:ext>
            </a:extLst>
          </p:cNvPr>
          <p:cNvSpPr>
            <a:spLocks xmlns:a="http://schemas.openxmlformats.org/drawingml/2006/main" noGrp="1"/>
          </p:cNvSpPr>
          <p:nvPr/>
        </p:nvSpPr>
        <p:spPr>
          <a:xfrm xmlns:a="http://schemas.openxmlformats.org/drawingml/2006/main">
            <a:off x="3703320" y="1572768"/>
            <a:ext cx="1417320" cy="566928"/>
          </a:xfrm>
          <a:prstGeom xmlns:a="http://schemas.openxmlformats.org/drawingml/2006/main" prst="roundRect">
            <a:avLst>
              <a:gd name="adj" fmla="val 12903"/>
            </a:avLst>
          </a:prstGeom>
          <a:solidFill xmlns:a="http://schemas.openxmlformats.org/drawingml/2006/main">
            <a:srgbClr val="0E7C7B"/>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D462C9EF-9F8F-4E3D-A86B-55A4183A75D7}"/>
              </a:ext>
            </a:extLst>
          </p:cNvPr>
          <p:cNvSpPr>
            <a:spLocks xmlns:a="http://schemas.openxmlformats.org/drawingml/2006/main" noGrp="1"/>
          </p:cNvSpPr>
          <p:nvPr/>
        </p:nvSpPr>
        <p:spPr>
          <a:xfrm xmlns:a="http://schemas.openxmlformats.org/drawingml/2006/main">
            <a:off x="3703320" y="1572768"/>
            <a:ext cx="14173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Arial"/>
                <a:ea typeface="Arial"/>
                <a:cs typeface="Arial"/>
              </a:rPr>
              <a:t>Dynamic memory
128×128 → 256×256</a:t>
            </a:r>
            <a:endParaRPr sz="1050"/>
          </a:p>
        </p:txBody>
      </p:sp>
      <p:sp>
        <p:nvSpPr>
          <p:cNvPr id="17" name="Text 15">
            <a:extLst xmlns:a="http://schemas.openxmlformats.org/drawingml/2006/main">
              <a:ext uri="{FF2B5EF4-FFF2-40B4-BE49-F238E27FC236}">
                <a16:creationId xmlns:a16="http://schemas.microsoft.com/office/drawing/2014/main" id="{7C44D0D5-59DB-4438-857A-C76C115A7E72}"/>
              </a:ext>
            </a:extLst>
          </p:cNvPr>
          <p:cNvSpPr>
            <a:spLocks xmlns:a="http://schemas.openxmlformats.org/drawingml/2006/main" noGrp="1"/>
          </p:cNvSpPr>
          <p:nvPr/>
        </p:nvSpPr>
        <p:spPr>
          <a:xfrm xmlns:a="http://schemas.openxmlformats.org/drawingml/2006/main">
            <a:off x="530352" y="2212848"/>
            <a:ext cx="4700016"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050">
                <a:solidFill>
                  <a:srgbClr val="1F2937"/>
                </a:solidFill>
                <a:latin typeface="Arial"/>
                <a:ea typeface="Arial"/>
                <a:cs typeface="Arial"/>
              </a:rPr>
              <a:t>Image features query rewritten word memory at each refinement scale.</a:t>
            </a:r>
            <a:endParaRPr sz="1050"/>
          </a:p>
        </p:txBody>
      </p:sp>
      <p:sp>
        <p:nvSpPr>
          <p:cNvPr id="18" name="Shape 16">
            <a:extLst xmlns:a="http://schemas.openxmlformats.org/drawingml/2006/main">
              <a:ext uri="{FF2B5EF4-FFF2-40B4-BE49-F238E27FC236}">
                <a16:creationId xmlns:a16="http://schemas.microsoft.com/office/drawing/2014/main" id="{48D5CD8E-94DF-43E8-A8BC-B0C8DD3D1D1D}"/>
              </a:ext>
            </a:extLst>
          </p:cNvPr>
          <p:cNvSpPr>
            <a:spLocks xmlns:a="http://schemas.openxmlformats.org/drawingml/2006/main" noGrp="1"/>
          </p:cNvSpPr>
          <p:nvPr/>
        </p:nvSpPr>
        <p:spPr>
          <a:xfrm xmlns:a="http://schemas.openxmlformats.org/drawingml/2006/main">
            <a:off x="5623560" y="1051560"/>
            <a:ext cx="3154680" cy="1417320"/>
          </a:xfrm>
          <a:prstGeom xmlns:a="http://schemas.openxmlformats.org/drawingml/2006/main" prst="roundRect">
            <a:avLst>
              <a:gd name="adj" fmla="val 387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D0456374-7918-407D-8BE7-A515EFAFF032}"/>
              </a:ext>
            </a:extLst>
          </p:cNvPr>
          <p:cNvSpPr>
            <a:spLocks xmlns:a="http://schemas.openxmlformats.org/drawingml/2006/main" noGrp="1"/>
          </p:cNvSpPr>
          <p:nvPr/>
        </p:nvSpPr>
        <p:spPr>
          <a:xfrm xmlns:a="http://schemas.openxmlformats.org/drawingml/2006/main">
            <a:off x="5623560" y="1051560"/>
            <a:ext cx="315468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0E1C2751-3B89-4273-8B54-0B19093DA12C}"/>
              </a:ext>
            </a:extLst>
          </p:cNvPr>
          <p:cNvSpPr>
            <a:spLocks xmlns:a="http://schemas.openxmlformats.org/drawingml/2006/main" noGrp="1"/>
          </p:cNvSpPr>
          <p:nvPr/>
        </p:nvSpPr>
        <p:spPr>
          <a:xfrm xmlns:a="http://schemas.openxmlformats.org/drawingml/2006/main">
            <a:off x="5623560" y="1097280"/>
            <a:ext cx="31546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b="1">
                <a:solidFill>
                  <a:srgbClr val="FFFFFF"/>
                </a:solidFill>
                <a:latin typeface="Arial"/>
                <a:ea typeface="Arial"/>
                <a:cs typeface="Arial"/>
              </a:rPr>
              <a:t>SUCCESSOR OPPORTUNITY</a:t>
            </a:r>
            <a:endParaRPr sz="1150"/>
          </a:p>
        </p:txBody>
      </p:sp>
      <p:sp>
        <p:nvSpPr>
          <p:cNvPr id="21" name="Text 19">
            <a:extLst xmlns:a="http://schemas.openxmlformats.org/drawingml/2006/main">
              <a:ext uri="{FF2B5EF4-FFF2-40B4-BE49-F238E27FC236}">
                <a16:creationId xmlns:a16="http://schemas.microsoft.com/office/drawing/2014/main" id="{0CC5FE9F-1E30-4D6C-9473-BCF4271666E5}"/>
              </a:ext>
            </a:extLst>
          </p:cNvPr>
          <p:cNvSpPr>
            <a:spLocks xmlns:a="http://schemas.openxmlformats.org/drawingml/2006/main" noGrp="1"/>
          </p:cNvSpPr>
          <p:nvPr/>
        </p:nvSpPr>
        <p:spPr>
          <a:xfrm xmlns:a="http://schemas.openxmlformats.org/drawingml/2006/main">
            <a:off x="5788152" y="1517904"/>
            <a:ext cx="2834640" cy="896112"/>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100"/>
              </a:lnSpc>
              <a:buNone/>
            </a:pPr>
            <a:r>
              <a:rPr sz="1050" b="1">
                <a:solidFill>
                  <a:srgbClr val="C55A11"/>
                </a:solidFill>
                <a:latin typeface="Arial"/>
                <a:ea typeface="Arial"/>
                <a:cs typeface="Arial"/>
              </a:rPr>
              <a:t>Existing discriminators judge text-linked content and image-only style through shared features.</a:t>
            </a:r>
            <a:endParaRPr sz="1050"/>
          </a:p>
        </p:txBody>
      </p:sp>
      <p:sp>
        <p:nvSpPr>
          <p:cNvPr id="22" name="Shape 20">
            <a:extLst xmlns:a="http://schemas.openxmlformats.org/drawingml/2006/main">
              <a:ext uri="{FF2B5EF4-FFF2-40B4-BE49-F238E27FC236}">
                <a16:creationId xmlns:a16="http://schemas.microsoft.com/office/drawing/2014/main" id="{34CA2A4E-FC44-4CA4-8F4F-95C6A9F5455E}"/>
              </a:ext>
            </a:extLst>
          </p:cNvPr>
          <p:cNvSpPr>
            <a:spLocks xmlns:a="http://schemas.openxmlformats.org/drawingml/2006/main" noGrp="1"/>
          </p:cNvSpPr>
          <p:nvPr/>
        </p:nvSpPr>
        <p:spPr>
          <a:xfrm xmlns:a="http://schemas.openxmlformats.org/drawingml/2006/main">
            <a:off x="365760" y="2697480"/>
            <a:ext cx="8412480" cy="1554480"/>
          </a:xfrm>
          <a:prstGeom xmlns:a="http://schemas.openxmlformats.org/drawingml/2006/main" prst="roundRect">
            <a:avLst>
              <a:gd name="adj" fmla="val 3529"/>
            </a:avLst>
          </a:prstGeom>
          <a:solidFill xmlns:a="http://schemas.openxmlformats.org/drawingml/2006/main">
            <a:srgbClr val="E8EEF7"/>
          </a:solidFill>
          <a:ln xmlns:a="http://schemas.openxmlformats.org/drawingml/2006/main" w="12700">
            <a:solidFill>
              <a:srgbClr val="C55A11"/>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BC60732A-2617-4773-A606-1EE52D54010C}"/>
              </a:ext>
            </a:extLst>
          </p:cNvPr>
          <p:cNvSpPr>
            <a:spLocks xmlns:a="http://schemas.openxmlformats.org/drawingml/2006/main" noGrp="1"/>
          </p:cNvSpPr>
          <p:nvPr/>
        </p:nvSpPr>
        <p:spPr>
          <a:xfrm xmlns:a="http://schemas.openxmlformats.org/drawingml/2006/main">
            <a:off x="548640" y="2816352"/>
            <a:ext cx="80467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F3864"/>
                </a:solidFill>
                <a:latin typeface="Arial"/>
                <a:ea typeface="Arial"/>
                <a:cs typeface="Arial"/>
              </a:rPr>
              <a:t>WHY IT MATTERS</a:t>
            </a:r>
            <a:endParaRPr sz="1300"/>
          </a:p>
        </p:txBody>
      </p:sp>
      <p:sp>
        <p:nvSpPr>
          <p:cNvPr id="24" name="Text 22">
            <a:extLst xmlns:a="http://schemas.openxmlformats.org/drawingml/2006/main">
              <a:ext uri="{FF2B5EF4-FFF2-40B4-BE49-F238E27FC236}">
                <a16:creationId xmlns:a16="http://schemas.microsoft.com/office/drawing/2014/main" id="{F7479C1B-DE28-456C-9440-F4C95D7E67F6}"/>
              </a:ext>
            </a:extLst>
          </p:cNvPr>
          <p:cNvSpPr>
            <a:spLocks xmlns:a="http://schemas.openxmlformats.org/drawingml/2006/main" noGrp="1"/>
          </p:cNvSpPr>
          <p:nvPr/>
        </p:nvSpPr>
        <p:spPr>
          <a:xfrm xmlns:a="http://schemas.openxmlformats.org/drawingml/2006/main">
            <a:off x="548640" y="3154680"/>
            <a:ext cx="804672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50">
                <a:solidFill>
                  <a:srgbClr val="1F2937"/>
                </a:solidFill>
                <a:latin typeface="Arial"/>
                <a:ea typeface="Arial"/>
                <a:cs typeface="Arial"/>
              </a:rPr>
              <a:t>A generator needs both a stronger text–image signal and a realistic style signal.</a:t>
            </a:r>
            <a:endParaRPr sz="1150"/>
          </a:p>
        </p:txBody>
      </p:sp>
      <p:sp>
        <p:nvSpPr>
          <p:cNvPr id="25" name="Text 23">
            <a:extLst xmlns:a="http://schemas.openxmlformats.org/drawingml/2006/main">
              <a:ext uri="{FF2B5EF4-FFF2-40B4-BE49-F238E27FC236}">
                <a16:creationId xmlns:a16="http://schemas.microsoft.com/office/drawing/2014/main" id="{C27FC237-9ABF-48D1-BDA3-7C1D0D7E9F86}"/>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3 / 15</a:t>
            </a:r>
            <a:endParaRPr sz="900"/>
          </a:p>
        </p:txBody>
      </p:sp>
      <p:sp>
        <p:nvSpPr>
          <p:cNvPr id="26" name="Shape 24">
            <a:extLst xmlns:a="http://schemas.openxmlformats.org/drawingml/2006/main">
              <a:ext uri="{FF2B5EF4-FFF2-40B4-BE49-F238E27FC236}">
                <a16:creationId xmlns:a16="http://schemas.microsoft.com/office/drawing/2014/main" id="{05EB0E09-3FA6-40AE-B1E6-D05BB75F3D62}"/>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7C8C7A2E-928C-49FF-8B22-E21A1A9D331C}"/>
              </a:ext>
            </a:extLst>
          </p:cNvPr>
          <p:cNvSpPr>
            <a:spLocks xmlns:a="http://schemas.openxmlformats.org/drawingml/2006/main" noGrp="1"/>
          </p:cNvSpPr>
          <p:nvPr/>
        </p:nvSpPr>
        <p:spPr>
          <a:xfrm xmlns:a="http://schemas.openxmlformats.org/drawingml/2006/main">
            <a:off x="7955280" y="4864608"/>
            <a:ext cx="316523"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1139369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42033E0-293F-4760-8E1C-D2576A14587B}"/>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6A874BC9-8EFB-4448-A052-0AB338EBCE98}"/>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03</a:t>
            </a:r>
            <a:endParaRPr sz="1700"/>
          </a:p>
        </p:txBody>
      </p:sp>
      <p:sp>
        <p:nvSpPr>
          <p:cNvPr id="4" name="Text 2">
            <a:extLst xmlns:a="http://schemas.openxmlformats.org/drawingml/2006/main">
              <a:ext uri="{FF2B5EF4-FFF2-40B4-BE49-F238E27FC236}">
                <a16:creationId xmlns:a16="http://schemas.microsoft.com/office/drawing/2014/main" id="{86D787F5-27C6-4D8E-ACE0-FFD74F8C0EE0}"/>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100" b="1">
                <a:solidFill>
                  <a:srgbClr val="1F2937"/>
                </a:solidFill>
                <a:latin typeface="Arial"/>
                <a:ea typeface="Arial"/>
                <a:cs typeface="Arial"/>
              </a:rPr>
              <a:t>The Released DM-GAN Baseline Reproduces Credibly</a:t>
            </a:r>
            <a:endParaRPr sz="2100"/>
          </a:p>
        </p:txBody>
      </p:sp>
      <p:sp>
        <p:nvSpPr>
          <p:cNvPr id="5" name="Text 3">
            <a:extLst xmlns:a="http://schemas.openxmlformats.org/drawingml/2006/main">
              <a:ext uri="{FF2B5EF4-FFF2-40B4-BE49-F238E27FC236}">
                <a16:creationId xmlns:a16="http://schemas.microsoft.com/office/drawing/2014/main" id="{39D0C23C-94A5-4CC5-849F-7898B2DE9D92}"/>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Author weights · modern evaluation path · 30,000 fixed samples</a:t>
            </a:r>
            <a:endParaRPr sz="1150"/>
          </a:p>
        </p:txBody>
      </p:sp>
      <p:sp>
        <p:nvSpPr>
          <p:cNvPr id="6" name="Shape 4">
            <a:extLst xmlns:a="http://schemas.openxmlformats.org/drawingml/2006/main">
              <a:ext uri="{FF2B5EF4-FFF2-40B4-BE49-F238E27FC236}">
                <a16:creationId xmlns:a16="http://schemas.microsoft.com/office/drawing/2014/main" id="{D15478CA-B10D-4A4E-9B4D-975E1D55453C}"/>
              </a:ext>
            </a:extLst>
          </p:cNvPr>
          <p:cNvSpPr>
            <a:spLocks xmlns:a="http://schemas.openxmlformats.org/drawingml/2006/main" noGrp="1"/>
          </p:cNvSpPr>
          <p:nvPr/>
        </p:nvSpPr>
        <p:spPr>
          <a:xfrm xmlns:a="http://schemas.openxmlformats.org/drawingml/2006/main">
            <a:off x="365760" y="987552"/>
            <a:ext cx="2514600"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2F1412B1-D18A-4C74-B451-E4C956308978}"/>
              </a:ext>
            </a:extLst>
          </p:cNvPr>
          <p:cNvSpPr>
            <a:spLocks xmlns:a="http://schemas.openxmlformats.org/drawingml/2006/main" noGrp="1"/>
          </p:cNvSpPr>
          <p:nvPr/>
        </p:nvSpPr>
        <p:spPr>
          <a:xfrm xmlns:a="http://schemas.openxmlformats.org/drawingml/2006/main">
            <a:off x="365760" y="1042416"/>
            <a:ext cx="251460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F3864"/>
                </a:solidFill>
                <a:latin typeface="Arial"/>
                <a:ea typeface="Arial"/>
                <a:cs typeface="Arial"/>
              </a:rPr>
              <a:t>EVAL SCALE</a:t>
            </a:r>
            <a:endParaRPr sz="1100"/>
          </a:p>
        </p:txBody>
      </p:sp>
      <p:sp>
        <p:nvSpPr>
          <p:cNvPr id="8" name="Text 6">
            <a:extLst xmlns:a="http://schemas.openxmlformats.org/drawingml/2006/main">
              <a:ext uri="{FF2B5EF4-FFF2-40B4-BE49-F238E27FC236}">
                <a16:creationId xmlns:a16="http://schemas.microsoft.com/office/drawing/2014/main" id="{450C30DB-4C19-47DD-A9B6-627BB661C0C2}"/>
              </a:ext>
            </a:extLst>
          </p:cNvPr>
          <p:cNvSpPr>
            <a:spLocks xmlns:a="http://schemas.openxmlformats.org/drawingml/2006/main" noGrp="1"/>
          </p:cNvSpPr>
          <p:nvPr/>
        </p:nvSpPr>
        <p:spPr>
          <a:xfrm xmlns:a="http://schemas.openxmlformats.org/drawingml/2006/main">
            <a:off x="365760" y="1298448"/>
            <a:ext cx="25146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0E7C7B"/>
                </a:solidFill>
                <a:latin typeface="Arial"/>
                <a:ea typeface="Arial"/>
                <a:cs typeface="Arial"/>
              </a:rPr>
              <a:t>30,000</a:t>
            </a:r>
            <a:endParaRPr sz="1300"/>
          </a:p>
        </p:txBody>
      </p:sp>
      <p:sp>
        <p:nvSpPr>
          <p:cNvPr id="9" name="Text 7">
            <a:extLst xmlns:a="http://schemas.openxmlformats.org/drawingml/2006/main">
              <a:ext uri="{FF2B5EF4-FFF2-40B4-BE49-F238E27FC236}">
                <a16:creationId xmlns:a16="http://schemas.microsoft.com/office/drawing/2014/main" id="{D45201ED-BD42-4442-9A18-3502312799D2}"/>
              </a:ext>
            </a:extLst>
          </p:cNvPr>
          <p:cNvSpPr>
            <a:spLocks xmlns:a="http://schemas.openxmlformats.org/drawingml/2006/main" noGrp="1"/>
          </p:cNvSpPr>
          <p:nvPr/>
        </p:nvSpPr>
        <p:spPr>
          <a:xfrm xmlns:a="http://schemas.openxmlformats.org/drawingml/2006/main">
            <a:off x="365760" y="1609344"/>
            <a:ext cx="25146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a:solidFill>
                  <a:srgbClr val="6B7280"/>
                </a:solidFill>
                <a:latin typeface="Arial"/>
                <a:ea typeface="Arial"/>
                <a:cs typeface="Arial"/>
              </a:rPr>
              <a:t>fixed generations</a:t>
            </a:r>
            <a:endParaRPr sz="1000"/>
          </a:p>
        </p:txBody>
      </p:sp>
      <p:sp>
        <p:nvSpPr>
          <p:cNvPr id="10" name="Shape 8">
            <a:extLst xmlns:a="http://schemas.openxmlformats.org/drawingml/2006/main">
              <a:ext uri="{FF2B5EF4-FFF2-40B4-BE49-F238E27FC236}">
                <a16:creationId xmlns:a16="http://schemas.microsoft.com/office/drawing/2014/main" id="{209427D6-8BED-4B02-BF85-E9B86B9A6013}"/>
              </a:ext>
            </a:extLst>
          </p:cNvPr>
          <p:cNvSpPr>
            <a:spLocks xmlns:a="http://schemas.openxmlformats.org/drawingml/2006/main" noGrp="1"/>
          </p:cNvSpPr>
          <p:nvPr/>
        </p:nvSpPr>
        <p:spPr>
          <a:xfrm xmlns:a="http://schemas.openxmlformats.org/drawingml/2006/main">
            <a:off x="3017520" y="987552"/>
            <a:ext cx="2514600"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F059D79F-1F88-402D-AF58-1A0DFAC31073}"/>
              </a:ext>
            </a:extLst>
          </p:cNvPr>
          <p:cNvSpPr>
            <a:spLocks xmlns:a="http://schemas.openxmlformats.org/drawingml/2006/main" noGrp="1"/>
          </p:cNvSpPr>
          <p:nvPr/>
        </p:nvSpPr>
        <p:spPr>
          <a:xfrm xmlns:a="http://schemas.openxmlformats.org/drawingml/2006/main">
            <a:off x="3017520" y="1042416"/>
            <a:ext cx="251460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F3864"/>
                </a:solidFill>
                <a:latin typeface="Arial"/>
                <a:ea typeface="Arial"/>
                <a:cs typeface="Arial"/>
              </a:rPr>
              <a:t>LOCAL FID ↓</a:t>
            </a:r>
            <a:endParaRPr sz="1100"/>
          </a:p>
        </p:txBody>
      </p:sp>
      <p:sp>
        <p:nvSpPr>
          <p:cNvPr id="12" name="Text 10">
            <a:extLst xmlns:a="http://schemas.openxmlformats.org/drawingml/2006/main">
              <a:ext uri="{FF2B5EF4-FFF2-40B4-BE49-F238E27FC236}">
                <a16:creationId xmlns:a16="http://schemas.microsoft.com/office/drawing/2014/main" id="{15125CF9-E64E-413D-A9C9-58D7CBA467DE}"/>
              </a:ext>
            </a:extLst>
          </p:cNvPr>
          <p:cNvSpPr>
            <a:spLocks xmlns:a="http://schemas.openxmlformats.org/drawingml/2006/main" noGrp="1"/>
          </p:cNvSpPr>
          <p:nvPr/>
        </p:nvSpPr>
        <p:spPr>
          <a:xfrm xmlns:a="http://schemas.openxmlformats.org/drawingml/2006/main">
            <a:off x="3017520" y="1298448"/>
            <a:ext cx="25146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0E7C7B"/>
                </a:solidFill>
                <a:latin typeface="Arial"/>
                <a:ea typeface="Arial"/>
                <a:cs typeface="Arial"/>
              </a:rPr>
              <a:t>15.7047</a:t>
            </a:r>
            <a:endParaRPr sz="1300"/>
          </a:p>
        </p:txBody>
      </p:sp>
      <p:sp>
        <p:nvSpPr>
          <p:cNvPr id="13" name="Text 11">
            <a:extLst xmlns:a="http://schemas.openxmlformats.org/drawingml/2006/main">
              <a:ext uri="{FF2B5EF4-FFF2-40B4-BE49-F238E27FC236}">
                <a16:creationId xmlns:a16="http://schemas.microsoft.com/office/drawing/2014/main" id="{4B12CA28-EAC6-424E-977F-0D256A193A66}"/>
              </a:ext>
            </a:extLst>
          </p:cNvPr>
          <p:cNvSpPr>
            <a:spLocks xmlns:a="http://schemas.openxmlformats.org/drawingml/2006/main" noGrp="1"/>
          </p:cNvSpPr>
          <p:nvPr/>
        </p:nvSpPr>
        <p:spPr>
          <a:xfrm xmlns:a="http://schemas.openxmlformats.org/drawingml/2006/main">
            <a:off x="3017520" y="1609344"/>
            <a:ext cx="25146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a:solidFill>
                  <a:srgbClr val="0E7C7B"/>
                </a:solidFill>
                <a:latin typeface="Arial"/>
                <a:ea typeface="Arial"/>
                <a:cs typeface="Arial"/>
              </a:rPr>
              <a:t>released reference 15.34</a:t>
            </a:r>
            <a:endParaRPr sz="1000"/>
          </a:p>
        </p:txBody>
      </p:sp>
      <p:sp>
        <p:nvSpPr>
          <p:cNvPr id="14" name="Shape 12">
            <a:extLst xmlns:a="http://schemas.openxmlformats.org/drawingml/2006/main">
              <a:ext uri="{FF2B5EF4-FFF2-40B4-BE49-F238E27FC236}">
                <a16:creationId xmlns:a16="http://schemas.microsoft.com/office/drawing/2014/main" id="{61B995AB-4B5D-4C87-AC92-116DE5001761}"/>
              </a:ext>
            </a:extLst>
          </p:cNvPr>
          <p:cNvSpPr>
            <a:spLocks xmlns:a="http://schemas.openxmlformats.org/drawingml/2006/main" noGrp="1"/>
          </p:cNvSpPr>
          <p:nvPr/>
        </p:nvSpPr>
        <p:spPr>
          <a:xfrm xmlns:a="http://schemas.openxmlformats.org/drawingml/2006/main">
            <a:off x="5669280" y="987552"/>
            <a:ext cx="2514600"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C2FC38CE-E5D7-4A53-BAE4-636F6B557FE0}"/>
              </a:ext>
            </a:extLst>
          </p:cNvPr>
          <p:cNvSpPr>
            <a:spLocks xmlns:a="http://schemas.openxmlformats.org/drawingml/2006/main" noGrp="1"/>
          </p:cNvSpPr>
          <p:nvPr/>
        </p:nvSpPr>
        <p:spPr>
          <a:xfrm xmlns:a="http://schemas.openxmlformats.org/drawingml/2006/main">
            <a:off x="5669280" y="1042416"/>
            <a:ext cx="251460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F3864"/>
                </a:solidFill>
                <a:latin typeface="Arial"/>
                <a:ea typeface="Arial"/>
                <a:cs typeface="Arial"/>
              </a:rPr>
              <a:t>LOCAL R-PRECISION ↑</a:t>
            </a:r>
            <a:endParaRPr sz="1100"/>
          </a:p>
        </p:txBody>
      </p:sp>
      <p:sp>
        <p:nvSpPr>
          <p:cNvPr id="16" name="Text 14">
            <a:extLst xmlns:a="http://schemas.openxmlformats.org/drawingml/2006/main">
              <a:ext uri="{FF2B5EF4-FFF2-40B4-BE49-F238E27FC236}">
                <a16:creationId xmlns:a16="http://schemas.microsoft.com/office/drawing/2014/main" id="{6B3E4E52-3D7B-4F97-90B9-ADE4D1A41E6B}"/>
              </a:ext>
            </a:extLst>
          </p:cNvPr>
          <p:cNvSpPr>
            <a:spLocks xmlns:a="http://schemas.openxmlformats.org/drawingml/2006/main" noGrp="1"/>
          </p:cNvSpPr>
          <p:nvPr/>
        </p:nvSpPr>
        <p:spPr>
          <a:xfrm xmlns:a="http://schemas.openxmlformats.org/drawingml/2006/main">
            <a:off x="5669280" y="1298448"/>
            <a:ext cx="25146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0E7C7B"/>
                </a:solidFill>
                <a:latin typeface="Arial"/>
                <a:ea typeface="Arial"/>
                <a:cs typeface="Arial"/>
              </a:rPr>
              <a:t>76.84%</a:t>
            </a:r>
            <a:endParaRPr sz="1300"/>
          </a:p>
        </p:txBody>
      </p:sp>
      <p:sp>
        <p:nvSpPr>
          <p:cNvPr id="17" name="Text 15">
            <a:extLst xmlns:a="http://schemas.openxmlformats.org/drawingml/2006/main">
              <a:ext uri="{FF2B5EF4-FFF2-40B4-BE49-F238E27FC236}">
                <a16:creationId xmlns:a16="http://schemas.microsoft.com/office/drawing/2014/main" id="{EA77FA44-1544-44E5-B687-C97481632849}"/>
              </a:ext>
            </a:extLst>
          </p:cNvPr>
          <p:cNvSpPr>
            <a:spLocks xmlns:a="http://schemas.openxmlformats.org/drawingml/2006/main" noGrp="1"/>
          </p:cNvSpPr>
          <p:nvPr/>
        </p:nvSpPr>
        <p:spPr>
          <a:xfrm xmlns:a="http://schemas.openxmlformats.org/drawingml/2006/main">
            <a:off x="5669280" y="1609344"/>
            <a:ext cx="25146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a:solidFill>
                  <a:srgbClr val="0E7C7B"/>
                </a:solidFill>
                <a:latin typeface="Arial"/>
                <a:ea typeface="Arial"/>
                <a:cs typeface="Arial"/>
              </a:rPr>
              <a:t>released reference 76.58%</a:t>
            </a:r>
            <a:endParaRPr sz="1000"/>
          </a:p>
        </p:txBody>
      </p:sp>
      <p:sp>
        <p:nvSpPr>
          <p:cNvPr id="18" name="Shape 16">
            <a:extLst xmlns:a="http://schemas.openxmlformats.org/drawingml/2006/main">
              <a:ext uri="{FF2B5EF4-FFF2-40B4-BE49-F238E27FC236}">
                <a16:creationId xmlns:a16="http://schemas.microsoft.com/office/drawing/2014/main" id="{910A018D-25F0-484E-9797-F482C798C4EE}"/>
              </a:ext>
            </a:extLst>
          </p:cNvPr>
          <p:cNvSpPr>
            <a:spLocks xmlns:a="http://schemas.openxmlformats.org/drawingml/2006/main" noGrp="1"/>
          </p:cNvSpPr>
          <p:nvPr/>
        </p:nvSpPr>
        <p:spPr>
          <a:xfrm xmlns:a="http://schemas.openxmlformats.org/drawingml/2006/main">
            <a:off x="365760" y="2057400"/>
            <a:ext cx="3200400" cy="2514600"/>
          </a:xfrm>
          <a:prstGeom xmlns:a="http://schemas.openxmlformats.org/drawingml/2006/main" prst="roundRect">
            <a:avLst>
              <a:gd name="adj" fmla="val 2182"/>
            </a:avLst>
          </a:prstGeom>
          <a:solidFill xmlns:a="http://schemas.openxmlformats.org/drawingml/2006/main">
            <a:srgbClr val="FFFFFF"/>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18E5DF4F-F942-4CAE-90A4-6E447A46583B}"/>
              </a:ext>
            </a:extLst>
          </p:cNvPr>
          <p:cNvSpPr>
            <a:spLocks xmlns:a="http://schemas.openxmlformats.org/drawingml/2006/main" noGrp="1"/>
          </p:cNvSpPr>
          <p:nvPr/>
        </p:nvSpPr>
        <p:spPr>
          <a:xfrm xmlns:a="http://schemas.openxmlformats.org/drawingml/2006/main">
            <a:off x="365760" y="2167128"/>
            <a:ext cx="32004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1F3864"/>
                </a:solidFill>
                <a:latin typeface="Arial"/>
                <a:ea typeface="Arial"/>
                <a:cs typeface="Arial"/>
              </a:rPr>
              <a:t>Native stochastic CA · local inference</a:t>
            </a:r>
            <a:endParaRPr sz="95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468c517a9b1546b9"/>
          <a:srcRect xmlns:a="http://schemas.openxmlformats.org/drawingml/2006/main" l="0" t="0" r="0" b="0"/>
          <a:stretch xmlns:a="http://schemas.openxmlformats.org/drawingml/2006/main"/>
        </p:blipFill>
        <p:spPr>
          <a:xfrm xmlns:a="http://schemas.openxmlformats.org/drawingml/2006/main" flipH="0" flipV="0">
            <a:off x="457200" y="2377440"/>
            <a:ext cx="3017520" cy="1920240"/>
          </a:xfrm>
          <a:prstGeom xmlns:a="http://schemas.openxmlformats.org/drawingml/2006/main" prst="rect">
            <a:avLst/>
          </a:prstGeom>
        </p:spPr>
      </p:pic>
      <p:sp>
        <p:nvSpPr>
          <p:cNvPr id="21" name="Shape 18">
            <a:extLst xmlns:a="http://schemas.openxmlformats.org/drawingml/2006/main">
              <a:ext uri="{FF2B5EF4-FFF2-40B4-BE49-F238E27FC236}">
                <a16:creationId xmlns:a16="http://schemas.microsoft.com/office/drawing/2014/main" id="{04E22412-51DD-4D36-A2B7-3F4ED713CD3D}"/>
              </a:ext>
            </a:extLst>
          </p:cNvPr>
          <p:cNvSpPr>
            <a:spLocks xmlns:a="http://schemas.openxmlformats.org/drawingml/2006/main" noGrp="1"/>
          </p:cNvSpPr>
          <p:nvPr/>
        </p:nvSpPr>
        <p:spPr>
          <a:xfrm xmlns:a="http://schemas.openxmlformats.org/drawingml/2006/main">
            <a:off x="3749040" y="2057400"/>
            <a:ext cx="2606040" cy="2514600"/>
          </a:xfrm>
          <a:prstGeom xmlns:a="http://schemas.openxmlformats.org/drawingml/2006/main" prst="roundRect">
            <a:avLst>
              <a:gd name="adj" fmla="val 2182"/>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hape 19">
            <a:extLst xmlns:a="http://schemas.openxmlformats.org/drawingml/2006/main">
              <a:ext uri="{FF2B5EF4-FFF2-40B4-BE49-F238E27FC236}">
                <a16:creationId xmlns:a16="http://schemas.microsoft.com/office/drawing/2014/main" id="{A7E5B67C-75C7-450D-8B0A-31AFFD832C09}"/>
              </a:ext>
            </a:extLst>
          </p:cNvPr>
          <p:cNvSpPr>
            <a:spLocks xmlns:a="http://schemas.openxmlformats.org/drawingml/2006/main" noGrp="1"/>
          </p:cNvSpPr>
          <p:nvPr/>
        </p:nvSpPr>
        <p:spPr>
          <a:xfrm xmlns:a="http://schemas.openxmlformats.org/drawingml/2006/main">
            <a:off x="3749040" y="2057400"/>
            <a:ext cx="260604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23" name="Text 20">
            <a:extLst xmlns:a="http://schemas.openxmlformats.org/drawingml/2006/main">
              <a:ext uri="{FF2B5EF4-FFF2-40B4-BE49-F238E27FC236}">
                <a16:creationId xmlns:a16="http://schemas.microsoft.com/office/drawing/2014/main" id="{8C8735C6-9915-4A8C-83CE-1C6FE22E0C0B}"/>
              </a:ext>
            </a:extLst>
          </p:cNvPr>
          <p:cNvSpPr>
            <a:spLocks xmlns:a="http://schemas.openxmlformats.org/drawingml/2006/main" noGrp="1"/>
          </p:cNvSpPr>
          <p:nvPr/>
        </p:nvSpPr>
        <p:spPr>
          <a:xfrm xmlns:a="http://schemas.openxmlformats.org/drawingml/2006/main">
            <a:off x="3749040" y="2103120"/>
            <a:ext cx="26060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Released vs Local</a:t>
            </a:r>
            <a:endParaRPr sz="1200"/>
          </a:p>
        </p:txBody>
      </p:sp>
      <p:sp>
        <p:nvSpPr>
          <p:cNvPr id="24" name="Shape 21">
            <a:extLst xmlns:a="http://schemas.openxmlformats.org/drawingml/2006/main">
              <a:ext uri="{FF2B5EF4-FFF2-40B4-BE49-F238E27FC236}">
                <a16:creationId xmlns:a16="http://schemas.microsoft.com/office/drawing/2014/main" id="{15E9028B-B096-4ADD-B8AF-350CF8E727A4}"/>
              </a:ext>
            </a:extLst>
          </p:cNvPr>
          <p:cNvSpPr>
            <a:spLocks xmlns:a="http://schemas.openxmlformats.org/drawingml/2006/main" noGrp="1"/>
          </p:cNvSpPr>
          <p:nvPr/>
        </p:nvSpPr>
        <p:spPr>
          <a:xfrm xmlns:a="http://schemas.openxmlformats.org/drawingml/2006/main">
            <a:off x="3886200" y="2542032"/>
            <a:ext cx="1417320" cy="256032"/>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25" name="Text 22">
            <a:extLst xmlns:a="http://schemas.openxmlformats.org/drawingml/2006/main">
              <a:ext uri="{FF2B5EF4-FFF2-40B4-BE49-F238E27FC236}">
                <a16:creationId xmlns:a16="http://schemas.microsoft.com/office/drawing/2014/main" id="{E282EB35-AED1-4DA1-AA9D-719232572F0A}"/>
              </a:ext>
            </a:extLst>
          </p:cNvPr>
          <p:cNvSpPr>
            <a:spLocks xmlns:a="http://schemas.openxmlformats.org/drawingml/2006/main" noGrp="1"/>
          </p:cNvSpPr>
          <p:nvPr/>
        </p:nvSpPr>
        <p:spPr>
          <a:xfrm xmlns:a="http://schemas.openxmlformats.org/drawingml/2006/main">
            <a:off x="3886200" y="2542032"/>
            <a:ext cx="14173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rgbClr val="1F2937"/>
                </a:solidFill>
                <a:latin typeface="Arial"/>
                <a:ea typeface="Arial"/>
                <a:cs typeface="Arial"/>
              </a:rPr>
              <a:t>Released R-precision</a:t>
            </a:r>
            <a:endParaRPr sz="1000"/>
          </a:p>
        </p:txBody>
      </p:sp>
      <p:sp>
        <p:nvSpPr>
          <p:cNvPr id="26" name="Shape 23">
            <a:extLst xmlns:a="http://schemas.openxmlformats.org/drawingml/2006/main">
              <a:ext uri="{FF2B5EF4-FFF2-40B4-BE49-F238E27FC236}">
                <a16:creationId xmlns:a16="http://schemas.microsoft.com/office/drawing/2014/main" id="{D2D95AA9-7624-492A-826E-C084DE221374}"/>
              </a:ext>
            </a:extLst>
          </p:cNvPr>
          <p:cNvSpPr>
            <a:spLocks xmlns:a="http://schemas.openxmlformats.org/drawingml/2006/main" noGrp="1"/>
          </p:cNvSpPr>
          <p:nvPr/>
        </p:nvSpPr>
        <p:spPr>
          <a:xfrm xmlns:a="http://schemas.openxmlformats.org/drawingml/2006/main">
            <a:off x="5349240" y="2542032"/>
            <a:ext cx="868680" cy="256032"/>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27" name="Text 24">
            <a:extLst xmlns:a="http://schemas.openxmlformats.org/drawingml/2006/main">
              <a:ext uri="{FF2B5EF4-FFF2-40B4-BE49-F238E27FC236}">
                <a16:creationId xmlns:a16="http://schemas.microsoft.com/office/drawing/2014/main" id="{78983770-A30C-4C42-9252-16C7F9D1D2BF}"/>
              </a:ext>
            </a:extLst>
          </p:cNvPr>
          <p:cNvSpPr>
            <a:spLocks xmlns:a="http://schemas.openxmlformats.org/drawingml/2006/main" noGrp="1"/>
          </p:cNvSpPr>
          <p:nvPr/>
        </p:nvSpPr>
        <p:spPr>
          <a:xfrm xmlns:a="http://schemas.openxmlformats.org/drawingml/2006/main">
            <a:off x="5349240" y="2542032"/>
            <a:ext cx="868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1F2937"/>
                </a:solidFill>
                <a:latin typeface="Arial"/>
                <a:ea typeface="Arial"/>
                <a:cs typeface="Arial"/>
              </a:rPr>
              <a:t>76.58% ±0.53</a:t>
            </a:r>
            <a:endParaRPr sz="1000"/>
          </a:p>
        </p:txBody>
      </p:sp>
      <p:sp>
        <p:nvSpPr>
          <p:cNvPr id="28" name="Shape 25">
            <a:extLst xmlns:a="http://schemas.openxmlformats.org/drawingml/2006/main">
              <a:ext uri="{FF2B5EF4-FFF2-40B4-BE49-F238E27FC236}">
                <a16:creationId xmlns:a16="http://schemas.microsoft.com/office/drawing/2014/main" id="{14E75BCC-EC34-4828-9BCD-5AAFBED7E29F}"/>
              </a:ext>
            </a:extLst>
          </p:cNvPr>
          <p:cNvSpPr>
            <a:spLocks xmlns:a="http://schemas.openxmlformats.org/drawingml/2006/main" noGrp="1"/>
          </p:cNvSpPr>
          <p:nvPr/>
        </p:nvSpPr>
        <p:spPr>
          <a:xfrm xmlns:a="http://schemas.openxmlformats.org/drawingml/2006/main">
            <a:off x="3886200" y="2834640"/>
            <a:ext cx="1417320" cy="256032"/>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29" name="Text 26">
            <a:extLst xmlns:a="http://schemas.openxmlformats.org/drawingml/2006/main">
              <a:ext uri="{FF2B5EF4-FFF2-40B4-BE49-F238E27FC236}">
                <a16:creationId xmlns:a16="http://schemas.microsoft.com/office/drawing/2014/main" id="{FC02901C-5B15-47B1-88AD-9933EB867698}"/>
              </a:ext>
            </a:extLst>
          </p:cNvPr>
          <p:cNvSpPr>
            <a:spLocks xmlns:a="http://schemas.openxmlformats.org/drawingml/2006/main" noGrp="1"/>
          </p:cNvSpPr>
          <p:nvPr/>
        </p:nvSpPr>
        <p:spPr>
          <a:xfrm xmlns:a="http://schemas.openxmlformats.org/drawingml/2006/main">
            <a:off x="3886200" y="2834640"/>
            <a:ext cx="14173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rgbClr val="1F2937"/>
                </a:solidFill>
                <a:latin typeface="Arial"/>
                <a:ea typeface="Arial"/>
                <a:cs typeface="Arial"/>
              </a:rPr>
              <a:t>Released PyTorch FID</a:t>
            </a:r>
            <a:endParaRPr sz="1000"/>
          </a:p>
        </p:txBody>
      </p:sp>
      <p:sp>
        <p:nvSpPr>
          <p:cNvPr id="30" name="Shape 27">
            <a:extLst xmlns:a="http://schemas.openxmlformats.org/drawingml/2006/main">
              <a:ext uri="{FF2B5EF4-FFF2-40B4-BE49-F238E27FC236}">
                <a16:creationId xmlns:a16="http://schemas.microsoft.com/office/drawing/2014/main" id="{3EFD5C0F-3F25-43C5-8280-4213299E0C08}"/>
              </a:ext>
            </a:extLst>
          </p:cNvPr>
          <p:cNvSpPr>
            <a:spLocks xmlns:a="http://schemas.openxmlformats.org/drawingml/2006/main" noGrp="1"/>
          </p:cNvSpPr>
          <p:nvPr/>
        </p:nvSpPr>
        <p:spPr>
          <a:xfrm xmlns:a="http://schemas.openxmlformats.org/drawingml/2006/main">
            <a:off x="5349240" y="2834640"/>
            <a:ext cx="868680" cy="256032"/>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C9E8CA0C-7248-49EE-A680-8870F4D411AB}"/>
              </a:ext>
            </a:extLst>
          </p:cNvPr>
          <p:cNvSpPr>
            <a:spLocks xmlns:a="http://schemas.openxmlformats.org/drawingml/2006/main" noGrp="1"/>
          </p:cNvSpPr>
          <p:nvPr/>
        </p:nvSpPr>
        <p:spPr>
          <a:xfrm xmlns:a="http://schemas.openxmlformats.org/drawingml/2006/main">
            <a:off x="5349240" y="2834640"/>
            <a:ext cx="868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1F2937"/>
                </a:solidFill>
                <a:latin typeface="Arial"/>
                <a:ea typeface="Arial"/>
                <a:cs typeface="Arial"/>
              </a:rPr>
              <a:t>15.34</a:t>
            </a:r>
            <a:endParaRPr sz="1000"/>
          </a:p>
        </p:txBody>
      </p:sp>
      <p:sp>
        <p:nvSpPr>
          <p:cNvPr id="32" name="Shape 29">
            <a:extLst xmlns:a="http://schemas.openxmlformats.org/drawingml/2006/main">
              <a:ext uri="{FF2B5EF4-FFF2-40B4-BE49-F238E27FC236}">
                <a16:creationId xmlns:a16="http://schemas.microsoft.com/office/drawing/2014/main" id="{1FBFCD48-BAEE-46B8-B315-48F867BF3CDC}"/>
              </a:ext>
            </a:extLst>
          </p:cNvPr>
          <p:cNvSpPr>
            <a:spLocks xmlns:a="http://schemas.openxmlformats.org/drawingml/2006/main" noGrp="1"/>
          </p:cNvSpPr>
          <p:nvPr/>
        </p:nvSpPr>
        <p:spPr>
          <a:xfrm xmlns:a="http://schemas.openxmlformats.org/drawingml/2006/main">
            <a:off x="3886200" y="3127248"/>
            <a:ext cx="1417320" cy="256032"/>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33" name="Text 30">
            <a:extLst xmlns:a="http://schemas.openxmlformats.org/drawingml/2006/main">
              <a:ext uri="{FF2B5EF4-FFF2-40B4-BE49-F238E27FC236}">
                <a16:creationId xmlns:a16="http://schemas.microsoft.com/office/drawing/2014/main" id="{FAE2B877-07C5-4EC7-87BE-6283B17D6FDE}"/>
              </a:ext>
            </a:extLst>
          </p:cNvPr>
          <p:cNvSpPr>
            <a:spLocks xmlns:a="http://schemas.openxmlformats.org/drawingml/2006/main" noGrp="1"/>
          </p:cNvSpPr>
          <p:nvPr/>
        </p:nvSpPr>
        <p:spPr>
          <a:xfrm xmlns:a="http://schemas.openxmlformats.org/drawingml/2006/main">
            <a:off x="3886200" y="3127248"/>
            <a:ext cx="14173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rgbClr val="1F2937"/>
                </a:solidFill>
                <a:latin typeface="Arial"/>
                <a:ea typeface="Arial"/>
                <a:cs typeface="Arial"/>
              </a:rPr>
              <a:t>Local R-precision</a:t>
            </a:r>
            <a:endParaRPr sz="1000"/>
          </a:p>
        </p:txBody>
      </p:sp>
      <p:sp>
        <p:nvSpPr>
          <p:cNvPr id="34" name="Shape 31">
            <a:extLst xmlns:a="http://schemas.openxmlformats.org/drawingml/2006/main">
              <a:ext uri="{FF2B5EF4-FFF2-40B4-BE49-F238E27FC236}">
                <a16:creationId xmlns:a16="http://schemas.microsoft.com/office/drawing/2014/main" id="{94B2B480-F874-4AB5-8005-3873B839307F}"/>
              </a:ext>
            </a:extLst>
          </p:cNvPr>
          <p:cNvSpPr>
            <a:spLocks xmlns:a="http://schemas.openxmlformats.org/drawingml/2006/main" noGrp="1"/>
          </p:cNvSpPr>
          <p:nvPr/>
        </p:nvSpPr>
        <p:spPr>
          <a:xfrm xmlns:a="http://schemas.openxmlformats.org/drawingml/2006/main">
            <a:off x="5349240" y="3127248"/>
            <a:ext cx="868680" cy="256032"/>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35" name="Text 32">
            <a:extLst xmlns:a="http://schemas.openxmlformats.org/drawingml/2006/main">
              <a:ext uri="{FF2B5EF4-FFF2-40B4-BE49-F238E27FC236}">
                <a16:creationId xmlns:a16="http://schemas.microsoft.com/office/drawing/2014/main" id="{3B2DDE6F-2829-48E1-878C-B68392D47D00}"/>
              </a:ext>
            </a:extLst>
          </p:cNvPr>
          <p:cNvSpPr>
            <a:spLocks xmlns:a="http://schemas.openxmlformats.org/drawingml/2006/main" noGrp="1"/>
          </p:cNvSpPr>
          <p:nvPr/>
        </p:nvSpPr>
        <p:spPr>
          <a:xfrm xmlns:a="http://schemas.openxmlformats.org/drawingml/2006/main">
            <a:off x="5349240" y="3127248"/>
            <a:ext cx="868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1F2937"/>
                </a:solidFill>
                <a:latin typeface="Arial"/>
                <a:ea typeface="Arial"/>
                <a:cs typeface="Arial"/>
              </a:rPr>
              <a:t>76.84%</a:t>
            </a:r>
            <a:endParaRPr sz="1000"/>
          </a:p>
        </p:txBody>
      </p:sp>
      <p:sp>
        <p:nvSpPr>
          <p:cNvPr id="36" name="Shape 33">
            <a:extLst xmlns:a="http://schemas.openxmlformats.org/drawingml/2006/main">
              <a:ext uri="{FF2B5EF4-FFF2-40B4-BE49-F238E27FC236}">
                <a16:creationId xmlns:a16="http://schemas.microsoft.com/office/drawing/2014/main" id="{484B58E1-96B3-4CCC-992D-A7238D012D05}"/>
              </a:ext>
            </a:extLst>
          </p:cNvPr>
          <p:cNvSpPr>
            <a:spLocks xmlns:a="http://schemas.openxmlformats.org/drawingml/2006/main" noGrp="1"/>
          </p:cNvSpPr>
          <p:nvPr/>
        </p:nvSpPr>
        <p:spPr>
          <a:xfrm xmlns:a="http://schemas.openxmlformats.org/drawingml/2006/main">
            <a:off x="3886200" y="3419856"/>
            <a:ext cx="1417320" cy="256032"/>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37" name="Text 34">
            <a:extLst xmlns:a="http://schemas.openxmlformats.org/drawingml/2006/main">
              <a:ext uri="{FF2B5EF4-FFF2-40B4-BE49-F238E27FC236}">
                <a16:creationId xmlns:a16="http://schemas.microsoft.com/office/drawing/2014/main" id="{396891A0-A658-4543-B466-F6630CB9694C}"/>
              </a:ext>
            </a:extLst>
          </p:cNvPr>
          <p:cNvSpPr>
            <a:spLocks xmlns:a="http://schemas.openxmlformats.org/drawingml/2006/main" noGrp="1"/>
          </p:cNvSpPr>
          <p:nvPr/>
        </p:nvSpPr>
        <p:spPr>
          <a:xfrm xmlns:a="http://schemas.openxmlformats.org/drawingml/2006/main">
            <a:off x="3886200" y="3419856"/>
            <a:ext cx="14173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rgbClr val="1F2937"/>
                </a:solidFill>
                <a:latin typeface="Arial"/>
                <a:ea typeface="Arial"/>
                <a:cs typeface="Arial"/>
              </a:rPr>
              <a:t>Local PyTorch FID</a:t>
            </a:r>
            <a:endParaRPr sz="1000"/>
          </a:p>
        </p:txBody>
      </p:sp>
      <p:sp>
        <p:nvSpPr>
          <p:cNvPr id="38" name="Shape 35">
            <a:extLst xmlns:a="http://schemas.openxmlformats.org/drawingml/2006/main">
              <a:ext uri="{FF2B5EF4-FFF2-40B4-BE49-F238E27FC236}">
                <a16:creationId xmlns:a16="http://schemas.microsoft.com/office/drawing/2014/main" id="{1DD621A3-6695-4789-A97D-6D6BB7805A02}"/>
              </a:ext>
            </a:extLst>
          </p:cNvPr>
          <p:cNvSpPr>
            <a:spLocks xmlns:a="http://schemas.openxmlformats.org/drawingml/2006/main" noGrp="1"/>
          </p:cNvSpPr>
          <p:nvPr/>
        </p:nvSpPr>
        <p:spPr>
          <a:xfrm xmlns:a="http://schemas.openxmlformats.org/drawingml/2006/main">
            <a:off x="5349240" y="3419856"/>
            <a:ext cx="868680" cy="256032"/>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39" name="Text 36">
            <a:extLst xmlns:a="http://schemas.openxmlformats.org/drawingml/2006/main">
              <a:ext uri="{FF2B5EF4-FFF2-40B4-BE49-F238E27FC236}">
                <a16:creationId xmlns:a16="http://schemas.microsoft.com/office/drawing/2014/main" id="{F9D4D6D4-A3AF-4B00-84D5-ABFF0C59ED89}"/>
              </a:ext>
            </a:extLst>
          </p:cNvPr>
          <p:cNvSpPr>
            <a:spLocks xmlns:a="http://schemas.openxmlformats.org/drawingml/2006/main" noGrp="1"/>
          </p:cNvSpPr>
          <p:nvPr/>
        </p:nvSpPr>
        <p:spPr>
          <a:xfrm xmlns:a="http://schemas.openxmlformats.org/drawingml/2006/main">
            <a:off x="5349240" y="3419856"/>
            <a:ext cx="868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b="1">
                <a:solidFill>
                  <a:srgbClr val="0E7C7B"/>
                </a:solidFill>
                <a:latin typeface="Arial"/>
                <a:ea typeface="Arial"/>
                <a:cs typeface="Arial"/>
              </a:rPr>
              <a:t>15.76</a:t>
            </a:r>
            <a:endParaRPr sz="1000"/>
          </a:p>
        </p:txBody>
      </p:sp>
      <p:sp>
        <p:nvSpPr>
          <p:cNvPr id="40" name="Shape 37">
            <a:extLst xmlns:a="http://schemas.openxmlformats.org/drawingml/2006/main">
              <a:ext uri="{FF2B5EF4-FFF2-40B4-BE49-F238E27FC236}">
                <a16:creationId xmlns:a16="http://schemas.microsoft.com/office/drawing/2014/main" id="{27BEF71D-C0CA-4059-8A5F-EBFB23CB90DA}"/>
              </a:ext>
            </a:extLst>
          </p:cNvPr>
          <p:cNvSpPr>
            <a:spLocks xmlns:a="http://schemas.openxmlformats.org/drawingml/2006/main" noGrp="1"/>
          </p:cNvSpPr>
          <p:nvPr/>
        </p:nvSpPr>
        <p:spPr>
          <a:xfrm xmlns:a="http://schemas.openxmlformats.org/drawingml/2006/main">
            <a:off x="6537960" y="2057400"/>
            <a:ext cx="2240280" cy="2514600"/>
          </a:xfrm>
          <a:prstGeom xmlns:a="http://schemas.openxmlformats.org/drawingml/2006/main" prst="roundRect">
            <a:avLst>
              <a:gd name="adj" fmla="val 2449"/>
            </a:avLst>
          </a:prstGeom>
          <a:solidFill xmlns:a="http://schemas.openxmlformats.org/drawingml/2006/main">
            <a:srgbClr val="E8EEF7"/>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Text 38">
            <a:extLst xmlns:a="http://schemas.openxmlformats.org/drawingml/2006/main">
              <a:ext uri="{FF2B5EF4-FFF2-40B4-BE49-F238E27FC236}">
                <a16:creationId xmlns:a16="http://schemas.microsoft.com/office/drawing/2014/main" id="{15E5423D-1610-4AF9-80A2-0E7DE6164A39}"/>
              </a:ext>
            </a:extLst>
          </p:cNvPr>
          <p:cNvSpPr>
            <a:spLocks xmlns:a="http://schemas.openxmlformats.org/drawingml/2006/main" noGrp="1"/>
          </p:cNvSpPr>
          <p:nvPr/>
        </p:nvSpPr>
        <p:spPr>
          <a:xfrm xmlns:a="http://schemas.openxmlformats.org/drawingml/2006/main">
            <a:off x="6675120" y="2286000"/>
            <a:ext cx="1965960" cy="2103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200"/>
              </a:lnSpc>
              <a:buNone/>
            </a:pPr>
            <a:r>
              <a:rPr sz="1050" b="1">
                <a:solidFill>
                  <a:srgbClr val="0E7C7B"/>
                </a:solidFill>
                <a:latin typeface="Arial"/>
                <a:ea typeface="Arial"/>
                <a:cs typeface="Arial"/>
              </a:rPr>
              <a:t>PASS
Comparable FID and R-precision validate checkpoint loading and the evaluation path.
This is checkpoint reproduction—not full retraining.</a:t>
            </a:r>
            <a:endParaRPr sz="1050"/>
          </a:p>
        </p:txBody>
      </p:sp>
      <p:sp>
        <p:nvSpPr>
          <p:cNvPr id="42" name="Text 39">
            <a:extLst xmlns:a="http://schemas.openxmlformats.org/drawingml/2006/main">
              <a:ext uri="{FF2B5EF4-FFF2-40B4-BE49-F238E27FC236}">
                <a16:creationId xmlns:a16="http://schemas.microsoft.com/office/drawing/2014/main" id="{C9FDAE8B-3432-48F3-888E-12DA1A71A5EF}"/>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4 / 15</a:t>
            </a:r>
            <a:endParaRPr sz="900"/>
          </a:p>
        </p:txBody>
      </p:sp>
      <p:sp>
        <p:nvSpPr>
          <p:cNvPr id="43" name="Shape 40">
            <a:extLst xmlns:a="http://schemas.openxmlformats.org/drawingml/2006/main">
              <a:ext uri="{FF2B5EF4-FFF2-40B4-BE49-F238E27FC236}">
                <a16:creationId xmlns:a16="http://schemas.microsoft.com/office/drawing/2014/main" id="{DCA28C56-AA96-4580-87E6-BB3388540693}"/>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44" name="Shape 41">
            <a:extLst xmlns:a="http://schemas.openxmlformats.org/drawingml/2006/main">
              <a:ext uri="{FF2B5EF4-FFF2-40B4-BE49-F238E27FC236}">
                <a16:creationId xmlns:a16="http://schemas.microsoft.com/office/drawing/2014/main" id="{E098D422-8079-448A-A059-BA1D79E04C9A}"/>
              </a:ext>
            </a:extLst>
          </p:cNvPr>
          <p:cNvSpPr>
            <a:spLocks xmlns:a="http://schemas.openxmlformats.org/drawingml/2006/main" noGrp="1"/>
          </p:cNvSpPr>
          <p:nvPr/>
        </p:nvSpPr>
        <p:spPr>
          <a:xfrm xmlns:a="http://schemas.openxmlformats.org/drawingml/2006/main">
            <a:off x="7955280" y="4864608"/>
            <a:ext cx="759655"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672167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CF48FBC-5516-46E8-B1B3-4422E39ABF29}"/>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3935D704-B055-41E6-A77E-B865147F474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04</a:t>
            </a:r>
            <a:endParaRPr sz="1700"/>
          </a:p>
        </p:txBody>
      </p:sp>
      <p:sp>
        <p:nvSpPr>
          <p:cNvPr id="4" name="Text 2">
            <a:extLst xmlns:a="http://schemas.openxmlformats.org/drawingml/2006/main">
              <a:ext uri="{FF2B5EF4-FFF2-40B4-BE49-F238E27FC236}">
                <a16:creationId xmlns:a16="http://schemas.microsoft.com/office/drawing/2014/main" id="{B17940FC-87FD-4A32-A243-064BB3F757A9}"/>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75" b="1">
                <a:solidFill>
                  <a:srgbClr val="1F2937"/>
                </a:solidFill>
                <a:latin typeface="Arial"/>
                <a:ea typeface="Arial"/>
                <a:cs typeface="Arial"/>
              </a:rPr>
              <a:t>A Direct Discriminator Successor Was the Best Literature Fit</a:t>
            </a:r>
            <a:endParaRPr sz="2100"/>
          </a:p>
        </p:txBody>
      </p:sp>
      <p:sp>
        <p:nvSpPr>
          <p:cNvPr id="5" name="Text 3">
            <a:extLst xmlns:a="http://schemas.openxmlformats.org/drawingml/2006/main">
              <a:ext uri="{FF2B5EF4-FFF2-40B4-BE49-F238E27FC236}">
                <a16:creationId xmlns:a16="http://schemas.microsoft.com/office/drawing/2014/main" id="{292556EE-53A4-4EE5-B725-48E2FF45ADA1}"/>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Three published paths had released assets and testable CUB claims</a:t>
            </a:r>
            <a:endParaRPr sz="1150"/>
          </a:p>
        </p:txBody>
      </p:sp>
      <p:sp>
        <p:nvSpPr>
          <p:cNvPr id="6" name="Shape 4">
            <a:extLst xmlns:a="http://schemas.openxmlformats.org/drawingml/2006/main">
              <a:ext uri="{FF2B5EF4-FFF2-40B4-BE49-F238E27FC236}">
                <a16:creationId xmlns:a16="http://schemas.microsoft.com/office/drawing/2014/main" id="{EE1C6AEA-F400-482A-8C22-74E93EF3E8E1}"/>
              </a:ext>
            </a:extLst>
          </p:cNvPr>
          <p:cNvSpPr>
            <a:spLocks xmlns:a="http://schemas.openxmlformats.org/drawingml/2006/main" noGrp="1"/>
          </p:cNvSpPr>
          <p:nvPr/>
        </p:nvSpPr>
        <p:spPr>
          <a:xfrm xmlns:a="http://schemas.openxmlformats.org/drawingml/2006/main">
            <a:off x="36576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40A6FFFA-C25D-4F23-9DDA-7579C5B30542}"/>
              </a:ext>
            </a:extLst>
          </p:cNvPr>
          <p:cNvSpPr>
            <a:spLocks xmlns:a="http://schemas.openxmlformats.org/drawingml/2006/main" noGrp="1"/>
          </p:cNvSpPr>
          <p:nvPr/>
        </p:nvSpPr>
        <p:spPr>
          <a:xfrm xmlns:a="http://schemas.openxmlformats.org/drawingml/2006/main">
            <a:off x="365760" y="1051560"/>
            <a:ext cx="411480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5E21CAE-E99E-4449-9483-ABFCB6C9837A}"/>
              </a:ext>
            </a:extLst>
          </p:cNvPr>
          <p:cNvSpPr>
            <a:spLocks xmlns:a="http://schemas.openxmlformats.org/drawingml/2006/main" noGrp="1"/>
          </p:cNvSpPr>
          <p:nvPr/>
        </p:nvSpPr>
        <p:spPr>
          <a:xfrm xmlns:a="http://schemas.openxmlformats.org/drawingml/2006/main">
            <a:off x="36576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PRIMARY · DM-GAN-MDD</a:t>
            </a:r>
            <a:endParaRPr sz="1250"/>
          </a:p>
        </p:txBody>
      </p:sp>
      <p:sp>
        <p:nvSpPr>
          <p:cNvPr id="9" name="Text 7">
            <a:extLst xmlns:a="http://schemas.openxmlformats.org/drawingml/2006/main">
              <a:ext uri="{FF2B5EF4-FFF2-40B4-BE49-F238E27FC236}">
                <a16:creationId xmlns:a16="http://schemas.microsoft.com/office/drawing/2014/main" id="{F219D6E4-CED7-414C-BEEA-1FE492CA9AE8}"/>
              </a:ext>
            </a:extLst>
          </p:cNvPr>
          <p:cNvSpPr>
            <a:spLocks xmlns:a="http://schemas.openxmlformats.org/drawingml/2006/main" noGrp="1"/>
          </p:cNvSpPr>
          <p:nvPr/>
        </p:nvSpPr>
        <p:spPr>
          <a:xfrm xmlns:a="http://schemas.openxmlformats.org/drawingml/2006/main">
            <a:off x="53035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300"/>
              </a:lnSpc>
              <a:buNone/>
            </a:pPr>
            <a:r>
              <a:rPr sz="1150" b="1">
                <a:solidFill>
                  <a:srgbClr val="0E7C7B"/>
                </a:solidFill>
                <a:latin typeface="Arial"/>
                <a:ea typeface="Arial"/>
                <a:cs typeface="Arial"/>
              </a:rPr>
              <a:t>• Replaces the training discriminator
• Keeps the DM-GAN generator family
• Official CUB checkpoint
• Paper: FID 15.76 · R 79.73%</a:t>
            </a:r>
            <a:endParaRPr sz="1150"/>
          </a:p>
        </p:txBody>
      </p:sp>
      <p:sp>
        <p:nvSpPr>
          <p:cNvPr id="10" name="Shape 8">
            <a:extLst xmlns:a="http://schemas.openxmlformats.org/drawingml/2006/main">
              <a:ext uri="{FF2B5EF4-FFF2-40B4-BE49-F238E27FC236}">
                <a16:creationId xmlns:a16="http://schemas.microsoft.com/office/drawing/2014/main" id="{C5B43479-84BF-450A-8CB1-E203678106B3}"/>
              </a:ext>
            </a:extLst>
          </p:cNvPr>
          <p:cNvSpPr>
            <a:spLocks xmlns:a="http://schemas.openxmlformats.org/drawingml/2006/main" noGrp="1"/>
          </p:cNvSpPr>
          <p:nvPr/>
        </p:nvSpPr>
        <p:spPr>
          <a:xfrm xmlns:a="http://schemas.openxmlformats.org/drawingml/2006/main">
            <a:off x="466344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0A67230-E38C-4078-B9C1-8232B31DF0B7}"/>
              </a:ext>
            </a:extLst>
          </p:cNvPr>
          <p:cNvSpPr>
            <a:spLocks xmlns:a="http://schemas.openxmlformats.org/drawingml/2006/main" noGrp="1"/>
          </p:cNvSpPr>
          <p:nvPr/>
        </p:nvSpPr>
        <p:spPr>
          <a:xfrm xmlns:a="http://schemas.openxmlformats.org/drawingml/2006/main">
            <a:off x="4663440" y="1051560"/>
            <a:ext cx="4114800" cy="384048"/>
          </a:xfrm>
          <a:prstGeom xmlns:a="http://schemas.openxmlformats.org/drawingml/2006/main" prst="roundRect">
            <a:avLst>
              <a:gd name="adj" fmla="val 14286"/>
            </a:avLst>
          </a:prstGeom>
          <a:solidFill xmlns:a="http://schemas.openxmlformats.org/drawingml/2006/main">
            <a:srgbClr val="C55A11"/>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93DBB63-AFBF-404D-B369-0B07A2371ADD}"/>
              </a:ext>
            </a:extLst>
          </p:cNvPr>
          <p:cNvSpPr>
            <a:spLocks xmlns:a="http://schemas.openxmlformats.org/drawingml/2006/main" noGrp="1"/>
          </p:cNvSpPr>
          <p:nvPr/>
        </p:nvSpPr>
        <p:spPr>
          <a:xfrm xmlns:a="http://schemas.openxmlformats.org/drawingml/2006/main">
            <a:off x="466344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SECONDARY CHECKS</a:t>
            </a:r>
            <a:endParaRPr sz="1250"/>
          </a:p>
        </p:txBody>
      </p:sp>
      <p:sp>
        <p:nvSpPr>
          <p:cNvPr id="13" name="Text 11">
            <a:extLst xmlns:a="http://schemas.openxmlformats.org/drawingml/2006/main">
              <a:ext uri="{FF2B5EF4-FFF2-40B4-BE49-F238E27FC236}">
                <a16:creationId xmlns:a16="http://schemas.microsoft.com/office/drawing/2014/main" id="{9A136CF3-5921-4AA1-8C00-40146DBD2329}"/>
              </a:ext>
            </a:extLst>
          </p:cNvPr>
          <p:cNvSpPr>
            <a:spLocks xmlns:a="http://schemas.openxmlformats.org/drawingml/2006/main" noGrp="1"/>
          </p:cNvSpPr>
          <p:nvPr/>
        </p:nvSpPr>
        <p:spPr>
          <a:xfrm xmlns:a="http://schemas.openxmlformats.org/drawingml/2006/main">
            <a:off x="482803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50">
                <a:solidFill>
                  <a:srgbClr val="1F2937"/>
                </a:solidFill>
                <a:latin typeface="Arial"/>
                <a:ea typeface="Arial"/>
                <a:cs typeface="Arial"/>
              </a:rPr>
              <a:t>DM-GAN+CL
Contrastive caption/image consistency
DAE-GAN
Aspect-aware generator</a:t>
            </a:r>
            <a:endParaRPr sz="1150"/>
          </a:p>
        </p:txBody>
      </p:sp>
      <p:sp>
        <p:nvSpPr>
          <p:cNvPr id="14" name="Shape 12">
            <a:extLst xmlns:a="http://schemas.openxmlformats.org/drawingml/2006/main">
              <a:ext uri="{FF2B5EF4-FFF2-40B4-BE49-F238E27FC236}">
                <a16:creationId xmlns:a16="http://schemas.microsoft.com/office/drawing/2014/main" id="{698F6D3F-65A2-4063-970C-672547457398}"/>
              </a:ext>
            </a:extLst>
          </p:cNvPr>
          <p:cNvSpPr>
            <a:spLocks xmlns:a="http://schemas.openxmlformats.org/drawingml/2006/main" noGrp="1"/>
          </p:cNvSpPr>
          <p:nvPr/>
        </p:nvSpPr>
        <p:spPr>
          <a:xfrm xmlns:a="http://schemas.openxmlformats.org/drawingml/2006/main">
            <a:off x="365760" y="3200400"/>
            <a:ext cx="8412480" cy="1051560"/>
          </a:xfrm>
          <a:prstGeom xmlns:a="http://schemas.openxmlformats.org/drawingml/2006/main" prst="roundRect">
            <a:avLst>
              <a:gd name="adj" fmla="val 5217"/>
            </a:avLst>
          </a:prstGeom>
          <a:solidFill xmlns:a="http://schemas.openxmlformats.org/drawingml/2006/main">
            <a:srgbClr val="E8EEF7"/>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3B7523DB-1162-4458-A8C5-9F39F60753E3}"/>
              </a:ext>
            </a:extLst>
          </p:cNvPr>
          <p:cNvSpPr>
            <a:spLocks xmlns:a="http://schemas.openxmlformats.org/drawingml/2006/main" noGrp="1"/>
          </p:cNvSpPr>
          <p:nvPr/>
        </p:nvSpPr>
        <p:spPr>
          <a:xfrm xmlns:a="http://schemas.openxmlformats.org/drawingml/2006/main">
            <a:off x="548640" y="3310128"/>
            <a:ext cx="80467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F3864"/>
                </a:solidFill>
                <a:latin typeface="Arial"/>
                <a:ea typeface="Arial"/>
                <a:cs typeface="Arial"/>
              </a:rPr>
              <a:t>SELECTION</a:t>
            </a:r>
            <a:endParaRPr sz="1250"/>
          </a:p>
        </p:txBody>
      </p:sp>
      <p:sp>
        <p:nvSpPr>
          <p:cNvPr id="16" name="Text 14">
            <a:extLst xmlns:a="http://schemas.openxmlformats.org/drawingml/2006/main">
              <a:ext uri="{FF2B5EF4-FFF2-40B4-BE49-F238E27FC236}">
                <a16:creationId xmlns:a16="http://schemas.microsoft.com/office/drawing/2014/main" id="{19B8858B-0D95-4C89-8B99-F82B974E1D2A}"/>
              </a:ext>
            </a:extLst>
          </p:cNvPr>
          <p:cNvSpPr>
            <a:spLocks xmlns:a="http://schemas.openxmlformats.org/drawingml/2006/main" noGrp="1"/>
          </p:cNvSpPr>
          <p:nvPr/>
        </p:nvSpPr>
        <p:spPr>
          <a:xfrm xmlns:a="http://schemas.openxmlformats.org/drawingml/2006/main">
            <a:off x="548640" y="3630168"/>
            <a:ext cx="8046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50">
                <a:solidFill>
                  <a:srgbClr val="1F2937"/>
                </a:solidFill>
                <a:latin typeface="Arial"/>
                <a:ea typeface="Arial"/>
                <a:cs typeface="Arial"/>
              </a:rPr>
              <a:t>MDD is the closest architectural successor and the cleanest released-checkpoint comparison.</a:t>
            </a:r>
            <a:endParaRPr sz="1150"/>
          </a:p>
        </p:txBody>
      </p:sp>
      <p:sp>
        <p:nvSpPr>
          <p:cNvPr id="17" name="Text 15">
            <a:extLst xmlns:a="http://schemas.openxmlformats.org/drawingml/2006/main">
              <a:ext uri="{FF2B5EF4-FFF2-40B4-BE49-F238E27FC236}">
                <a16:creationId xmlns:a16="http://schemas.microsoft.com/office/drawing/2014/main" id="{2EC6DB93-7D28-4417-98CD-8923EF138480}"/>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5 / 15</a:t>
            </a:r>
            <a:endParaRPr sz="900"/>
          </a:p>
        </p:txBody>
      </p:sp>
      <p:sp>
        <p:nvSpPr>
          <p:cNvPr id="18" name="Shape 16">
            <a:extLst xmlns:a="http://schemas.openxmlformats.org/drawingml/2006/main">
              <a:ext uri="{FF2B5EF4-FFF2-40B4-BE49-F238E27FC236}">
                <a16:creationId xmlns:a16="http://schemas.microsoft.com/office/drawing/2014/main" id="{84555E5B-078E-493D-AD28-7D2608621E18}"/>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55C9039F-C1CA-4D5F-AB9B-8D239443A79A}"/>
              </a:ext>
            </a:extLst>
          </p:cNvPr>
          <p:cNvSpPr>
            <a:spLocks xmlns:a="http://schemas.openxmlformats.org/drawingml/2006/main" noGrp="1"/>
          </p:cNvSpPr>
          <p:nvPr/>
        </p:nvSpPr>
        <p:spPr>
          <a:xfrm xmlns:a="http://schemas.openxmlformats.org/drawingml/2006/main">
            <a:off x="7955280" y="4864608"/>
            <a:ext cx="506437"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0363772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639511C-5B6F-4B5C-8C9E-237273EE5AE9}"/>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631E3D59-CFDC-42BD-9395-A4A599DCC861}"/>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05</a:t>
            </a:r>
            <a:endParaRPr sz="1700"/>
          </a:p>
        </p:txBody>
      </p:sp>
      <p:sp>
        <p:nvSpPr>
          <p:cNvPr id="4" name="Text 2">
            <a:extLst xmlns:a="http://schemas.openxmlformats.org/drawingml/2006/main">
              <a:ext uri="{FF2B5EF4-FFF2-40B4-BE49-F238E27FC236}">
                <a16:creationId xmlns:a16="http://schemas.microsoft.com/office/drawing/2014/main" id="{2276DBEF-B4E4-4A81-AC74-D4BB749F42E7}"/>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75" b="1">
                <a:solidFill>
                  <a:srgbClr val="1F2937"/>
                </a:solidFill>
                <a:latin typeface="Arial"/>
                <a:ea typeface="Arial"/>
                <a:cs typeface="Arial"/>
              </a:rPr>
              <a:t>MDD Separates Text-Linked Content From Image-Only Style</a:t>
            </a:r>
            <a:endParaRPr sz="2100"/>
          </a:p>
        </p:txBody>
      </p:sp>
      <p:sp>
        <p:nvSpPr>
          <p:cNvPr id="5" name="Text 3">
            <a:extLst xmlns:a="http://schemas.openxmlformats.org/drawingml/2006/main">
              <a:ext uri="{FF2B5EF4-FFF2-40B4-BE49-F238E27FC236}">
                <a16:creationId xmlns:a16="http://schemas.microsoft.com/office/drawing/2014/main" id="{4791F405-8E2B-491D-925D-174C016F9363}"/>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The discriminator changes during training; the inference interface does not</a:t>
            </a:r>
            <a:endParaRPr sz="1150"/>
          </a:p>
        </p:txBody>
      </p:sp>
      <p:sp>
        <p:nvSpPr>
          <p:cNvPr id="6" name="Shape 4">
            <a:extLst xmlns:a="http://schemas.openxmlformats.org/drawingml/2006/main">
              <a:ext uri="{FF2B5EF4-FFF2-40B4-BE49-F238E27FC236}">
                <a16:creationId xmlns:a16="http://schemas.microsoft.com/office/drawing/2014/main" id="{1D4114AC-47E0-4C37-95DE-023EDEC135E8}"/>
              </a:ext>
            </a:extLst>
          </p:cNvPr>
          <p:cNvSpPr>
            <a:spLocks xmlns:a="http://schemas.openxmlformats.org/drawingml/2006/main" noGrp="1"/>
          </p:cNvSpPr>
          <p:nvPr/>
        </p:nvSpPr>
        <p:spPr>
          <a:xfrm xmlns:a="http://schemas.openxmlformats.org/drawingml/2006/main">
            <a:off x="365760" y="1051560"/>
            <a:ext cx="4114800" cy="2651760"/>
          </a:xfrm>
          <a:prstGeom xmlns:a="http://schemas.openxmlformats.org/drawingml/2006/main" prst="roundRect">
            <a:avLst>
              <a:gd name="adj" fmla="val 206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FD8E62DA-4EF1-4261-ABE4-D07EA931288C}"/>
              </a:ext>
            </a:extLst>
          </p:cNvPr>
          <p:cNvSpPr>
            <a:spLocks xmlns:a="http://schemas.openxmlformats.org/drawingml/2006/main" noGrp="1"/>
          </p:cNvSpPr>
          <p:nvPr/>
        </p:nvSpPr>
        <p:spPr>
          <a:xfrm xmlns:a="http://schemas.openxmlformats.org/drawingml/2006/main">
            <a:off x="365760" y="1051560"/>
            <a:ext cx="4114800" cy="411480"/>
          </a:xfrm>
          <a:prstGeom xmlns:a="http://schemas.openxmlformats.org/drawingml/2006/main" prst="roundRect">
            <a:avLst>
              <a:gd name="adj" fmla="val 13333"/>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5986DF36-3424-4419-BE2F-9C3890A02AED}"/>
              </a:ext>
            </a:extLst>
          </p:cNvPr>
          <p:cNvSpPr>
            <a:spLocks xmlns:a="http://schemas.openxmlformats.org/drawingml/2006/main" noGrp="1"/>
          </p:cNvSpPr>
          <p:nvPr/>
        </p:nvSpPr>
        <p:spPr>
          <a:xfrm xmlns:a="http://schemas.openxmlformats.org/drawingml/2006/main">
            <a:off x="365760" y="1097280"/>
            <a:ext cx="41148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COMMON CONTENT</a:t>
            </a:r>
            <a:endParaRPr sz="1250"/>
          </a:p>
        </p:txBody>
      </p:sp>
      <p:sp>
        <p:nvSpPr>
          <p:cNvPr id="9" name="Text 7">
            <a:extLst xmlns:a="http://schemas.openxmlformats.org/drawingml/2006/main">
              <a:ext uri="{FF2B5EF4-FFF2-40B4-BE49-F238E27FC236}">
                <a16:creationId xmlns:a16="http://schemas.microsoft.com/office/drawing/2014/main" id="{974181A9-58A3-485E-B1F7-C4DF2002FAB2}"/>
              </a:ext>
            </a:extLst>
          </p:cNvPr>
          <p:cNvSpPr>
            <a:spLocks xmlns:a="http://schemas.openxmlformats.org/drawingml/2006/main" noGrp="1"/>
          </p:cNvSpPr>
          <p:nvPr/>
        </p:nvSpPr>
        <p:spPr>
          <a:xfrm xmlns:a="http://schemas.openxmlformats.org/drawingml/2006/main">
            <a:off x="566928" y="1600200"/>
            <a:ext cx="3712464" cy="2011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400"/>
              </a:lnSpc>
              <a:buNone/>
            </a:pPr>
            <a:r>
              <a:rPr sz="1200" b="1">
                <a:solidFill>
                  <a:srgbClr val="1F2937"/>
                </a:solidFill>
                <a:latin typeface="Arial"/>
                <a:ea typeface="Arial"/>
                <a:cs typeface="Arial"/>
              </a:rPr>
              <a:t>IMAGE + TEXT
→ early discriminator features
→ shared content representation
Stronger text–image correlation</a:t>
            </a:r>
            <a:endParaRPr sz="1200"/>
          </a:p>
        </p:txBody>
      </p:sp>
      <p:sp>
        <p:nvSpPr>
          <p:cNvPr id="10" name="Shape 8">
            <a:extLst xmlns:a="http://schemas.openxmlformats.org/drawingml/2006/main">
              <a:ext uri="{FF2B5EF4-FFF2-40B4-BE49-F238E27FC236}">
                <a16:creationId xmlns:a16="http://schemas.microsoft.com/office/drawing/2014/main" id="{4B42BC8D-DB7A-4F24-9079-0E8FA6B87209}"/>
              </a:ext>
            </a:extLst>
          </p:cNvPr>
          <p:cNvSpPr>
            <a:spLocks xmlns:a="http://schemas.openxmlformats.org/drawingml/2006/main" noGrp="1"/>
          </p:cNvSpPr>
          <p:nvPr/>
        </p:nvSpPr>
        <p:spPr>
          <a:xfrm xmlns:a="http://schemas.openxmlformats.org/drawingml/2006/main">
            <a:off x="4663440" y="1051560"/>
            <a:ext cx="4114800" cy="2651760"/>
          </a:xfrm>
          <a:prstGeom xmlns:a="http://schemas.openxmlformats.org/drawingml/2006/main" prst="roundRect">
            <a:avLst>
              <a:gd name="adj" fmla="val 206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0176C03E-0E56-45FE-8E6C-9AA2C5D1DE7E}"/>
              </a:ext>
            </a:extLst>
          </p:cNvPr>
          <p:cNvSpPr>
            <a:spLocks xmlns:a="http://schemas.openxmlformats.org/drawingml/2006/main" noGrp="1"/>
          </p:cNvSpPr>
          <p:nvPr/>
        </p:nvSpPr>
        <p:spPr>
          <a:xfrm xmlns:a="http://schemas.openxmlformats.org/drawingml/2006/main">
            <a:off x="4663440" y="1051560"/>
            <a:ext cx="4114800" cy="411480"/>
          </a:xfrm>
          <a:prstGeom xmlns:a="http://schemas.openxmlformats.org/drawingml/2006/main" prst="roundRect">
            <a:avLst>
              <a:gd name="adj" fmla="val 13333"/>
            </a:avLst>
          </a:prstGeom>
          <a:solidFill xmlns:a="http://schemas.openxmlformats.org/drawingml/2006/main">
            <a:srgbClr val="C55A11"/>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132B374-D2CF-414E-B63F-146716357448}"/>
              </a:ext>
            </a:extLst>
          </p:cNvPr>
          <p:cNvSpPr>
            <a:spLocks xmlns:a="http://schemas.openxmlformats.org/drawingml/2006/main" noGrp="1"/>
          </p:cNvSpPr>
          <p:nvPr/>
        </p:nvSpPr>
        <p:spPr>
          <a:xfrm xmlns:a="http://schemas.openxmlformats.org/drawingml/2006/main">
            <a:off x="4663440" y="1097280"/>
            <a:ext cx="41148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IMAGE-ONLY STYLE</a:t>
            </a:r>
            <a:endParaRPr sz="1250"/>
          </a:p>
        </p:txBody>
      </p:sp>
      <p:sp>
        <p:nvSpPr>
          <p:cNvPr id="13" name="Text 11">
            <a:extLst xmlns:a="http://schemas.openxmlformats.org/drawingml/2006/main">
              <a:ext uri="{FF2B5EF4-FFF2-40B4-BE49-F238E27FC236}">
                <a16:creationId xmlns:a16="http://schemas.microsoft.com/office/drawing/2014/main" id="{1C5CFB3A-F3E0-485B-9781-7CA15F7AB928}"/>
              </a:ext>
            </a:extLst>
          </p:cNvPr>
          <p:cNvSpPr>
            <a:spLocks xmlns:a="http://schemas.openxmlformats.org/drawingml/2006/main" noGrp="1"/>
          </p:cNvSpPr>
          <p:nvPr/>
        </p:nvSpPr>
        <p:spPr>
          <a:xfrm xmlns:a="http://schemas.openxmlformats.org/drawingml/2006/main">
            <a:off x="4864608" y="1600200"/>
            <a:ext cx="3712464" cy="2011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400"/>
              </a:lnSpc>
              <a:buNone/>
            </a:pPr>
            <a:r>
              <a:rPr sz="1200" b="1">
                <a:solidFill>
                  <a:srgbClr val="1F2937"/>
                </a:solidFill>
                <a:latin typeface="Arial"/>
                <a:ea typeface="Arial"/>
                <a:cs typeface="Arial"/>
              </a:rPr>
              <a:t>Early image features
→ modality-specific representation
Realism and appearance signal</a:t>
            </a:r>
            <a:endParaRPr sz="1200"/>
          </a:p>
        </p:txBody>
      </p:sp>
      <p:sp>
        <p:nvSpPr>
          <p:cNvPr id="14" name="Shape 12">
            <a:extLst xmlns:a="http://schemas.openxmlformats.org/drawingml/2006/main">
              <a:ext uri="{FF2B5EF4-FFF2-40B4-BE49-F238E27FC236}">
                <a16:creationId xmlns:a16="http://schemas.microsoft.com/office/drawing/2014/main" id="{ECDE9A43-8C94-4036-885E-32A1C557CAEE}"/>
              </a:ext>
            </a:extLst>
          </p:cNvPr>
          <p:cNvSpPr>
            <a:spLocks xmlns:a="http://schemas.openxmlformats.org/drawingml/2006/main" noGrp="1"/>
          </p:cNvSpPr>
          <p:nvPr/>
        </p:nvSpPr>
        <p:spPr>
          <a:xfrm xmlns:a="http://schemas.openxmlformats.org/drawingml/2006/main">
            <a:off x="365760" y="3886200"/>
            <a:ext cx="8412480" cy="685800"/>
          </a:xfrm>
          <a:prstGeom xmlns:a="http://schemas.openxmlformats.org/drawingml/2006/main" prst="roundRect">
            <a:avLst>
              <a:gd name="adj" fmla="val 8000"/>
            </a:avLst>
          </a:prstGeom>
          <a:solidFill xmlns:a="http://schemas.openxmlformats.org/drawingml/2006/main">
            <a:srgbClr val="E8EEF7"/>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C7A6E72-5876-425C-8BCA-DA6ED02BD201}"/>
              </a:ext>
            </a:extLst>
          </p:cNvPr>
          <p:cNvSpPr>
            <a:spLocks xmlns:a="http://schemas.openxmlformats.org/drawingml/2006/main" noGrp="1"/>
          </p:cNvSpPr>
          <p:nvPr/>
        </p:nvSpPr>
        <p:spPr>
          <a:xfrm xmlns:a="http://schemas.openxmlformats.org/drawingml/2006/main">
            <a:off x="548640" y="3931920"/>
            <a:ext cx="8046720"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F3864"/>
                </a:solidFill>
                <a:latin typeface="Arial"/>
                <a:ea typeface="Arial"/>
                <a:cs typeface="Arial"/>
              </a:rPr>
              <a:t>COMBINED SIGNAL → trains the original DM-GAN generator more effectively.
Inference remains: caption + z → DM-GAN-style generator outputs.</a:t>
            </a:r>
            <a:endParaRPr sz="1250"/>
          </a:p>
        </p:txBody>
      </p:sp>
      <p:sp>
        <p:nvSpPr>
          <p:cNvPr id="16" name="Text 14">
            <a:extLst xmlns:a="http://schemas.openxmlformats.org/drawingml/2006/main">
              <a:ext uri="{FF2B5EF4-FFF2-40B4-BE49-F238E27FC236}">
                <a16:creationId xmlns:a16="http://schemas.microsoft.com/office/drawing/2014/main" id="{31B54E14-8014-4E02-B347-67BDB21F6E56}"/>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6 / 15</a:t>
            </a:r>
            <a:endParaRPr sz="900"/>
          </a:p>
        </p:txBody>
      </p:sp>
      <p:sp>
        <p:nvSpPr>
          <p:cNvPr id="17" name="Shape 15">
            <a:extLst xmlns:a="http://schemas.openxmlformats.org/drawingml/2006/main">
              <a:ext uri="{FF2B5EF4-FFF2-40B4-BE49-F238E27FC236}">
                <a16:creationId xmlns:a16="http://schemas.microsoft.com/office/drawing/2014/main" id="{B71834C7-C7CD-40C8-87AA-37DC85217288}"/>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7A3F5AA0-0A47-4CB6-B45B-6F8ABB5CFA0B}"/>
              </a:ext>
            </a:extLst>
          </p:cNvPr>
          <p:cNvSpPr>
            <a:spLocks xmlns:a="http://schemas.openxmlformats.org/drawingml/2006/main" noGrp="1"/>
          </p:cNvSpPr>
          <p:nvPr/>
        </p:nvSpPr>
        <p:spPr>
          <a:xfrm xmlns:a="http://schemas.openxmlformats.org/drawingml/2006/main">
            <a:off x="7955280" y="4864608"/>
            <a:ext cx="189914"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929667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417A1D-6FAB-4A41-A109-02A1F447908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880C3012-33CB-48EF-A0E0-F7A92D79FCE4}"/>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06</a:t>
            </a:r>
            <a:endParaRPr sz="1700"/>
          </a:p>
        </p:txBody>
      </p:sp>
      <p:sp>
        <p:nvSpPr>
          <p:cNvPr id="4" name="Text 2">
            <a:extLst xmlns:a="http://schemas.openxmlformats.org/drawingml/2006/main">
              <a:ext uri="{FF2B5EF4-FFF2-40B4-BE49-F238E27FC236}">
                <a16:creationId xmlns:a16="http://schemas.microsoft.com/office/drawing/2014/main" id="{46CECB0B-C8E2-45AA-A05C-05259BA80FDD}"/>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75" b="1">
                <a:solidFill>
                  <a:srgbClr val="1F2937"/>
                </a:solidFill>
                <a:latin typeface="Arial"/>
                <a:ea typeface="Arial"/>
                <a:cs typeface="Arial"/>
              </a:rPr>
              <a:t>One Paired Evaluator Keeps the Checkpoint Test Auditable</a:t>
            </a:r>
            <a:endParaRPr sz="2100"/>
          </a:p>
        </p:txBody>
      </p:sp>
      <p:sp>
        <p:nvSpPr>
          <p:cNvPr id="5" name="Text 3">
            <a:extLst xmlns:a="http://schemas.openxmlformats.org/drawingml/2006/main">
              <a:ext uri="{FF2B5EF4-FFF2-40B4-BE49-F238E27FC236}">
                <a16:creationId xmlns:a16="http://schemas.microsoft.com/office/drawing/2014/main" id="{10427EF0-5930-49A0-AB62-0709A314E321}"/>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Both generators receive the same test cases and the same judges</a:t>
            </a:r>
            <a:endParaRPr sz="1150"/>
          </a:p>
        </p:txBody>
      </p:sp>
      <p:sp>
        <p:nvSpPr>
          <p:cNvPr id="6" name="Shape 4">
            <a:extLst xmlns:a="http://schemas.openxmlformats.org/drawingml/2006/main">
              <a:ext uri="{FF2B5EF4-FFF2-40B4-BE49-F238E27FC236}">
                <a16:creationId xmlns:a16="http://schemas.microsoft.com/office/drawing/2014/main" id="{A838829E-6CF1-41D9-A239-D6C9B25B6353}"/>
              </a:ext>
            </a:extLst>
          </p:cNvPr>
          <p:cNvSpPr>
            <a:spLocks xmlns:a="http://schemas.openxmlformats.org/drawingml/2006/main" noGrp="1"/>
          </p:cNvSpPr>
          <p:nvPr/>
        </p:nvSpPr>
        <p:spPr>
          <a:xfrm xmlns:a="http://schemas.openxmlformats.org/drawingml/2006/main">
            <a:off x="365760" y="1051560"/>
            <a:ext cx="3108960" cy="2103120"/>
          </a:xfrm>
          <a:prstGeom xmlns:a="http://schemas.openxmlformats.org/drawingml/2006/main" prst="roundRect">
            <a:avLst>
              <a:gd name="adj" fmla="val 260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B40910E1-246B-41C5-9719-B69C3ADB3878}"/>
              </a:ext>
            </a:extLst>
          </p:cNvPr>
          <p:cNvSpPr>
            <a:spLocks xmlns:a="http://schemas.openxmlformats.org/drawingml/2006/main" noGrp="1"/>
          </p:cNvSpPr>
          <p:nvPr/>
        </p:nvSpPr>
        <p:spPr>
          <a:xfrm xmlns:a="http://schemas.openxmlformats.org/drawingml/2006/main">
            <a:off x="365760" y="1051560"/>
            <a:ext cx="310896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D0B7FE7A-F3EE-4DA7-B774-E867623C9B82}"/>
              </a:ext>
            </a:extLst>
          </p:cNvPr>
          <p:cNvSpPr>
            <a:spLocks xmlns:a="http://schemas.openxmlformats.org/drawingml/2006/main" noGrp="1"/>
          </p:cNvSpPr>
          <p:nvPr/>
        </p:nvSpPr>
        <p:spPr>
          <a:xfrm xmlns:a="http://schemas.openxmlformats.org/drawingml/2006/main">
            <a:off x="365760" y="1097280"/>
            <a:ext cx="310896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A · DM-GAN</a:t>
            </a:r>
            <a:endParaRPr sz="1250"/>
          </a:p>
        </p:txBody>
      </p:sp>
      <p:sp>
        <p:nvSpPr>
          <p:cNvPr id="9" name="Text 7">
            <a:extLst xmlns:a="http://schemas.openxmlformats.org/drawingml/2006/main">
              <a:ext uri="{FF2B5EF4-FFF2-40B4-BE49-F238E27FC236}">
                <a16:creationId xmlns:a16="http://schemas.microsoft.com/office/drawing/2014/main" id="{CC1F2DB2-8C77-4C53-9C1B-729E738B5232}"/>
              </a:ext>
            </a:extLst>
          </p:cNvPr>
          <p:cNvSpPr>
            <a:spLocks xmlns:a="http://schemas.openxmlformats.org/drawingml/2006/main" noGrp="1"/>
          </p:cNvSpPr>
          <p:nvPr/>
        </p:nvSpPr>
        <p:spPr>
          <a:xfrm xmlns:a="http://schemas.openxmlformats.org/drawingml/2006/main">
            <a:off x="530352" y="1536192"/>
            <a:ext cx="2779776" cy="15087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200"/>
              </a:lnSpc>
              <a:buNone/>
            </a:pPr>
            <a:r>
              <a:rPr sz="1200" b="1">
                <a:solidFill>
                  <a:srgbClr val="1F3864"/>
                </a:solidFill>
                <a:latin typeface="Arial"/>
                <a:ea typeface="Arial"/>
                <a:cs typeface="Arial"/>
              </a:rPr>
              <a:t>Released generator
Native or matched-mean CA as stated
Strict checkpoint loading</a:t>
            </a:r>
            <a:endParaRPr sz="1200"/>
          </a:p>
        </p:txBody>
      </p:sp>
      <p:sp>
        <p:nvSpPr>
          <p:cNvPr id="10" name="Shape 8">
            <a:extLst xmlns:a="http://schemas.openxmlformats.org/drawingml/2006/main">
              <a:ext uri="{FF2B5EF4-FFF2-40B4-BE49-F238E27FC236}">
                <a16:creationId xmlns:a16="http://schemas.microsoft.com/office/drawing/2014/main" id="{9CB42AC3-6EBF-4C0F-8414-9DCF746DE06D}"/>
              </a:ext>
            </a:extLst>
          </p:cNvPr>
          <p:cNvSpPr>
            <a:spLocks xmlns:a="http://schemas.openxmlformats.org/drawingml/2006/main" noGrp="1"/>
          </p:cNvSpPr>
          <p:nvPr/>
        </p:nvSpPr>
        <p:spPr>
          <a:xfrm xmlns:a="http://schemas.openxmlformats.org/drawingml/2006/main">
            <a:off x="3657600" y="1051560"/>
            <a:ext cx="5120640" cy="2103120"/>
          </a:xfrm>
          <a:prstGeom xmlns:a="http://schemas.openxmlformats.org/drawingml/2006/main" prst="roundRect">
            <a:avLst>
              <a:gd name="adj" fmla="val 260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FB9FD1B-42FD-4ED5-A04C-4C738DE9FACA}"/>
              </a:ext>
            </a:extLst>
          </p:cNvPr>
          <p:cNvSpPr>
            <a:spLocks xmlns:a="http://schemas.openxmlformats.org/drawingml/2006/main" noGrp="1"/>
          </p:cNvSpPr>
          <p:nvPr/>
        </p:nvSpPr>
        <p:spPr>
          <a:xfrm xmlns:a="http://schemas.openxmlformats.org/drawingml/2006/main">
            <a:off x="3657600" y="1051560"/>
            <a:ext cx="5120640" cy="384048"/>
          </a:xfrm>
          <a:prstGeom xmlns:a="http://schemas.openxmlformats.org/drawingml/2006/main" prst="roundRect">
            <a:avLst>
              <a:gd name="adj" fmla="val 14286"/>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83220C33-3268-4FF3-99E4-E96739FC104E}"/>
              </a:ext>
            </a:extLst>
          </p:cNvPr>
          <p:cNvSpPr>
            <a:spLocks xmlns:a="http://schemas.openxmlformats.org/drawingml/2006/main" noGrp="1"/>
          </p:cNvSpPr>
          <p:nvPr/>
        </p:nvSpPr>
        <p:spPr>
          <a:xfrm xmlns:a="http://schemas.openxmlformats.org/drawingml/2006/main">
            <a:off x="3657600" y="1097280"/>
            <a:ext cx="51206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SHARED PROTOCOL</a:t>
            </a:r>
            <a:endParaRPr sz="1250"/>
          </a:p>
        </p:txBody>
      </p:sp>
      <p:sp>
        <p:nvSpPr>
          <p:cNvPr id="13" name="Text 11">
            <a:extLst xmlns:a="http://schemas.openxmlformats.org/drawingml/2006/main">
              <a:ext uri="{FF2B5EF4-FFF2-40B4-BE49-F238E27FC236}">
                <a16:creationId xmlns:a16="http://schemas.microsoft.com/office/drawing/2014/main" id="{155F9E7F-F05A-45F4-95F8-DD238CD24D87}"/>
              </a:ext>
            </a:extLst>
          </p:cNvPr>
          <p:cNvSpPr>
            <a:spLocks xmlns:a="http://schemas.openxmlformats.org/drawingml/2006/main" noGrp="1"/>
          </p:cNvSpPr>
          <p:nvPr/>
        </p:nvSpPr>
        <p:spPr>
          <a:xfrm xmlns:a="http://schemas.openxmlformats.org/drawingml/2006/main">
            <a:off x="3822192" y="1536192"/>
            <a:ext cx="4791456" cy="15087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300"/>
              </a:lnSpc>
              <a:buNone/>
            </a:pPr>
            <a:r>
              <a:rPr sz="1100" b="1">
                <a:solidFill>
                  <a:srgbClr val="C55A11"/>
                </a:solidFill>
                <a:latin typeface="Arial"/>
                <a:ea typeface="Arial"/>
                <a:cs typeface="Arial"/>
              </a:rPr>
              <a:t>Caption index · latent z · 99 negatives
Original frozen DAMSM evaluator
PyTorch Inception + bird_val statistics
Corrected batch-major word mask</a:t>
            </a:r>
            <a:endParaRPr sz="1100"/>
          </a:p>
        </p:txBody>
      </p:sp>
      <p:sp>
        <p:nvSpPr>
          <p:cNvPr id="14" name="Shape 12">
            <a:extLst xmlns:a="http://schemas.openxmlformats.org/drawingml/2006/main">
              <a:ext uri="{FF2B5EF4-FFF2-40B4-BE49-F238E27FC236}">
                <a16:creationId xmlns:a16="http://schemas.microsoft.com/office/drawing/2014/main" id="{CC890284-C1AF-4979-A49C-452AA809E4C8}"/>
              </a:ext>
            </a:extLst>
          </p:cNvPr>
          <p:cNvSpPr>
            <a:spLocks xmlns:a="http://schemas.openxmlformats.org/drawingml/2006/main" noGrp="1"/>
          </p:cNvSpPr>
          <p:nvPr/>
        </p:nvSpPr>
        <p:spPr>
          <a:xfrm xmlns:a="http://schemas.openxmlformats.org/drawingml/2006/main">
            <a:off x="365760" y="3337560"/>
            <a:ext cx="5120640" cy="914400"/>
          </a:xfrm>
          <a:prstGeom xmlns:a="http://schemas.openxmlformats.org/drawingml/2006/main" prst="roundRect">
            <a:avLst>
              <a:gd name="adj" fmla="val 6000"/>
            </a:avLst>
          </a:prstGeom>
          <a:solidFill xmlns:a="http://schemas.openxmlformats.org/drawingml/2006/main">
            <a:srgbClr val="E8EEF7"/>
          </a:solidFill>
          <a:ln xmlns:a="http://schemas.openxmlformats.org/drawingml/2006/main" w="12700">
            <a:solidFill>
              <a:srgbClr val="0E7C7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F5320E88-2104-4B95-8441-13CB06DAC331}"/>
              </a:ext>
            </a:extLst>
          </p:cNvPr>
          <p:cNvSpPr>
            <a:spLocks xmlns:a="http://schemas.openxmlformats.org/drawingml/2006/main" noGrp="1"/>
          </p:cNvSpPr>
          <p:nvPr/>
        </p:nvSpPr>
        <p:spPr>
          <a:xfrm xmlns:a="http://schemas.openxmlformats.org/drawingml/2006/main">
            <a:off x="502920" y="3410712"/>
            <a:ext cx="14630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F3864"/>
                </a:solidFill>
                <a:latin typeface="Arial"/>
                <a:ea typeface="Arial"/>
                <a:cs typeface="Arial"/>
              </a:rPr>
              <a:t>B · DM-GAN-MDD</a:t>
            </a:r>
            <a:endParaRPr sz="1200"/>
          </a:p>
        </p:txBody>
      </p:sp>
      <p:sp>
        <p:nvSpPr>
          <p:cNvPr id="16" name="Text 14">
            <a:extLst xmlns:a="http://schemas.openxmlformats.org/drawingml/2006/main">
              <a:ext uri="{FF2B5EF4-FFF2-40B4-BE49-F238E27FC236}">
                <a16:creationId xmlns:a16="http://schemas.microsoft.com/office/drawing/2014/main" id="{2B01C8CC-A496-4985-A3C2-8D9A806D4322}"/>
              </a:ext>
            </a:extLst>
          </p:cNvPr>
          <p:cNvSpPr>
            <a:spLocks xmlns:a="http://schemas.openxmlformats.org/drawingml/2006/main" noGrp="1"/>
          </p:cNvSpPr>
          <p:nvPr/>
        </p:nvSpPr>
        <p:spPr>
          <a:xfrm xmlns:a="http://schemas.openxmlformats.org/drawingml/2006/main">
            <a:off x="502920" y="3675888"/>
            <a:ext cx="484632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050">
                <a:solidFill>
                  <a:srgbClr val="1F2937"/>
                </a:solidFill>
                <a:latin typeface="Arial"/>
                <a:ea typeface="Arial"/>
                <a:cs typeface="Arial"/>
              </a:rPr>
              <a:t>Released generator · strict state load
Same 30,000 paired cases and judges</a:t>
            </a:r>
            <a:endParaRPr sz="1050"/>
          </a:p>
        </p:txBody>
      </p:sp>
      <p:sp>
        <p:nvSpPr>
          <p:cNvPr id="17" name="Shape 15">
            <a:extLst xmlns:a="http://schemas.openxmlformats.org/drawingml/2006/main">
              <a:ext uri="{FF2B5EF4-FFF2-40B4-BE49-F238E27FC236}">
                <a16:creationId xmlns:a16="http://schemas.microsoft.com/office/drawing/2014/main" id="{4CBC7606-5E03-4C13-9CBE-8C0A220C3D53}"/>
              </a:ext>
            </a:extLst>
          </p:cNvPr>
          <p:cNvSpPr>
            <a:spLocks xmlns:a="http://schemas.openxmlformats.org/drawingml/2006/main" noGrp="1"/>
          </p:cNvSpPr>
          <p:nvPr/>
        </p:nvSpPr>
        <p:spPr>
          <a:xfrm xmlns:a="http://schemas.openxmlformats.org/drawingml/2006/main">
            <a:off x="5669280" y="3337560"/>
            <a:ext cx="3108960" cy="914400"/>
          </a:xfrm>
          <a:prstGeom xmlns:a="http://schemas.openxmlformats.org/drawingml/2006/main" prst="roundRect">
            <a:avLst>
              <a:gd name="adj" fmla="val 6000"/>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C168151-475E-4BAE-B8B7-3CEAF14E6DE9}"/>
              </a:ext>
            </a:extLst>
          </p:cNvPr>
          <p:cNvSpPr>
            <a:spLocks xmlns:a="http://schemas.openxmlformats.org/drawingml/2006/main" noGrp="1"/>
          </p:cNvSpPr>
          <p:nvPr/>
        </p:nvSpPr>
        <p:spPr>
          <a:xfrm xmlns:a="http://schemas.openxmlformats.org/drawingml/2006/main">
            <a:off x="5833872" y="3429000"/>
            <a:ext cx="2779776"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00" b="1">
                <a:solidFill>
                  <a:srgbClr val="FFFFFF"/>
                </a:solidFill>
                <a:latin typeface="Arial"/>
                <a:ea typeface="Arial"/>
                <a:cs typeface="Arial"/>
              </a:rPr>
              <a:t>Every delta is MDD − DM-GAN under the stated CA policy; 2,933 image clusters.</a:t>
            </a:r>
            <a:endParaRPr sz="1100"/>
          </a:p>
        </p:txBody>
      </p:sp>
      <p:sp>
        <p:nvSpPr>
          <p:cNvPr id="20" name="Text 18">
            <a:extLst xmlns:a="http://schemas.openxmlformats.org/drawingml/2006/main">
              <a:ext uri="{FF2B5EF4-FFF2-40B4-BE49-F238E27FC236}">
                <a16:creationId xmlns:a16="http://schemas.microsoft.com/office/drawing/2014/main" id="{8A8A924B-940B-446F-A61E-6E5DF2C31C7B}"/>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7 / 15</a:t>
            </a:r>
            <a:endParaRPr sz="900"/>
          </a:p>
        </p:txBody>
      </p:sp>
      <p:sp>
        <p:nvSpPr>
          <p:cNvPr id="21" name="Shape 19">
            <a:extLst xmlns:a="http://schemas.openxmlformats.org/drawingml/2006/main">
              <a:ext uri="{FF2B5EF4-FFF2-40B4-BE49-F238E27FC236}">
                <a16:creationId xmlns:a16="http://schemas.microsoft.com/office/drawing/2014/main" id="{330F4208-A699-4B9E-8419-2220300566B9}"/>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A1315EB0-AC15-477B-A7DA-7B44B53CDDF3}"/>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0862583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417A1D-6FAB-4A41-A109-02A1F447908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880C3012-33CB-48EF-A0E0-F7A92D79FCE4}"/>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07</a:t>
            </a:r>
            <a:endParaRPr sz="1700"/>
          </a:p>
        </p:txBody>
      </p:sp>
      <p:sp>
        <p:nvSpPr>
          <p:cNvPr id="4" name="Text 2">
            <a:extLst xmlns:a="http://schemas.openxmlformats.org/drawingml/2006/main">
              <a:ext uri="{FF2B5EF4-FFF2-40B4-BE49-F238E27FC236}">
                <a16:creationId xmlns:a16="http://schemas.microsoft.com/office/drawing/2014/main" id="{46CECB0B-C8E2-45AA-A05C-05259BA80FDD}"/>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75" b="1">
                <a:solidFill>
                  <a:srgbClr val="1F2937"/>
                </a:solidFill>
                <a:latin typeface="Arial"/>
                <a:ea typeface="Arial"/>
                <a:cs typeface="Arial"/>
              </a:rPr>
              <a:t>Two CA Protocols Answer Two Different Questions</a:t>
            </a:r>
            <a:endParaRPr sz="2100"/>
          </a:p>
        </p:txBody>
      </p:sp>
      <p:sp>
        <p:nvSpPr>
          <p:cNvPr id="5" name="Text 3">
            <a:extLst xmlns:a="http://schemas.openxmlformats.org/drawingml/2006/main">
              <a:ext uri="{FF2B5EF4-FFF2-40B4-BE49-F238E27FC236}">
                <a16:creationId xmlns:a16="http://schemas.microsoft.com/office/drawing/2014/main" id="{10427EF0-5930-49A0-AB62-0709A314E321}"/>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Conditioning augmentation is the key inference-policy difference</a:t>
            </a:r>
            <a:endParaRPr sz="1150"/>
          </a:p>
        </p:txBody>
      </p:sp>
      <p:sp>
        <p:nvSpPr>
          <p:cNvPr id="6" name="Shape 4">
            <a:extLst xmlns:a="http://schemas.openxmlformats.org/drawingml/2006/main">
              <a:ext uri="{FF2B5EF4-FFF2-40B4-BE49-F238E27FC236}">
                <a16:creationId xmlns:a16="http://schemas.microsoft.com/office/drawing/2014/main" id="{A838829E-6CF1-41D9-A239-D6C9B25B6353}"/>
              </a:ext>
            </a:extLst>
          </p:cNvPr>
          <p:cNvSpPr>
            <a:spLocks xmlns:a="http://schemas.openxmlformats.org/drawingml/2006/main" noGrp="1"/>
          </p:cNvSpPr>
          <p:nvPr/>
        </p:nvSpPr>
        <p:spPr>
          <a:xfrm xmlns:a="http://schemas.openxmlformats.org/drawingml/2006/main">
            <a:off x="365760" y="1051560"/>
            <a:ext cx="3108960" cy="2103120"/>
          </a:xfrm>
          <a:prstGeom xmlns:a="http://schemas.openxmlformats.org/drawingml/2006/main" prst="roundRect">
            <a:avLst>
              <a:gd name="adj" fmla="val 260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B40910E1-246B-41C5-9719-B69C3ADB3878}"/>
              </a:ext>
            </a:extLst>
          </p:cNvPr>
          <p:cNvSpPr>
            <a:spLocks xmlns:a="http://schemas.openxmlformats.org/drawingml/2006/main" noGrp="1"/>
          </p:cNvSpPr>
          <p:nvPr/>
        </p:nvSpPr>
        <p:spPr>
          <a:xfrm xmlns:a="http://schemas.openxmlformats.org/drawingml/2006/main">
            <a:off x="365760" y="1051560"/>
            <a:ext cx="310896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D0B7FE7A-F3EE-4DA7-B774-E867623C9B82}"/>
              </a:ext>
            </a:extLst>
          </p:cNvPr>
          <p:cNvSpPr>
            <a:spLocks xmlns:a="http://schemas.openxmlformats.org/drawingml/2006/main" noGrp="1"/>
          </p:cNvSpPr>
          <p:nvPr/>
        </p:nvSpPr>
        <p:spPr>
          <a:xfrm xmlns:a="http://schemas.openxmlformats.org/drawingml/2006/main">
            <a:off x="365760" y="1097280"/>
            <a:ext cx="310896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NATIVE BEHAVIOR</a:t>
            </a:r>
            <a:endParaRPr sz="1250"/>
          </a:p>
        </p:txBody>
      </p:sp>
      <p:sp>
        <p:nvSpPr>
          <p:cNvPr id="9" name="Text 7">
            <a:extLst xmlns:a="http://schemas.openxmlformats.org/drawingml/2006/main">
              <a:ext uri="{FF2B5EF4-FFF2-40B4-BE49-F238E27FC236}">
                <a16:creationId xmlns:a16="http://schemas.microsoft.com/office/drawing/2014/main" id="{CC1F2DB2-8C77-4C53-9C1B-729E738B5232}"/>
              </a:ext>
            </a:extLst>
          </p:cNvPr>
          <p:cNvSpPr>
            <a:spLocks xmlns:a="http://schemas.openxmlformats.org/drawingml/2006/main" noGrp="1"/>
          </p:cNvSpPr>
          <p:nvPr/>
        </p:nvSpPr>
        <p:spPr>
          <a:xfrm xmlns:a="http://schemas.openxmlformats.org/drawingml/2006/main">
            <a:off x="530352" y="1536192"/>
            <a:ext cx="2779776" cy="15087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200"/>
              </a:lnSpc>
              <a:buNone/>
            </a:pPr>
            <a:r>
              <a:rPr sz="1200" b="1">
                <a:solidFill>
                  <a:srgbClr val="1F3864"/>
                </a:solidFill>
                <a:latin typeface="Arial"/>
                <a:ea typeface="Arial"/>
                <a:cs typeface="Arial"/>
              </a:rPr>
              <a:t>DM-GAN: sample c ~ N(μ, σ)
MDD: use c = μ
What happens when each release runs as published?</a:t>
            </a:r>
            <a:endParaRPr sz="1200"/>
          </a:p>
        </p:txBody>
      </p:sp>
      <p:sp>
        <p:nvSpPr>
          <p:cNvPr id="10" name="Shape 8">
            <a:extLst xmlns:a="http://schemas.openxmlformats.org/drawingml/2006/main">
              <a:ext uri="{FF2B5EF4-FFF2-40B4-BE49-F238E27FC236}">
                <a16:creationId xmlns:a16="http://schemas.microsoft.com/office/drawing/2014/main" id="{9CB42AC3-6EBF-4C0F-8414-9DCF746DE06D}"/>
              </a:ext>
            </a:extLst>
          </p:cNvPr>
          <p:cNvSpPr>
            <a:spLocks xmlns:a="http://schemas.openxmlformats.org/drawingml/2006/main" noGrp="1"/>
          </p:cNvSpPr>
          <p:nvPr/>
        </p:nvSpPr>
        <p:spPr>
          <a:xfrm xmlns:a="http://schemas.openxmlformats.org/drawingml/2006/main">
            <a:off x="3657600" y="1051560"/>
            <a:ext cx="5120640" cy="2103120"/>
          </a:xfrm>
          <a:prstGeom xmlns:a="http://schemas.openxmlformats.org/drawingml/2006/main" prst="roundRect">
            <a:avLst>
              <a:gd name="adj" fmla="val 260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FB9FD1B-42FD-4ED5-A04C-4C738DE9FACA}"/>
              </a:ext>
            </a:extLst>
          </p:cNvPr>
          <p:cNvSpPr>
            <a:spLocks xmlns:a="http://schemas.openxmlformats.org/drawingml/2006/main" noGrp="1"/>
          </p:cNvSpPr>
          <p:nvPr/>
        </p:nvSpPr>
        <p:spPr>
          <a:xfrm xmlns:a="http://schemas.openxmlformats.org/drawingml/2006/main">
            <a:off x="3657600" y="1051560"/>
            <a:ext cx="5120640" cy="384048"/>
          </a:xfrm>
          <a:prstGeom xmlns:a="http://schemas.openxmlformats.org/drawingml/2006/main" prst="roundRect">
            <a:avLst>
              <a:gd name="adj" fmla="val 14286"/>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83220C33-3268-4FF3-99E4-E96739FC104E}"/>
              </a:ext>
            </a:extLst>
          </p:cNvPr>
          <p:cNvSpPr>
            <a:spLocks xmlns:a="http://schemas.openxmlformats.org/drawingml/2006/main" noGrp="1"/>
          </p:cNvSpPr>
          <p:nvPr/>
        </p:nvSpPr>
        <p:spPr>
          <a:xfrm xmlns:a="http://schemas.openxmlformats.org/drawingml/2006/main">
            <a:off x="3657600" y="1097280"/>
            <a:ext cx="51206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MATCHED MEAN</a:t>
            </a:r>
            <a:endParaRPr sz="1250"/>
          </a:p>
        </p:txBody>
      </p:sp>
      <p:sp>
        <p:nvSpPr>
          <p:cNvPr id="13" name="Text 11">
            <a:extLst xmlns:a="http://schemas.openxmlformats.org/drawingml/2006/main">
              <a:ext uri="{FF2B5EF4-FFF2-40B4-BE49-F238E27FC236}">
                <a16:creationId xmlns:a16="http://schemas.microsoft.com/office/drawing/2014/main" id="{155F9E7F-F05A-45F4-95F8-DD238CD24D87}"/>
              </a:ext>
            </a:extLst>
          </p:cNvPr>
          <p:cNvSpPr>
            <a:spLocks xmlns:a="http://schemas.openxmlformats.org/drawingml/2006/main" noGrp="1"/>
          </p:cNvSpPr>
          <p:nvPr/>
        </p:nvSpPr>
        <p:spPr>
          <a:xfrm xmlns:a="http://schemas.openxmlformats.org/drawingml/2006/main">
            <a:off x="3822192" y="1536192"/>
            <a:ext cx="4791456" cy="15087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300"/>
              </a:lnSpc>
              <a:buNone/>
            </a:pPr>
            <a:r>
              <a:rPr sz="1100" b="1">
                <a:solidFill>
                  <a:srgbClr val="C55A11"/>
                </a:solidFill>
                <a:latin typeface="Arial"/>
                <a:ea typeface="Arial"/>
                <a:cs typeface="Arial"/>
              </a:rPr>
              <a:t>DM-GAN: use c = μ
MDD: use c = μ
Which checkpoint is better under the same policy?</a:t>
            </a:r>
            <a:endParaRPr sz="1100"/>
          </a:p>
        </p:txBody>
      </p:sp>
      <p:sp>
        <p:nvSpPr>
          <p:cNvPr id="14" name="Shape 12">
            <a:extLst xmlns:a="http://schemas.openxmlformats.org/drawingml/2006/main">
              <a:ext uri="{FF2B5EF4-FFF2-40B4-BE49-F238E27FC236}">
                <a16:creationId xmlns:a16="http://schemas.microsoft.com/office/drawing/2014/main" id="{CC890284-C1AF-4979-A49C-452AA809E4C8}"/>
              </a:ext>
            </a:extLst>
          </p:cNvPr>
          <p:cNvSpPr>
            <a:spLocks xmlns:a="http://schemas.openxmlformats.org/drawingml/2006/main" noGrp="1"/>
          </p:cNvSpPr>
          <p:nvPr/>
        </p:nvSpPr>
        <p:spPr>
          <a:xfrm xmlns:a="http://schemas.openxmlformats.org/drawingml/2006/main">
            <a:off x="365760" y="3337560"/>
            <a:ext cx="5120640" cy="914400"/>
          </a:xfrm>
          <a:prstGeom xmlns:a="http://schemas.openxmlformats.org/drawingml/2006/main" prst="roundRect">
            <a:avLst>
              <a:gd name="adj" fmla="val 6000"/>
            </a:avLst>
          </a:prstGeom>
          <a:solidFill xmlns:a="http://schemas.openxmlformats.org/drawingml/2006/main">
            <a:srgbClr val="E8EEF7"/>
          </a:solidFill>
          <a:ln xmlns:a="http://schemas.openxmlformats.org/drawingml/2006/main" w="12700">
            <a:solidFill>
              <a:srgbClr val="0E7C7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F5320E88-2104-4B95-8441-13CB06DAC331}"/>
              </a:ext>
            </a:extLst>
          </p:cNvPr>
          <p:cNvSpPr>
            <a:spLocks xmlns:a="http://schemas.openxmlformats.org/drawingml/2006/main" noGrp="1"/>
          </p:cNvSpPr>
          <p:nvPr/>
        </p:nvSpPr>
        <p:spPr>
          <a:xfrm xmlns:a="http://schemas.openxmlformats.org/drawingml/2006/main">
            <a:off x="502920" y="3410712"/>
            <a:ext cx="14630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F3864"/>
                </a:solidFill>
                <a:latin typeface="Arial"/>
                <a:ea typeface="Arial"/>
                <a:cs typeface="Arial"/>
              </a:rPr>
              <a:t>INTERPRETATION RULE</a:t>
            </a:r>
            <a:endParaRPr sz="1200"/>
          </a:p>
        </p:txBody>
      </p:sp>
      <p:sp>
        <p:nvSpPr>
          <p:cNvPr id="16" name="Text 14">
            <a:extLst xmlns:a="http://schemas.openxmlformats.org/drawingml/2006/main">
              <a:ext uri="{FF2B5EF4-FFF2-40B4-BE49-F238E27FC236}">
                <a16:creationId xmlns:a16="http://schemas.microsoft.com/office/drawing/2014/main" id="{2B01C8CC-A496-4985-A3C2-8D9A806D4322}"/>
              </a:ext>
            </a:extLst>
          </p:cNvPr>
          <p:cNvSpPr>
            <a:spLocks xmlns:a="http://schemas.openxmlformats.org/drawingml/2006/main" noGrp="1"/>
          </p:cNvSpPr>
          <p:nvPr/>
        </p:nvSpPr>
        <p:spPr>
          <a:xfrm xmlns:a="http://schemas.openxmlformats.org/drawingml/2006/main">
            <a:off x="502920" y="3675888"/>
            <a:ext cx="484632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050">
                <a:solidFill>
                  <a:srgbClr val="1F2937"/>
                </a:solidFill>
                <a:latin typeface="Arial"/>
                <a:ea typeface="Arial"/>
                <a:cs typeface="Arial"/>
              </a:rPr>
              <a:t>Matched mean isolates the checkpoint comparison. Native behavior includes checkpoint + policy differences.</a:t>
            </a:r>
            <a:endParaRPr sz="1050"/>
          </a:p>
        </p:txBody>
      </p:sp>
      <p:sp>
        <p:nvSpPr>
          <p:cNvPr id="17" name="Shape 15">
            <a:extLst xmlns:a="http://schemas.openxmlformats.org/drawingml/2006/main">
              <a:ext uri="{FF2B5EF4-FFF2-40B4-BE49-F238E27FC236}">
                <a16:creationId xmlns:a16="http://schemas.microsoft.com/office/drawing/2014/main" id="{4CBC7606-5E03-4C13-9CBE-8C0A220C3D53}"/>
              </a:ext>
            </a:extLst>
          </p:cNvPr>
          <p:cNvSpPr>
            <a:spLocks xmlns:a="http://schemas.openxmlformats.org/drawingml/2006/main" noGrp="1"/>
          </p:cNvSpPr>
          <p:nvPr/>
        </p:nvSpPr>
        <p:spPr>
          <a:xfrm xmlns:a="http://schemas.openxmlformats.org/drawingml/2006/main">
            <a:off x="5669280" y="3337560"/>
            <a:ext cx="3108960" cy="914400"/>
          </a:xfrm>
          <a:prstGeom xmlns:a="http://schemas.openxmlformats.org/drawingml/2006/main" prst="roundRect">
            <a:avLst>
              <a:gd name="adj" fmla="val 6000"/>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C168151-475E-4BAE-B8B7-3CEAF14E6DE9}"/>
              </a:ext>
            </a:extLst>
          </p:cNvPr>
          <p:cNvSpPr>
            <a:spLocks xmlns:a="http://schemas.openxmlformats.org/drawingml/2006/main" noGrp="1"/>
          </p:cNvSpPr>
          <p:nvPr/>
        </p:nvSpPr>
        <p:spPr>
          <a:xfrm xmlns:a="http://schemas.openxmlformats.org/drawingml/2006/main">
            <a:off x="5833872" y="3429000"/>
            <a:ext cx="2779776"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00" b="1">
                <a:solidFill>
                  <a:srgbClr val="FFFFFF"/>
                </a:solidFill>
                <a:latin typeface="Arial"/>
                <a:ea typeface="Arial"/>
                <a:cs typeface="Arial"/>
              </a:rPr>
              <a:t>Author checkpoints still come from different training configurations.</a:t>
            </a:r>
            <a:endParaRPr sz="1100"/>
          </a:p>
        </p:txBody>
      </p:sp>
      <p:sp>
        <p:nvSpPr>
          <p:cNvPr id="20" name="Text 18">
            <a:extLst xmlns:a="http://schemas.openxmlformats.org/drawingml/2006/main">
              <a:ext uri="{FF2B5EF4-FFF2-40B4-BE49-F238E27FC236}">
                <a16:creationId xmlns:a16="http://schemas.microsoft.com/office/drawing/2014/main" id="{8A8A924B-940B-446F-A61E-6E5DF2C31C7B}"/>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8 / 15</a:t>
            </a:r>
            <a:endParaRPr sz="900"/>
          </a:p>
        </p:txBody>
      </p:sp>
      <p:sp>
        <p:nvSpPr>
          <p:cNvPr id="21" name="Shape 19">
            <a:extLst xmlns:a="http://schemas.openxmlformats.org/drawingml/2006/main">
              <a:ext uri="{FF2B5EF4-FFF2-40B4-BE49-F238E27FC236}">
                <a16:creationId xmlns:a16="http://schemas.microsoft.com/office/drawing/2014/main" id="{330F4208-A699-4B9E-8419-2220300566B9}"/>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A1315EB0-AC15-477B-A7DA-7B44B53CDDF3}"/>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0862583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417A1D-6FAB-4A41-A109-02A1F447908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880C3012-33CB-48EF-A0E0-F7A92D79FCE4}"/>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08</a:t>
            </a:r>
            <a:endParaRPr sz="1700"/>
          </a:p>
        </p:txBody>
      </p:sp>
      <p:sp>
        <p:nvSpPr>
          <p:cNvPr id="4" name="Text 2">
            <a:extLst xmlns:a="http://schemas.openxmlformats.org/drawingml/2006/main">
              <a:ext uri="{FF2B5EF4-FFF2-40B4-BE49-F238E27FC236}">
                <a16:creationId xmlns:a16="http://schemas.microsoft.com/office/drawing/2014/main" id="{46CECB0B-C8E2-45AA-A05C-05259BA80FDD}"/>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75" b="1">
                <a:solidFill>
                  <a:srgbClr val="1F2937"/>
                </a:solidFill>
                <a:latin typeface="Arial"/>
                <a:ea typeface="Arial"/>
                <a:cs typeface="Arial"/>
              </a:rPr>
              <a:t>Thirty Thousand Samples Test Both Quality and Alignment</a:t>
            </a:r>
            <a:endParaRPr sz="2100"/>
          </a:p>
        </p:txBody>
      </p:sp>
      <p:sp>
        <p:nvSpPr>
          <p:cNvPr id="5" name="Text 3">
            <a:extLst xmlns:a="http://schemas.openxmlformats.org/drawingml/2006/main">
              <a:ext uri="{FF2B5EF4-FFF2-40B4-BE49-F238E27FC236}">
                <a16:creationId xmlns:a16="http://schemas.microsoft.com/office/drawing/2014/main" id="{10427EF0-5930-49A0-AB62-0709A314E321}"/>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One fixed protocol · same captions, noise, negatives, and evaluators</a:t>
            </a:r>
            <a:endParaRPr sz="1150"/>
          </a:p>
        </p:txBody>
      </p:sp>
      <p:sp>
        <p:nvSpPr>
          <p:cNvPr id="6" name="Shape 4">
            <a:extLst xmlns:a="http://schemas.openxmlformats.org/drawingml/2006/main">
              <a:ext uri="{FF2B5EF4-FFF2-40B4-BE49-F238E27FC236}">
                <a16:creationId xmlns:a16="http://schemas.microsoft.com/office/drawing/2014/main" id="{A838829E-6CF1-41D9-A239-D6C9B25B6353}"/>
              </a:ext>
            </a:extLst>
          </p:cNvPr>
          <p:cNvSpPr>
            <a:spLocks xmlns:a="http://schemas.openxmlformats.org/drawingml/2006/main" noGrp="1"/>
          </p:cNvSpPr>
          <p:nvPr/>
        </p:nvSpPr>
        <p:spPr>
          <a:xfrm xmlns:a="http://schemas.openxmlformats.org/drawingml/2006/main">
            <a:off x="365760" y="1051560"/>
            <a:ext cx="3108960" cy="2103120"/>
          </a:xfrm>
          <a:prstGeom xmlns:a="http://schemas.openxmlformats.org/drawingml/2006/main" prst="roundRect">
            <a:avLst>
              <a:gd name="adj" fmla="val 260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B40910E1-246B-41C5-9719-B69C3ADB3878}"/>
              </a:ext>
            </a:extLst>
          </p:cNvPr>
          <p:cNvSpPr>
            <a:spLocks xmlns:a="http://schemas.openxmlformats.org/drawingml/2006/main" noGrp="1"/>
          </p:cNvSpPr>
          <p:nvPr/>
        </p:nvSpPr>
        <p:spPr>
          <a:xfrm xmlns:a="http://schemas.openxmlformats.org/drawingml/2006/main">
            <a:off x="365760" y="1051560"/>
            <a:ext cx="310896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D0B7FE7A-F3EE-4DA7-B774-E867623C9B82}"/>
              </a:ext>
            </a:extLst>
          </p:cNvPr>
          <p:cNvSpPr>
            <a:spLocks xmlns:a="http://schemas.openxmlformats.org/drawingml/2006/main" noGrp="1"/>
          </p:cNvSpPr>
          <p:nvPr/>
        </p:nvSpPr>
        <p:spPr>
          <a:xfrm xmlns:a="http://schemas.openxmlformats.org/drawingml/2006/main">
            <a:off x="365760" y="1097280"/>
            <a:ext cx="310896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FID ↓</a:t>
            </a:r>
            <a:endParaRPr sz="1250"/>
          </a:p>
        </p:txBody>
      </p:sp>
      <p:sp>
        <p:nvSpPr>
          <p:cNvPr id="9" name="Text 7">
            <a:extLst xmlns:a="http://schemas.openxmlformats.org/drawingml/2006/main">
              <a:ext uri="{FF2B5EF4-FFF2-40B4-BE49-F238E27FC236}">
                <a16:creationId xmlns:a16="http://schemas.microsoft.com/office/drawing/2014/main" id="{CC1F2DB2-8C77-4C53-9C1B-729E738B5232}"/>
              </a:ext>
            </a:extLst>
          </p:cNvPr>
          <p:cNvSpPr>
            <a:spLocks xmlns:a="http://schemas.openxmlformats.org/drawingml/2006/main" noGrp="1"/>
          </p:cNvSpPr>
          <p:nvPr/>
        </p:nvSpPr>
        <p:spPr>
          <a:xfrm xmlns:a="http://schemas.openxmlformats.org/drawingml/2006/main">
            <a:off x="530352" y="1536192"/>
            <a:ext cx="2779776" cy="15087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200"/>
              </a:lnSpc>
              <a:buNone/>
            </a:pPr>
            <a:r>
              <a:rPr sz="1200" b="1">
                <a:solidFill>
                  <a:srgbClr val="1F3864"/>
                </a:solidFill>
                <a:latin typeface="Arial"/>
                <a:ea typeface="Arial"/>
                <a:cs typeface="Arial"/>
              </a:rPr>
              <a:t>Distance to official CUB real-image features
Quality + distribution match
Lower is better</a:t>
            </a:r>
            <a:endParaRPr sz="1200"/>
          </a:p>
        </p:txBody>
      </p:sp>
      <p:sp>
        <p:nvSpPr>
          <p:cNvPr id="10" name="Shape 8">
            <a:extLst xmlns:a="http://schemas.openxmlformats.org/drawingml/2006/main">
              <a:ext uri="{FF2B5EF4-FFF2-40B4-BE49-F238E27FC236}">
                <a16:creationId xmlns:a16="http://schemas.microsoft.com/office/drawing/2014/main" id="{9CB42AC3-6EBF-4C0F-8414-9DCF746DE06D}"/>
              </a:ext>
            </a:extLst>
          </p:cNvPr>
          <p:cNvSpPr>
            <a:spLocks xmlns:a="http://schemas.openxmlformats.org/drawingml/2006/main" noGrp="1"/>
          </p:cNvSpPr>
          <p:nvPr/>
        </p:nvSpPr>
        <p:spPr>
          <a:xfrm xmlns:a="http://schemas.openxmlformats.org/drawingml/2006/main">
            <a:off x="3657600" y="1051560"/>
            <a:ext cx="5120640" cy="2103120"/>
          </a:xfrm>
          <a:prstGeom xmlns:a="http://schemas.openxmlformats.org/drawingml/2006/main" prst="roundRect">
            <a:avLst>
              <a:gd name="adj" fmla="val 260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FB9FD1B-42FD-4ED5-A04C-4C738DE9FACA}"/>
              </a:ext>
            </a:extLst>
          </p:cNvPr>
          <p:cNvSpPr>
            <a:spLocks xmlns:a="http://schemas.openxmlformats.org/drawingml/2006/main" noGrp="1"/>
          </p:cNvSpPr>
          <p:nvPr/>
        </p:nvSpPr>
        <p:spPr>
          <a:xfrm xmlns:a="http://schemas.openxmlformats.org/drawingml/2006/main">
            <a:off x="3657600" y="1051560"/>
            <a:ext cx="5120640" cy="384048"/>
          </a:xfrm>
          <a:prstGeom xmlns:a="http://schemas.openxmlformats.org/drawingml/2006/main" prst="roundRect">
            <a:avLst>
              <a:gd name="adj" fmla="val 14286"/>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83220C33-3268-4FF3-99E4-E96739FC104E}"/>
              </a:ext>
            </a:extLst>
          </p:cNvPr>
          <p:cNvSpPr>
            <a:spLocks xmlns:a="http://schemas.openxmlformats.org/drawingml/2006/main" noGrp="1"/>
          </p:cNvSpPr>
          <p:nvPr/>
        </p:nvSpPr>
        <p:spPr>
          <a:xfrm xmlns:a="http://schemas.openxmlformats.org/drawingml/2006/main">
            <a:off x="3657600" y="1097280"/>
            <a:ext cx="51206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R-PRECISION ↑</a:t>
            </a:r>
            <a:endParaRPr sz="1250"/>
          </a:p>
        </p:txBody>
      </p:sp>
      <p:sp>
        <p:nvSpPr>
          <p:cNvPr id="13" name="Text 11">
            <a:extLst xmlns:a="http://schemas.openxmlformats.org/drawingml/2006/main">
              <a:ext uri="{FF2B5EF4-FFF2-40B4-BE49-F238E27FC236}">
                <a16:creationId xmlns:a16="http://schemas.microsoft.com/office/drawing/2014/main" id="{155F9E7F-F05A-45F4-95F8-DD238CD24D87}"/>
              </a:ext>
            </a:extLst>
          </p:cNvPr>
          <p:cNvSpPr>
            <a:spLocks xmlns:a="http://schemas.openxmlformats.org/drawingml/2006/main" noGrp="1"/>
          </p:cNvSpPr>
          <p:nvPr/>
        </p:nvSpPr>
        <p:spPr>
          <a:xfrm xmlns:a="http://schemas.openxmlformats.org/drawingml/2006/main">
            <a:off x="3822192" y="1536192"/>
            <a:ext cx="4791456" cy="15087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300"/>
              </a:lnSpc>
              <a:buNone/>
            </a:pPr>
            <a:r>
              <a:rPr sz="1100" b="1">
                <a:solidFill>
                  <a:srgbClr val="C55A11"/>
                </a:solidFill>
                <a:latin typeface="Arial"/>
                <a:ea typeface="Arial"/>
                <a:cs typeface="Arial"/>
              </a:rPr>
              <a:t>Correct caption vs 99 other-class captions
Text–image alignment
Higher is better</a:t>
            </a:r>
            <a:endParaRPr sz="1100"/>
          </a:p>
        </p:txBody>
      </p:sp>
      <p:sp>
        <p:nvSpPr>
          <p:cNvPr id="14" name="Shape 12">
            <a:extLst xmlns:a="http://schemas.openxmlformats.org/drawingml/2006/main">
              <a:ext uri="{FF2B5EF4-FFF2-40B4-BE49-F238E27FC236}">
                <a16:creationId xmlns:a16="http://schemas.microsoft.com/office/drawing/2014/main" id="{CC890284-C1AF-4979-A49C-452AA809E4C8}"/>
              </a:ext>
            </a:extLst>
          </p:cNvPr>
          <p:cNvSpPr>
            <a:spLocks xmlns:a="http://schemas.openxmlformats.org/drawingml/2006/main" noGrp="1"/>
          </p:cNvSpPr>
          <p:nvPr/>
        </p:nvSpPr>
        <p:spPr>
          <a:xfrm xmlns:a="http://schemas.openxmlformats.org/drawingml/2006/main">
            <a:off x="365760" y="3337560"/>
            <a:ext cx="5120640" cy="914400"/>
          </a:xfrm>
          <a:prstGeom xmlns:a="http://schemas.openxmlformats.org/drawingml/2006/main" prst="roundRect">
            <a:avLst>
              <a:gd name="adj" fmla="val 6000"/>
            </a:avLst>
          </a:prstGeom>
          <a:solidFill xmlns:a="http://schemas.openxmlformats.org/drawingml/2006/main">
            <a:srgbClr val="E8EEF7"/>
          </a:solidFill>
          <a:ln xmlns:a="http://schemas.openxmlformats.org/drawingml/2006/main" w="12700">
            <a:solidFill>
              <a:srgbClr val="0E7C7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F5320E88-2104-4B95-8441-13CB06DAC331}"/>
              </a:ext>
            </a:extLst>
          </p:cNvPr>
          <p:cNvSpPr>
            <a:spLocks xmlns:a="http://schemas.openxmlformats.org/drawingml/2006/main" noGrp="1"/>
          </p:cNvSpPr>
          <p:nvPr/>
        </p:nvSpPr>
        <p:spPr>
          <a:xfrm xmlns:a="http://schemas.openxmlformats.org/drawingml/2006/main">
            <a:off x="502920" y="3410712"/>
            <a:ext cx="14630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F3864"/>
                </a:solidFill>
                <a:latin typeface="Arial"/>
                <a:ea typeface="Arial"/>
                <a:cs typeface="Arial"/>
              </a:rPr>
              <a:t>UNCERTAINTY + PASS</a:t>
            </a:r>
            <a:endParaRPr sz="1200"/>
          </a:p>
        </p:txBody>
      </p:sp>
      <p:sp>
        <p:nvSpPr>
          <p:cNvPr id="16" name="Text 14">
            <a:extLst xmlns:a="http://schemas.openxmlformats.org/drawingml/2006/main">
              <a:ext uri="{FF2B5EF4-FFF2-40B4-BE49-F238E27FC236}">
                <a16:creationId xmlns:a16="http://schemas.microsoft.com/office/drawing/2014/main" id="{2B01C8CC-A496-4985-A3C2-8D9A806D4322}"/>
              </a:ext>
            </a:extLst>
          </p:cNvPr>
          <p:cNvSpPr>
            <a:spLocks xmlns:a="http://schemas.openxmlformats.org/drawingml/2006/main" noGrp="1"/>
          </p:cNvSpPr>
          <p:nvPr/>
        </p:nvSpPr>
        <p:spPr>
          <a:xfrm xmlns:a="http://schemas.openxmlformats.org/drawingml/2006/main">
            <a:off x="502920" y="3675888"/>
            <a:ext cx="484632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050">
                <a:solidFill>
                  <a:srgbClr val="1F2937"/>
                </a:solidFill>
                <a:latin typeface="Arial"/>
                <a:ea typeface="Arial"/>
                <a:cs typeface="Arial"/>
              </a:rPr>
              <a:t>10,000 bootstrap resamples · 2,933 image clusters
STRICT PASS = FID lower AND R CI lower bound &gt; −1.0 pp</a:t>
            </a:r>
            <a:endParaRPr sz="1050"/>
          </a:p>
        </p:txBody>
      </p:sp>
      <p:sp>
        <p:nvSpPr>
          <p:cNvPr id="17" name="Shape 15">
            <a:extLst xmlns:a="http://schemas.openxmlformats.org/drawingml/2006/main">
              <a:ext uri="{FF2B5EF4-FFF2-40B4-BE49-F238E27FC236}">
                <a16:creationId xmlns:a16="http://schemas.microsoft.com/office/drawing/2014/main" id="{4CBC7606-5E03-4C13-9CBE-8C0A220C3D53}"/>
              </a:ext>
            </a:extLst>
          </p:cNvPr>
          <p:cNvSpPr>
            <a:spLocks xmlns:a="http://schemas.openxmlformats.org/drawingml/2006/main" noGrp="1"/>
          </p:cNvSpPr>
          <p:nvPr/>
        </p:nvSpPr>
        <p:spPr>
          <a:xfrm xmlns:a="http://schemas.openxmlformats.org/drawingml/2006/main">
            <a:off x="5669280" y="3337560"/>
            <a:ext cx="3108960" cy="914400"/>
          </a:xfrm>
          <a:prstGeom xmlns:a="http://schemas.openxmlformats.org/drawingml/2006/main" prst="roundRect">
            <a:avLst>
              <a:gd name="adj" fmla="val 6000"/>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C168151-475E-4BAE-B8B7-3CEAF14E6DE9}"/>
              </a:ext>
            </a:extLst>
          </p:cNvPr>
          <p:cNvSpPr>
            <a:spLocks xmlns:a="http://schemas.openxmlformats.org/drawingml/2006/main" noGrp="1"/>
          </p:cNvSpPr>
          <p:nvPr/>
        </p:nvSpPr>
        <p:spPr>
          <a:xfrm xmlns:a="http://schemas.openxmlformats.org/drawingml/2006/main">
            <a:off x="5833872" y="3429000"/>
            <a:ext cx="2779776"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00" b="1">
                <a:solidFill>
                  <a:srgbClr val="FFFFFF"/>
                </a:solidFill>
                <a:latin typeface="Arial"/>
                <a:ea typeface="Arial"/>
                <a:cs typeface="Arial"/>
              </a:rPr>
              <a:t>ImageNet IS is an internal health check, not a paper-comparable metric.</a:t>
            </a:r>
            <a:endParaRPr sz="1100"/>
          </a:p>
        </p:txBody>
      </p:sp>
      <p:sp>
        <p:nvSpPr>
          <p:cNvPr id="20" name="Text 18">
            <a:extLst xmlns:a="http://schemas.openxmlformats.org/drawingml/2006/main">
              <a:ext uri="{FF2B5EF4-FFF2-40B4-BE49-F238E27FC236}">
                <a16:creationId xmlns:a16="http://schemas.microsoft.com/office/drawing/2014/main" id="{8A8A924B-940B-446F-A61E-6E5DF2C31C7B}"/>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9 / 15</a:t>
            </a:r>
            <a:endParaRPr sz="900"/>
          </a:p>
        </p:txBody>
      </p:sp>
      <p:sp>
        <p:nvSpPr>
          <p:cNvPr id="21" name="Shape 19">
            <a:extLst xmlns:a="http://schemas.openxmlformats.org/drawingml/2006/main">
              <a:ext uri="{FF2B5EF4-FFF2-40B4-BE49-F238E27FC236}">
                <a16:creationId xmlns:a16="http://schemas.microsoft.com/office/drawing/2014/main" id="{330F4208-A699-4B9E-8419-2220300566B9}"/>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A1315EB0-AC15-477B-A7DA-7B44B53CDDF3}"/>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0862583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CF48FBC-5516-46E8-B1B3-4422E39ABF29}"/>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3935D704-B055-41E6-A77E-B865147F474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09</a:t>
            </a:r>
            <a:endParaRPr sz="1700"/>
          </a:p>
        </p:txBody>
      </p:sp>
      <p:sp>
        <p:nvSpPr>
          <p:cNvPr id="4" name="Text 2">
            <a:extLst xmlns:a="http://schemas.openxmlformats.org/drawingml/2006/main">
              <a:ext uri="{FF2B5EF4-FFF2-40B4-BE49-F238E27FC236}">
                <a16:creationId xmlns:a16="http://schemas.microsoft.com/office/drawing/2014/main" id="{B17940FC-87FD-4A32-A243-064BB3F757A9}"/>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950" b="1">
                <a:solidFill>
                  <a:srgbClr val="1F2937"/>
                </a:solidFill>
                <a:latin typeface="Arial"/>
                <a:ea typeface="Arial"/>
                <a:cs typeface="Arial"/>
              </a:rPr>
              <a:t>Matched-Mean MDD Improves Both Primary Metrics</a:t>
            </a:r>
            <a:endParaRPr sz="2100"/>
          </a:p>
        </p:txBody>
      </p:sp>
      <p:sp>
        <p:nvSpPr>
          <p:cNvPr id="5" name="Text 3">
            <a:extLst xmlns:a="http://schemas.openxmlformats.org/drawingml/2006/main">
              <a:ext uri="{FF2B5EF4-FFF2-40B4-BE49-F238E27FC236}">
                <a16:creationId xmlns:a16="http://schemas.microsoft.com/office/drawing/2014/main" id="{292556EE-53A4-4EE5-B725-48E2FF45ADA1}"/>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Same deterministic conditioning · 30,000 paired samples</a:t>
            </a:r>
            <a:endParaRPr sz="1150"/>
          </a:p>
        </p:txBody>
      </p:sp>
      <p:sp>
        <p:nvSpPr>
          <p:cNvPr id="6" name="Shape 4">
            <a:extLst xmlns:a="http://schemas.openxmlformats.org/drawingml/2006/main">
              <a:ext uri="{FF2B5EF4-FFF2-40B4-BE49-F238E27FC236}">
                <a16:creationId xmlns:a16="http://schemas.microsoft.com/office/drawing/2014/main" id="{EE1C6AEA-F400-482A-8C22-74E93EF3E8E1}"/>
              </a:ext>
            </a:extLst>
          </p:cNvPr>
          <p:cNvSpPr>
            <a:spLocks xmlns:a="http://schemas.openxmlformats.org/drawingml/2006/main" noGrp="1"/>
          </p:cNvSpPr>
          <p:nvPr/>
        </p:nvSpPr>
        <p:spPr>
          <a:xfrm xmlns:a="http://schemas.openxmlformats.org/drawingml/2006/main">
            <a:off x="36576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40A6FFFA-C25D-4F23-9DDA-7579C5B30542}"/>
              </a:ext>
            </a:extLst>
          </p:cNvPr>
          <p:cNvSpPr>
            <a:spLocks xmlns:a="http://schemas.openxmlformats.org/drawingml/2006/main" noGrp="1"/>
          </p:cNvSpPr>
          <p:nvPr/>
        </p:nvSpPr>
        <p:spPr>
          <a:xfrm xmlns:a="http://schemas.openxmlformats.org/drawingml/2006/main">
            <a:off x="365760" y="1051560"/>
            <a:ext cx="411480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5E21CAE-E99E-4449-9483-ABFCB6C9837A}"/>
              </a:ext>
            </a:extLst>
          </p:cNvPr>
          <p:cNvSpPr>
            <a:spLocks xmlns:a="http://schemas.openxmlformats.org/drawingml/2006/main" noGrp="1"/>
          </p:cNvSpPr>
          <p:nvPr/>
        </p:nvSpPr>
        <p:spPr>
          <a:xfrm xmlns:a="http://schemas.openxmlformats.org/drawingml/2006/main">
            <a:off x="36576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FID ↓</a:t>
            </a:r>
            <a:endParaRPr sz="1250"/>
          </a:p>
        </p:txBody>
      </p:sp>
      <p:sp>
        <p:nvSpPr>
          <p:cNvPr id="9" name="Text 7">
            <a:extLst xmlns:a="http://schemas.openxmlformats.org/drawingml/2006/main">
              <a:ext uri="{FF2B5EF4-FFF2-40B4-BE49-F238E27FC236}">
                <a16:creationId xmlns:a16="http://schemas.microsoft.com/office/drawing/2014/main" id="{F219D6E4-CED7-414C-BEEA-1FE492CA9AE8}"/>
              </a:ext>
            </a:extLst>
          </p:cNvPr>
          <p:cNvSpPr>
            <a:spLocks xmlns:a="http://schemas.openxmlformats.org/drawingml/2006/main" noGrp="1"/>
          </p:cNvSpPr>
          <p:nvPr/>
        </p:nvSpPr>
        <p:spPr>
          <a:xfrm xmlns:a="http://schemas.openxmlformats.org/drawingml/2006/main">
            <a:off x="53035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300"/>
              </a:lnSpc>
              <a:buNone/>
            </a:pPr>
            <a:r>
              <a:rPr sz="1150" b="1">
                <a:solidFill>
                  <a:srgbClr val="0E7C7B"/>
                </a:solidFill>
                <a:latin typeface="Arial"/>
                <a:ea typeface="Arial"/>
                <a:cs typeface="Arial"/>
              </a:rPr>
              <a:t>DM-GAN 17.1708
→ MDD 16.1543
Δ = −1.0164
5.92% lower</a:t>
            </a:r>
            <a:endParaRPr sz="1150"/>
          </a:p>
        </p:txBody>
      </p:sp>
      <p:sp>
        <p:nvSpPr>
          <p:cNvPr id="10" name="Shape 8">
            <a:extLst xmlns:a="http://schemas.openxmlformats.org/drawingml/2006/main">
              <a:ext uri="{FF2B5EF4-FFF2-40B4-BE49-F238E27FC236}">
                <a16:creationId xmlns:a16="http://schemas.microsoft.com/office/drawing/2014/main" id="{C5B43479-84BF-450A-8CB1-E203678106B3}"/>
              </a:ext>
            </a:extLst>
          </p:cNvPr>
          <p:cNvSpPr>
            <a:spLocks xmlns:a="http://schemas.openxmlformats.org/drawingml/2006/main" noGrp="1"/>
          </p:cNvSpPr>
          <p:nvPr/>
        </p:nvSpPr>
        <p:spPr>
          <a:xfrm xmlns:a="http://schemas.openxmlformats.org/drawingml/2006/main">
            <a:off x="466344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0A67230-E38C-4078-B9C1-8232B31DF0B7}"/>
              </a:ext>
            </a:extLst>
          </p:cNvPr>
          <p:cNvSpPr>
            <a:spLocks xmlns:a="http://schemas.openxmlformats.org/drawingml/2006/main" noGrp="1"/>
          </p:cNvSpPr>
          <p:nvPr/>
        </p:nvSpPr>
        <p:spPr>
          <a:xfrm xmlns:a="http://schemas.openxmlformats.org/drawingml/2006/main">
            <a:off x="4663440" y="1051560"/>
            <a:ext cx="4114800" cy="384048"/>
          </a:xfrm>
          <a:prstGeom xmlns:a="http://schemas.openxmlformats.org/drawingml/2006/main" prst="roundRect">
            <a:avLst>
              <a:gd name="adj" fmla="val 14286"/>
            </a:avLst>
          </a:prstGeom>
          <a:solidFill xmlns:a="http://schemas.openxmlformats.org/drawingml/2006/main">
            <a:srgbClr val="C55A11"/>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93DBB63-AFBF-404D-B369-0B07A2371ADD}"/>
              </a:ext>
            </a:extLst>
          </p:cNvPr>
          <p:cNvSpPr>
            <a:spLocks xmlns:a="http://schemas.openxmlformats.org/drawingml/2006/main" noGrp="1"/>
          </p:cNvSpPr>
          <p:nvPr/>
        </p:nvSpPr>
        <p:spPr>
          <a:xfrm xmlns:a="http://schemas.openxmlformats.org/drawingml/2006/main">
            <a:off x="466344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R-PRECISION ↑</a:t>
            </a:r>
            <a:endParaRPr sz="1250"/>
          </a:p>
        </p:txBody>
      </p:sp>
      <p:sp>
        <p:nvSpPr>
          <p:cNvPr id="13" name="Text 11">
            <a:extLst xmlns:a="http://schemas.openxmlformats.org/drawingml/2006/main">
              <a:ext uri="{FF2B5EF4-FFF2-40B4-BE49-F238E27FC236}">
                <a16:creationId xmlns:a16="http://schemas.microsoft.com/office/drawing/2014/main" id="{9A136CF3-5921-4AA1-8C00-40146DBD2329}"/>
              </a:ext>
            </a:extLst>
          </p:cNvPr>
          <p:cNvSpPr>
            <a:spLocks xmlns:a="http://schemas.openxmlformats.org/drawingml/2006/main" noGrp="1"/>
          </p:cNvSpPr>
          <p:nvPr/>
        </p:nvSpPr>
        <p:spPr>
          <a:xfrm xmlns:a="http://schemas.openxmlformats.org/drawingml/2006/main">
            <a:off x="482803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50">
                <a:solidFill>
                  <a:srgbClr val="1F2937"/>
                </a:solidFill>
                <a:latin typeface="Arial"/>
                <a:ea typeface="Arial"/>
                <a:cs typeface="Arial"/>
              </a:rPr>
              <a:t>DM-GAN 79.10%
→ MDD 79.77%
Δ = +0.67 pp
95% CI [+0.134, +1.225]</a:t>
            </a:r>
            <a:endParaRPr sz="1150"/>
          </a:p>
        </p:txBody>
      </p:sp>
      <p:sp>
        <p:nvSpPr>
          <p:cNvPr id="14" name="Shape 12">
            <a:extLst xmlns:a="http://schemas.openxmlformats.org/drawingml/2006/main">
              <a:ext uri="{FF2B5EF4-FFF2-40B4-BE49-F238E27FC236}">
                <a16:creationId xmlns:a16="http://schemas.microsoft.com/office/drawing/2014/main" id="{698F6D3F-65A2-4063-970C-672547457398}"/>
              </a:ext>
            </a:extLst>
          </p:cNvPr>
          <p:cNvSpPr>
            <a:spLocks xmlns:a="http://schemas.openxmlformats.org/drawingml/2006/main" noGrp="1"/>
          </p:cNvSpPr>
          <p:nvPr/>
        </p:nvSpPr>
        <p:spPr>
          <a:xfrm xmlns:a="http://schemas.openxmlformats.org/drawingml/2006/main">
            <a:off x="365760" y="3200400"/>
            <a:ext cx="8412480" cy="1051560"/>
          </a:xfrm>
          <a:prstGeom xmlns:a="http://schemas.openxmlformats.org/drawingml/2006/main" prst="roundRect">
            <a:avLst>
              <a:gd name="adj" fmla="val 5217"/>
            </a:avLst>
          </a:prstGeom>
          <a:solidFill xmlns:a="http://schemas.openxmlformats.org/drawingml/2006/main">
            <a:srgbClr val="E8EEF7"/>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3B7523DB-1162-4458-A8C5-9F39F60753E3}"/>
              </a:ext>
            </a:extLst>
          </p:cNvPr>
          <p:cNvSpPr>
            <a:spLocks xmlns:a="http://schemas.openxmlformats.org/drawingml/2006/main" noGrp="1"/>
          </p:cNvSpPr>
          <p:nvPr/>
        </p:nvSpPr>
        <p:spPr>
          <a:xfrm xmlns:a="http://schemas.openxmlformats.org/drawingml/2006/main">
            <a:off x="548640" y="3310128"/>
            <a:ext cx="80467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F3864"/>
                </a:solidFill>
                <a:latin typeface="Arial"/>
                <a:ea typeface="Arial"/>
                <a:cs typeface="Arial"/>
              </a:rPr>
              <a:t>SUPPORTED</a:t>
            </a:r>
            <a:endParaRPr sz="1250"/>
          </a:p>
        </p:txBody>
      </p:sp>
      <p:sp>
        <p:nvSpPr>
          <p:cNvPr id="16" name="Text 14">
            <a:extLst xmlns:a="http://schemas.openxmlformats.org/drawingml/2006/main">
              <a:ext uri="{FF2B5EF4-FFF2-40B4-BE49-F238E27FC236}">
                <a16:creationId xmlns:a16="http://schemas.microsoft.com/office/drawing/2014/main" id="{19B8858B-0D95-4C89-8B99-F82B974E1D2A}"/>
              </a:ext>
            </a:extLst>
          </p:cNvPr>
          <p:cNvSpPr>
            <a:spLocks xmlns:a="http://schemas.openxmlformats.org/drawingml/2006/main" noGrp="1"/>
          </p:cNvSpPr>
          <p:nvPr/>
        </p:nvSpPr>
        <p:spPr>
          <a:xfrm xmlns:a="http://schemas.openxmlformats.org/drawingml/2006/main">
            <a:off x="548640" y="3630168"/>
            <a:ext cx="8046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50">
                <a:solidFill>
                  <a:srgbClr val="1F2937"/>
                </a:solidFill>
                <a:latin typeface="Arial"/>
                <a:ea typeface="Arial"/>
                <a:cs typeface="Arial"/>
              </a:rPr>
              <a:t>Both metrics improve, and the full image-cluster R interval is above zero.</a:t>
            </a:r>
            <a:endParaRPr sz="1150"/>
          </a:p>
        </p:txBody>
      </p:sp>
      <p:sp>
        <p:nvSpPr>
          <p:cNvPr id="17" name="Text 15">
            <a:extLst xmlns:a="http://schemas.openxmlformats.org/drawingml/2006/main">
              <a:ext uri="{FF2B5EF4-FFF2-40B4-BE49-F238E27FC236}">
                <a16:creationId xmlns:a16="http://schemas.microsoft.com/office/drawing/2014/main" id="{2EC6DB93-7D28-4417-98CD-8923EF138480}"/>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10 / 15</a:t>
            </a:r>
            <a:endParaRPr sz="900"/>
          </a:p>
        </p:txBody>
      </p:sp>
      <p:sp>
        <p:nvSpPr>
          <p:cNvPr id="18" name="Shape 16">
            <a:extLst xmlns:a="http://schemas.openxmlformats.org/drawingml/2006/main">
              <a:ext uri="{FF2B5EF4-FFF2-40B4-BE49-F238E27FC236}">
                <a16:creationId xmlns:a16="http://schemas.microsoft.com/office/drawing/2014/main" id="{84555E5B-078E-493D-AD28-7D2608621E18}"/>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55C9039F-C1CA-4D5F-AB9B-8D239443A79A}"/>
              </a:ext>
            </a:extLst>
          </p:cNvPr>
          <p:cNvSpPr>
            <a:spLocks xmlns:a="http://schemas.openxmlformats.org/drawingml/2006/main" noGrp="1"/>
          </p:cNvSpPr>
          <p:nvPr/>
        </p:nvSpPr>
        <p:spPr>
          <a:xfrm xmlns:a="http://schemas.openxmlformats.org/drawingml/2006/main">
            <a:off x="7955280" y="4864608"/>
            <a:ext cx="506437"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0363772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CF48FBC-5516-46E8-B1B3-4422E39ABF29}"/>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3935D704-B055-41E6-A77E-B865147F474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10</a:t>
            </a:r>
            <a:endParaRPr sz="1700"/>
          </a:p>
        </p:txBody>
      </p:sp>
      <p:sp>
        <p:nvSpPr>
          <p:cNvPr id="4" name="Text 2">
            <a:extLst xmlns:a="http://schemas.openxmlformats.org/drawingml/2006/main">
              <a:ext uri="{FF2B5EF4-FFF2-40B4-BE49-F238E27FC236}">
                <a16:creationId xmlns:a16="http://schemas.microsoft.com/office/drawing/2014/main" id="{B17940FC-87FD-4A32-A243-064BB3F757A9}"/>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75" b="1">
                <a:solidFill>
                  <a:srgbClr val="1F2937"/>
                </a:solidFill>
                <a:latin typeface="Arial"/>
                <a:ea typeface="Arial"/>
                <a:cs typeface="Arial"/>
              </a:rPr>
              <a:t>Native Defaults Reveal a Quality–Alignment Trade-off</a:t>
            </a:r>
            <a:endParaRPr sz="2100"/>
          </a:p>
        </p:txBody>
      </p:sp>
      <p:sp>
        <p:nvSpPr>
          <p:cNvPr id="5" name="Text 3">
            <a:extLst xmlns:a="http://schemas.openxmlformats.org/drawingml/2006/main">
              <a:ext uri="{FF2B5EF4-FFF2-40B4-BE49-F238E27FC236}">
                <a16:creationId xmlns:a16="http://schemas.microsoft.com/office/drawing/2014/main" id="{292556EE-53A4-4EE5-B725-48E2FF45ADA1}"/>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DM-GAN samples CA; MDD uses the mean</a:t>
            </a:r>
            <a:endParaRPr sz="1150"/>
          </a:p>
        </p:txBody>
      </p:sp>
      <p:sp>
        <p:nvSpPr>
          <p:cNvPr id="6" name="Shape 4">
            <a:extLst xmlns:a="http://schemas.openxmlformats.org/drawingml/2006/main">
              <a:ext uri="{FF2B5EF4-FFF2-40B4-BE49-F238E27FC236}">
                <a16:creationId xmlns:a16="http://schemas.microsoft.com/office/drawing/2014/main" id="{EE1C6AEA-F400-482A-8C22-74E93EF3E8E1}"/>
              </a:ext>
            </a:extLst>
          </p:cNvPr>
          <p:cNvSpPr>
            <a:spLocks xmlns:a="http://schemas.openxmlformats.org/drawingml/2006/main" noGrp="1"/>
          </p:cNvSpPr>
          <p:nvPr/>
        </p:nvSpPr>
        <p:spPr>
          <a:xfrm xmlns:a="http://schemas.openxmlformats.org/drawingml/2006/main">
            <a:off x="36576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40A6FFFA-C25D-4F23-9DDA-7579C5B30542}"/>
              </a:ext>
            </a:extLst>
          </p:cNvPr>
          <p:cNvSpPr>
            <a:spLocks xmlns:a="http://schemas.openxmlformats.org/drawingml/2006/main" noGrp="1"/>
          </p:cNvSpPr>
          <p:nvPr/>
        </p:nvSpPr>
        <p:spPr>
          <a:xfrm xmlns:a="http://schemas.openxmlformats.org/drawingml/2006/main">
            <a:off x="365760" y="1051560"/>
            <a:ext cx="411480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5E21CAE-E99E-4449-9483-ABFCB6C9837A}"/>
              </a:ext>
            </a:extLst>
          </p:cNvPr>
          <p:cNvSpPr>
            <a:spLocks xmlns:a="http://schemas.openxmlformats.org/drawingml/2006/main" noGrp="1"/>
          </p:cNvSpPr>
          <p:nvPr/>
        </p:nvSpPr>
        <p:spPr>
          <a:xfrm xmlns:a="http://schemas.openxmlformats.org/drawingml/2006/main">
            <a:off x="36576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FID ↓</a:t>
            </a:r>
            <a:endParaRPr sz="1250"/>
          </a:p>
        </p:txBody>
      </p:sp>
      <p:sp>
        <p:nvSpPr>
          <p:cNvPr id="9" name="Text 7">
            <a:extLst xmlns:a="http://schemas.openxmlformats.org/drawingml/2006/main">
              <a:ext uri="{FF2B5EF4-FFF2-40B4-BE49-F238E27FC236}">
                <a16:creationId xmlns:a16="http://schemas.microsoft.com/office/drawing/2014/main" id="{F219D6E4-CED7-414C-BEEA-1FE492CA9AE8}"/>
              </a:ext>
            </a:extLst>
          </p:cNvPr>
          <p:cNvSpPr>
            <a:spLocks xmlns:a="http://schemas.openxmlformats.org/drawingml/2006/main" noGrp="1"/>
          </p:cNvSpPr>
          <p:nvPr/>
        </p:nvSpPr>
        <p:spPr>
          <a:xfrm xmlns:a="http://schemas.openxmlformats.org/drawingml/2006/main">
            <a:off x="53035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300"/>
              </a:lnSpc>
              <a:buNone/>
            </a:pPr>
            <a:r>
              <a:rPr sz="1150" b="1">
                <a:solidFill>
                  <a:srgbClr val="0E7C7B"/>
                </a:solidFill>
                <a:latin typeface="Arial"/>
                <a:ea typeface="Arial"/>
                <a:cs typeface="Arial"/>
              </a:rPr>
              <a:t>15.7047 → 16.1543
Δ = +0.4496
WORSE under the native policy</a:t>
            </a:r>
            <a:endParaRPr sz="1150"/>
          </a:p>
        </p:txBody>
      </p:sp>
      <p:sp>
        <p:nvSpPr>
          <p:cNvPr id="10" name="Shape 8">
            <a:extLst xmlns:a="http://schemas.openxmlformats.org/drawingml/2006/main">
              <a:ext uri="{FF2B5EF4-FFF2-40B4-BE49-F238E27FC236}">
                <a16:creationId xmlns:a16="http://schemas.microsoft.com/office/drawing/2014/main" id="{C5B43479-84BF-450A-8CB1-E203678106B3}"/>
              </a:ext>
            </a:extLst>
          </p:cNvPr>
          <p:cNvSpPr>
            <a:spLocks xmlns:a="http://schemas.openxmlformats.org/drawingml/2006/main" noGrp="1"/>
          </p:cNvSpPr>
          <p:nvPr/>
        </p:nvSpPr>
        <p:spPr>
          <a:xfrm xmlns:a="http://schemas.openxmlformats.org/drawingml/2006/main">
            <a:off x="466344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0A67230-E38C-4078-B9C1-8232B31DF0B7}"/>
              </a:ext>
            </a:extLst>
          </p:cNvPr>
          <p:cNvSpPr>
            <a:spLocks xmlns:a="http://schemas.openxmlformats.org/drawingml/2006/main" noGrp="1"/>
          </p:cNvSpPr>
          <p:nvPr/>
        </p:nvSpPr>
        <p:spPr>
          <a:xfrm xmlns:a="http://schemas.openxmlformats.org/drawingml/2006/main">
            <a:off x="4663440" y="1051560"/>
            <a:ext cx="4114800" cy="384048"/>
          </a:xfrm>
          <a:prstGeom xmlns:a="http://schemas.openxmlformats.org/drawingml/2006/main" prst="roundRect">
            <a:avLst>
              <a:gd name="adj" fmla="val 14286"/>
            </a:avLst>
          </a:prstGeom>
          <a:solidFill xmlns:a="http://schemas.openxmlformats.org/drawingml/2006/main">
            <a:srgbClr val="C55A11"/>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93DBB63-AFBF-404D-B369-0B07A2371ADD}"/>
              </a:ext>
            </a:extLst>
          </p:cNvPr>
          <p:cNvSpPr>
            <a:spLocks xmlns:a="http://schemas.openxmlformats.org/drawingml/2006/main" noGrp="1"/>
          </p:cNvSpPr>
          <p:nvPr/>
        </p:nvSpPr>
        <p:spPr>
          <a:xfrm xmlns:a="http://schemas.openxmlformats.org/drawingml/2006/main">
            <a:off x="466344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R-PRECISION ↑</a:t>
            </a:r>
            <a:endParaRPr sz="1250"/>
          </a:p>
        </p:txBody>
      </p:sp>
      <p:sp>
        <p:nvSpPr>
          <p:cNvPr id="13" name="Text 11">
            <a:extLst xmlns:a="http://schemas.openxmlformats.org/drawingml/2006/main">
              <a:ext uri="{FF2B5EF4-FFF2-40B4-BE49-F238E27FC236}">
                <a16:creationId xmlns:a16="http://schemas.microsoft.com/office/drawing/2014/main" id="{9A136CF3-5921-4AA1-8C00-40146DBD2329}"/>
              </a:ext>
            </a:extLst>
          </p:cNvPr>
          <p:cNvSpPr>
            <a:spLocks xmlns:a="http://schemas.openxmlformats.org/drawingml/2006/main" noGrp="1"/>
          </p:cNvSpPr>
          <p:nvPr/>
        </p:nvSpPr>
        <p:spPr>
          <a:xfrm xmlns:a="http://schemas.openxmlformats.org/drawingml/2006/main">
            <a:off x="482803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50">
                <a:solidFill>
                  <a:srgbClr val="1F2937"/>
                </a:solidFill>
                <a:latin typeface="Arial"/>
                <a:ea typeface="Arial"/>
                <a:cs typeface="Arial"/>
              </a:rPr>
              <a:t>76.84% → 79.77%
Δ = +2.93 pp
95% CI [+2.375, +3.485]</a:t>
            </a:r>
            <a:endParaRPr sz="1150"/>
          </a:p>
        </p:txBody>
      </p:sp>
      <p:sp>
        <p:nvSpPr>
          <p:cNvPr id="14" name="Shape 12">
            <a:extLst xmlns:a="http://schemas.openxmlformats.org/drawingml/2006/main">
              <a:ext uri="{FF2B5EF4-FFF2-40B4-BE49-F238E27FC236}">
                <a16:creationId xmlns:a16="http://schemas.microsoft.com/office/drawing/2014/main" id="{698F6D3F-65A2-4063-970C-672547457398}"/>
              </a:ext>
            </a:extLst>
          </p:cNvPr>
          <p:cNvSpPr>
            <a:spLocks xmlns:a="http://schemas.openxmlformats.org/drawingml/2006/main" noGrp="1"/>
          </p:cNvSpPr>
          <p:nvPr/>
        </p:nvSpPr>
        <p:spPr>
          <a:xfrm xmlns:a="http://schemas.openxmlformats.org/drawingml/2006/main">
            <a:off x="365760" y="3200400"/>
            <a:ext cx="8412480" cy="1051560"/>
          </a:xfrm>
          <a:prstGeom xmlns:a="http://schemas.openxmlformats.org/drawingml/2006/main" prst="roundRect">
            <a:avLst>
              <a:gd name="adj" fmla="val 5217"/>
            </a:avLst>
          </a:prstGeom>
          <a:solidFill xmlns:a="http://schemas.openxmlformats.org/drawingml/2006/main">
            <a:srgbClr val="E8EEF7"/>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3B7523DB-1162-4458-A8C5-9F39F60753E3}"/>
              </a:ext>
            </a:extLst>
          </p:cNvPr>
          <p:cNvSpPr>
            <a:spLocks xmlns:a="http://schemas.openxmlformats.org/drawingml/2006/main" noGrp="1"/>
          </p:cNvSpPr>
          <p:nvPr/>
        </p:nvSpPr>
        <p:spPr>
          <a:xfrm xmlns:a="http://schemas.openxmlformats.org/drawingml/2006/main">
            <a:off x="548640" y="3310128"/>
            <a:ext cx="80467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F3864"/>
                </a:solidFill>
                <a:latin typeface="Arial"/>
                <a:ea typeface="Arial"/>
                <a:cs typeface="Arial"/>
              </a:rPr>
              <a:t>TRADE-OFF</a:t>
            </a:r>
            <a:endParaRPr sz="1250"/>
          </a:p>
        </p:txBody>
      </p:sp>
      <p:sp>
        <p:nvSpPr>
          <p:cNvPr id="16" name="Text 14">
            <a:extLst xmlns:a="http://schemas.openxmlformats.org/drawingml/2006/main">
              <a:ext uri="{FF2B5EF4-FFF2-40B4-BE49-F238E27FC236}">
                <a16:creationId xmlns:a16="http://schemas.microsoft.com/office/drawing/2014/main" id="{19B8858B-0D95-4C89-8B99-F82B974E1D2A}"/>
              </a:ext>
            </a:extLst>
          </p:cNvPr>
          <p:cNvSpPr>
            <a:spLocks xmlns:a="http://schemas.openxmlformats.org/drawingml/2006/main" noGrp="1"/>
          </p:cNvSpPr>
          <p:nvPr/>
        </p:nvSpPr>
        <p:spPr>
          <a:xfrm xmlns:a="http://schemas.openxmlformats.org/drawingml/2006/main">
            <a:off x="548640" y="3630168"/>
            <a:ext cx="8046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50">
                <a:solidFill>
                  <a:srgbClr val="1F2937"/>
                </a:solidFill>
                <a:latin typeface="Arial"/>
                <a:ea typeface="Arial"/>
                <a:cs typeface="Arial"/>
              </a:rPr>
              <a:t>Alignment improves strongly, but FID fails the two-metric rule: not an overall win.</a:t>
            </a:r>
            <a:endParaRPr sz="1150"/>
          </a:p>
        </p:txBody>
      </p:sp>
      <p:sp>
        <p:nvSpPr>
          <p:cNvPr id="17" name="Text 15">
            <a:extLst xmlns:a="http://schemas.openxmlformats.org/drawingml/2006/main">
              <a:ext uri="{FF2B5EF4-FFF2-40B4-BE49-F238E27FC236}">
                <a16:creationId xmlns:a16="http://schemas.microsoft.com/office/drawing/2014/main" id="{2EC6DB93-7D28-4417-98CD-8923EF138480}"/>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11 / 15</a:t>
            </a:r>
            <a:endParaRPr sz="900"/>
          </a:p>
        </p:txBody>
      </p:sp>
      <p:sp>
        <p:nvSpPr>
          <p:cNvPr id="18" name="Shape 16">
            <a:extLst xmlns:a="http://schemas.openxmlformats.org/drawingml/2006/main">
              <a:ext uri="{FF2B5EF4-FFF2-40B4-BE49-F238E27FC236}">
                <a16:creationId xmlns:a16="http://schemas.microsoft.com/office/drawing/2014/main" id="{84555E5B-078E-493D-AD28-7D2608621E18}"/>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55C9039F-C1CA-4D5F-AB9B-8D239443A79A}"/>
              </a:ext>
            </a:extLst>
          </p:cNvPr>
          <p:cNvSpPr>
            <a:spLocks xmlns:a="http://schemas.openxmlformats.org/drawingml/2006/main" noGrp="1"/>
          </p:cNvSpPr>
          <p:nvPr/>
        </p:nvSpPr>
        <p:spPr>
          <a:xfrm xmlns:a="http://schemas.openxmlformats.org/drawingml/2006/main">
            <a:off x="7955280" y="4864608"/>
            <a:ext cx="506437"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0363772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CF48FBC-5516-46E8-B1B3-4422E39ABF29}"/>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3935D704-B055-41E6-A77E-B865147F474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11</a:t>
            </a:r>
            <a:endParaRPr sz="1700"/>
          </a:p>
        </p:txBody>
      </p:sp>
      <p:sp>
        <p:nvSpPr>
          <p:cNvPr id="4" name="Text 2">
            <a:extLst xmlns:a="http://schemas.openxmlformats.org/drawingml/2006/main">
              <a:ext uri="{FF2B5EF4-FFF2-40B4-BE49-F238E27FC236}">
                <a16:creationId xmlns:a16="http://schemas.microsoft.com/office/drawing/2014/main" id="{B17940FC-87FD-4A32-A243-064BB3F757A9}"/>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25" b="1">
                <a:solidFill>
                  <a:srgbClr val="1F2937"/>
                </a:solidFill>
                <a:latin typeface="Arial"/>
                <a:ea typeface="Arial"/>
                <a:cs typeface="Arial"/>
              </a:rPr>
              <a:t>CA Sampling Explains the Apparent Reversal</a:t>
            </a:r>
            <a:endParaRPr sz="2100"/>
          </a:p>
        </p:txBody>
      </p:sp>
      <p:sp>
        <p:nvSpPr>
          <p:cNvPr id="5" name="Text 3">
            <a:extLst xmlns:a="http://schemas.openxmlformats.org/drawingml/2006/main">
              <a:ext uri="{FF2B5EF4-FFF2-40B4-BE49-F238E27FC236}">
                <a16:creationId xmlns:a16="http://schemas.microsoft.com/office/drawing/2014/main" id="{292556EE-53A4-4EE5-B725-48E2FF45ADA1}"/>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Changing only the baseline inference policy moves both metrics materially</a:t>
            </a:r>
            <a:endParaRPr sz="1150"/>
          </a:p>
        </p:txBody>
      </p:sp>
      <p:sp>
        <p:nvSpPr>
          <p:cNvPr id="6" name="Shape 4">
            <a:extLst xmlns:a="http://schemas.openxmlformats.org/drawingml/2006/main">
              <a:ext uri="{FF2B5EF4-FFF2-40B4-BE49-F238E27FC236}">
                <a16:creationId xmlns:a16="http://schemas.microsoft.com/office/drawing/2014/main" id="{EE1C6AEA-F400-482A-8C22-74E93EF3E8E1}"/>
              </a:ext>
            </a:extLst>
          </p:cNvPr>
          <p:cNvSpPr>
            <a:spLocks xmlns:a="http://schemas.openxmlformats.org/drawingml/2006/main" noGrp="1"/>
          </p:cNvSpPr>
          <p:nvPr/>
        </p:nvSpPr>
        <p:spPr>
          <a:xfrm xmlns:a="http://schemas.openxmlformats.org/drawingml/2006/main">
            <a:off x="36576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40A6FFFA-C25D-4F23-9DDA-7579C5B30542}"/>
              </a:ext>
            </a:extLst>
          </p:cNvPr>
          <p:cNvSpPr>
            <a:spLocks xmlns:a="http://schemas.openxmlformats.org/drawingml/2006/main" noGrp="1"/>
          </p:cNvSpPr>
          <p:nvPr/>
        </p:nvSpPr>
        <p:spPr>
          <a:xfrm xmlns:a="http://schemas.openxmlformats.org/drawingml/2006/main">
            <a:off x="365760" y="1051560"/>
            <a:ext cx="411480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5E21CAE-E99E-4449-9483-ABFCB6C9837A}"/>
              </a:ext>
            </a:extLst>
          </p:cNvPr>
          <p:cNvSpPr>
            <a:spLocks xmlns:a="http://schemas.openxmlformats.org/drawingml/2006/main" noGrp="1"/>
          </p:cNvSpPr>
          <p:nvPr/>
        </p:nvSpPr>
        <p:spPr>
          <a:xfrm xmlns:a="http://schemas.openxmlformats.org/drawingml/2006/main">
            <a:off x="36576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DM-GAN · SAMPLE → MEAN</a:t>
            </a:r>
            <a:endParaRPr sz="1250"/>
          </a:p>
        </p:txBody>
      </p:sp>
      <p:sp>
        <p:nvSpPr>
          <p:cNvPr id="9" name="Text 7">
            <a:extLst xmlns:a="http://schemas.openxmlformats.org/drawingml/2006/main">
              <a:ext uri="{FF2B5EF4-FFF2-40B4-BE49-F238E27FC236}">
                <a16:creationId xmlns:a16="http://schemas.microsoft.com/office/drawing/2014/main" id="{F219D6E4-CED7-414C-BEEA-1FE492CA9AE8}"/>
              </a:ext>
            </a:extLst>
          </p:cNvPr>
          <p:cNvSpPr>
            <a:spLocks xmlns:a="http://schemas.openxmlformats.org/drawingml/2006/main" noGrp="1"/>
          </p:cNvSpPr>
          <p:nvPr/>
        </p:nvSpPr>
        <p:spPr>
          <a:xfrm xmlns:a="http://schemas.openxmlformats.org/drawingml/2006/main">
            <a:off x="53035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300"/>
              </a:lnSpc>
              <a:buNone/>
            </a:pPr>
            <a:r>
              <a:rPr sz="1150" b="1">
                <a:solidFill>
                  <a:srgbClr val="0E7C7B"/>
                </a:solidFill>
                <a:latin typeface="Arial"/>
                <a:ea typeface="Arial"/>
                <a:cs typeface="Arial"/>
              </a:rPr>
              <a:t>FID: 15.7047 → 17.1708
Δ = +1.4660 · worse
R: 76.84% → 79.10%
Δ = +2.253 pp · better</a:t>
            </a:r>
            <a:endParaRPr sz="1150"/>
          </a:p>
        </p:txBody>
      </p:sp>
      <p:sp>
        <p:nvSpPr>
          <p:cNvPr id="10" name="Shape 8">
            <a:extLst xmlns:a="http://schemas.openxmlformats.org/drawingml/2006/main">
              <a:ext uri="{FF2B5EF4-FFF2-40B4-BE49-F238E27FC236}">
                <a16:creationId xmlns:a16="http://schemas.microsoft.com/office/drawing/2014/main" id="{C5B43479-84BF-450A-8CB1-E203678106B3}"/>
              </a:ext>
            </a:extLst>
          </p:cNvPr>
          <p:cNvSpPr>
            <a:spLocks xmlns:a="http://schemas.openxmlformats.org/drawingml/2006/main" noGrp="1"/>
          </p:cNvSpPr>
          <p:nvPr/>
        </p:nvSpPr>
        <p:spPr>
          <a:xfrm xmlns:a="http://schemas.openxmlformats.org/drawingml/2006/main">
            <a:off x="466344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0A67230-E38C-4078-B9C1-8232B31DF0B7}"/>
              </a:ext>
            </a:extLst>
          </p:cNvPr>
          <p:cNvSpPr>
            <a:spLocks xmlns:a="http://schemas.openxmlformats.org/drawingml/2006/main" noGrp="1"/>
          </p:cNvSpPr>
          <p:nvPr/>
        </p:nvSpPr>
        <p:spPr>
          <a:xfrm xmlns:a="http://schemas.openxmlformats.org/drawingml/2006/main">
            <a:off x="4663440" y="1051560"/>
            <a:ext cx="4114800" cy="384048"/>
          </a:xfrm>
          <a:prstGeom xmlns:a="http://schemas.openxmlformats.org/drawingml/2006/main" prst="roundRect">
            <a:avLst>
              <a:gd name="adj" fmla="val 14286"/>
            </a:avLst>
          </a:prstGeom>
          <a:solidFill xmlns:a="http://schemas.openxmlformats.org/drawingml/2006/main">
            <a:srgbClr val="C55A11"/>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93DBB63-AFBF-404D-B369-0B07A2371ADD}"/>
              </a:ext>
            </a:extLst>
          </p:cNvPr>
          <p:cNvSpPr>
            <a:spLocks xmlns:a="http://schemas.openxmlformats.org/drawingml/2006/main" noGrp="1"/>
          </p:cNvSpPr>
          <p:nvPr/>
        </p:nvSpPr>
        <p:spPr>
          <a:xfrm xmlns:a="http://schemas.openxmlformats.org/drawingml/2006/main">
            <a:off x="466344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MDD · AT MEAN</a:t>
            </a:r>
            <a:endParaRPr sz="1250"/>
          </a:p>
        </p:txBody>
      </p:sp>
      <p:sp>
        <p:nvSpPr>
          <p:cNvPr id="13" name="Text 11">
            <a:extLst xmlns:a="http://schemas.openxmlformats.org/drawingml/2006/main">
              <a:ext uri="{FF2B5EF4-FFF2-40B4-BE49-F238E27FC236}">
                <a16:creationId xmlns:a16="http://schemas.microsoft.com/office/drawing/2014/main" id="{9A136CF3-5921-4AA1-8C00-40146DBD2329}"/>
              </a:ext>
            </a:extLst>
          </p:cNvPr>
          <p:cNvSpPr>
            <a:spLocks xmlns:a="http://schemas.openxmlformats.org/drawingml/2006/main" noGrp="1"/>
          </p:cNvSpPr>
          <p:nvPr/>
        </p:nvSpPr>
        <p:spPr>
          <a:xfrm xmlns:a="http://schemas.openxmlformats.org/drawingml/2006/main">
            <a:off x="482803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50">
                <a:solidFill>
                  <a:srgbClr val="1F2937"/>
                </a:solidFill>
                <a:latin typeface="Arial"/>
                <a:ea typeface="Arial"/>
                <a:cs typeface="Arial"/>
              </a:rPr>
              <a:t>FID 16.1543
R-precision 79.77%
vs mean DM-GAN:
FID −1.016 · R +0.673 pp</a:t>
            </a:r>
            <a:endParaRPr sz="1150"/>
          </a:p>
        </p:txBody>
      </p:sp>
      <p:sp>
        <p:nvSpPr>
          <p:cNvPr id="14" name="Shape 12">
            <a:extLst xmlns:a="http://schemas.openxmlformats.org/drawingml/2006/main">
              <a:ext uri="{FF2B5EF4-FFF2-40B4-BE49-F238E27FC236}">
                <a16:creationId xmlns:a16="http://schemas.microsoft.com/office/drawing/2014/main" id="{698F6D3F-65A2-4063-970C-672547457398}"/>
              </a:ext>
            </a:extLst>
          </p:cNvPr>
          <p:cNvSpPr>
            <a:spLocks xmlns:a="http://schemas.openxmlformats.org/drawingml/2006/main" noGrp="1"/>
          </p:cNvSpPr>
          <p:nvPr/>
        </p:nvSpPr>
        <p:spPr>
          <a:xfrm xmlns:a="http://schemas.openxmlformats.org/drawingml/2006/main">
            <a:off x="365760" y="3200400"/>
            <a:ext cx="8412480" cy="1051560"/>
          </a:xfrm>
          <a:prstGeom xmlns:a="http://schemas.openxmlformats.org/drawingml/2006/main" prst="roundRect">
            <a:avLst>
              <a:gd name="adj" fmla="val 5217"/>
            </a:avLst>
          </a:prstGeom>
          <a:solidFill xmlns:a="http://schemas.openxmlformats.org/drawingml/2006/main">
            <a:srgbClr val="E8EEF7"/>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3B7523DB-1162-4458-A8C5-9F39F60753E3}"/>
              </a:ext>
            </a:extLst>
          </p:cNvPr>
          <p:cNvSpPr>
            <a:spLocks xmlns:a="http://schemas.openxmlformats.org/drawingml/2006/main" noGrp="1"/>
          </p:cNvSpPr>
          <p:nvPr/>
        </p:nvSpPr>
        <p:spPr>
          <a:xfrm xmlns:a="http://schemas.openxmlformats.org/drawingml/2006/main">
            <a:off x="548640" y="3310128"/>
            <a:ext cx="80467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F3864"/>
                </a:solidFill>
                <a:latin typeface="Arial"/>
                <a:ea typeface="Arial"/>
                <a:cs typeface="Arial"/>
              </a:rPr>
              <a:t>INTERPRETATION</a:t>
            </a:r>
            <a:endParaRPr sz="1250"/>
          </a:p>
        </p:txBody>
      </p:sp>
      <p:sp>
        <p:nvSpPr>
          <p:cNvPr id="16" name="Text 14">
            <a:extLst xmlns:a="http://schemas.openxmlformats.org/drawingml/2006/main">
              <a:ext uri="{FF2B5EF4-FFF2-40B4-BE49-F238E27FC236}">
                <a16:creationId xmlns:a16="http://schemas.microsoft.com/office/drawing/2014/main" id="{19B8858B-0D95-4C89-8B99-F82B974E1D2A}"/>
              </a:ext>
            </a:extLst>
          </p:cNvPr>
          <p:cNvSpPr>
            <a:spLocks xmlns:a="http://schemas.openxmlformats.org/drawingml/2006/main" noGrp="1"/>
          </p:cNvSpPr>
          <p:nvPr/>
        </p:nvSpPr>
        <p:spPr>
          <a:xfrm xmlns:a="http://schemas.openxmlformats.org/drawingml/2006/main">
            <a:off x="548640" y="3630168"/>
            <a:ext cx="8046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50">
                <a:solidFill>
                  <a:srgbClr val="1F2937"/>
                </a:solidFill>
                <a:latin typeface="Arial"/>
                <a:ea typeface="Arial"/>
                <a:cs typeface="Arial"/>
              </a:rPr>
              <a:t>The conditioning policy explains the reversal. The matched-mean result is the controlled checkpoint comparison.</a:t>
            </a:r>
            <a:endParaRPr sz="1150"/>
          </a:p>
        </p:txBody>
      </p:sp>
      <p:sp>
        <p:nvSpPr>
          <p:cNvPr id="17" name="Text 15">
            <a:extLst xmlns:a="http://schemas.openxmlformats.org/drawingml/2006/main">
              <a:ext uri="{FF2B5EF4-FFF2-40B4-BE49-F238E27FC236}">
                <a16:creationId xmlns:a16="http://schemas.microsoft.com/office/drawing/2014/main" id="{2EC6DB93-7D28-4417-98CD-8923EF138480}"/>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12 / 15</a:t>
            </a:r>
            <a:endParaRPr sz="900"/>
          </a:p>
        </p:txBody>
      </p:sp>
      <p:sp>
        <p:nvSpPr>
          <p:cNvPr id="18" name="Shape 16">
            <a:extLst xmlns:a="http://schemas.openxmlformats.org/drawingml/2006/main">
              <a:ext uri="{FF2B5EF4-FFF2-40B4-BE49-F238E27FC236}">
                <a16:creationId xmlns:a16="http://schemas.microsoft.com/office/drawing/2014/main" id="{84555E5B-078E-493D-AD28-7D2608621E18}"/>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55C9039F-C1CA-4D5F-AB9B-8D239443A79A}"/>
              </a:ext>
            </a:extLst>
          </p:cNvPr>
          <p:cNvSpPr>
            <a:spLocks xmlns:a="http://schemas.openxmlformats.org/drawingml/2006/main" noGrp="1"/>
          </p:cNvSpPr>
          <p:nvPr/>
        </p:nvSpPr>
        <p:spPr>
          <a:xfrm xmlns:a="http://schemas.openxmlformats.org/drawingml/2006/main">
            <a:off x="7955280" y="4864608"/>
            <a:ext cx="506437"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0363772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4DB82D0-6891-4AB5-BE2E-438155B74737}"/>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FFC4E628-D939-4507-9B6A-668DDDB4B5B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12</a:t>
            </a:r>
            <a:endParaRPr sz="1700"/>
          </a:p>
        </p:txBody>
      </p:sp>
      <p:sp>
        <p:nvSpPr>
          <p:cNvPr id="4" name="Text 2">
            <a:extLst xmlns:a="http://schemas.openxmlformats.org/drawingml/2006/main">
              <a:ext uri="{FF2B5EF4-FFF2-40B4-BE49-F238E27FC236}">
                <a16:creationId xmlns:a16="http://schemas.microsoft.com/office/drawing/2014/main" id="{179CECD0-2166-4B08-959D-7B0B0360D36F}"/>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75" b="1">
                <a:solidFill>
                  <a:srgbClr val="1F2937"/>
                </a:solidFill>
                <a:latin typeface="Arial"/>
                <a:ea typeface="Arial"/>
                <a:cs typeface="Arial"/>
              </a:rPr>
              <a:t>Other Successors Confirm Why One Metric Is Not Enough</a:t>
            </a:r>
            <a:endParaRPr sz="2100"/>
          </a:p>
        </p:txBody>
      </p:sp>
      <p:sp>
        <p:nvSpPr>
          <p:cNvPr id="5" name="Text 3">
            <a:extLst xmlns:a="http://schemas.openxmlformats.org/drawingml/2006/main">
              <a:ext uri="{FF2B5EF4-FFF2-40B4-BE49-F238E27FC236}">
                <a16:creationId xmlns:a16="http://schemas.microsoft.com/office/drawing/2014/main" id="{A6CF5A49-AF1A-4581-8402-0F52FBFF43F4}"/>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Fixed first MDD cases · baseline left, MDD right · not quality-ranked</a:t>
            </a:r>
            <a:endParaRPr sz="1150"/>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0fbaf82a388147bf"/>
          <a:srcRect xmlns:a="http://schemas.openxmlformats.org/drawingml/2006/main" l="337" t="0" r="337" b="0"/>
          <a:stretch xmlns:a="http://schemas.openxmlformats.org/drawingml/2006/main">
            <a:fillRect l="0" t="0" r="0" b="0"/>
          </a:stretch>
        </p:blipFill>
        <p:spPr>
          <a:xfrm xmlns:a="http://schemas.openxmlformats.org/drawingml/2006/main">
            <a:off x="1152930" y="914400"/>
            <a:ext cx="6838141" cy="1714500"/>
          </a:xfrm>
          <a:prstGeom xmlns:a="http://schemas.openxmlformats.org/drawingml/2006/main" prst="rect">
            <a:avLst/>
          </a:prstGeom>
        </p:spPr>
      </p:pic>
      <p:sp>
        <p:nvSpPr>
          <p:cNvPr id="12" name="Shape 9">
            <a:extLst xmlns:a="http://schemas.openxmlformats.org/drawingml/2006/main">
              <a:ext uri="{FF2B5EF4-FFF2-40B4-BE49-F238E27FC236}">
                <a16:creationId xmlns:a16="http://schemas.microsoft.com/office/drawing/2014/main" id="{E71F0BD6-95FD-47E4-A7D6-A4F8B8BDC67B}"/>
              </a:ext>
            </a:extLst>
          </p:cNvPr>
          <p:cNvSpPr>
            <a:spLocks xmlns:a="http://schemas.openxmlformats.org/drawingml/2006/main" noGrp="1"/>
          </p:cNvSpPr>
          <p:nvPr/>
        </p:nvSpPr>
        <p:spPr>
          <a:xfrm xmlns:a="http://schemas.openxmlformats.org/drawingml/2006/main">
            <a:off x="365760" y="2606040"/>
            <a:ext cx="3931920" cy="1691640"/>
          </a:xfrm>
          <a:prstGeom xmlns:a="http://schemas.openxmlformats.org/drawingml/2006/main" prst="roundRect">
            <a:avLst>
              <a:gd name="adj" fmla="val 3243"/>
            </a:avLst>
          </a:prstGeom>
          <a:solidFill xmlns:a="http://schemas.openxmlformats.org/drawingml/2006/main">
            <a:srgbClr val="E8EEF7"/>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6A7B28F2-968F-408C-8F74-9032CA47A4B8}"/>
              </a:ext>
            </a:extLst>
          </p:cNvPr>
          <p:cNvSpPr>
            <a:spLocks xmlns:a="http://schemas.openxmlformats.org/drawingml/2006/main" noGrp="1"/>
          </p:cNvSpPr>
          <p:nvPr/>
        </p:nvSpPr>
        <p:spPr>
          <a:xfrm xmlns:a="http://schemas.openxmlformats.org/drawingml/2006/main">
            <a:off x="502920" y="2697480"/>
            <a:ext cx="37033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F3864"/>
                </a:solidFill>
                <a:latin typeface="Arial"/>
                <a:ea typeface="Arial"/>
                <a:cs typeface="Arial"/>
              </a:rPr>
              <a:t>SECONDARY CHECKS</a:t>
            </a:r>
            <a:endParaRPr sz="1200"/>
          </a:p>
        </p:txBody>
      </p:sp>
      <p:sp>
        <p:nvSpPr>
          <p:cNvPr id="14" name="Text 11">
            <a:extLst xmlns:a="http://schemas.openxmlformats.org/drawingml/2006/main">
              <a:ext uri="{FF2B5EF4-FFF2-40B4-BE49-F238E27FC236}">
                <a16:creationId xmlns:a16="http://schemas.microsoft.com/office/drawing/2014/main" id="{735485C1-8A36-4D2F-A3F4-EF52DE506B71}"/>
              </a:ext>
            </a:extLst>
          </p:cNvPr>
          <p:cNvSpPr>
            <a:spLocks xmlns:a="http://schemas.openxmlformats.org/drawingml/2006/main" noGrp="1"/>
          </p:cNvSpPr>
          <p:nvPr/>
        </p:nvSpPr>
        <p:spPr>
          <a:xfrm xmlns:a="http://schemas.openxmlformats.org/drawingml/2006/main">
            <a:off x="502920" y="3035808"/>
            <a:ext cx="3703320" cy="1188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200"/>
              </a:lnSpc>
              <a:buNone/>
            </a:pPr>
            <a:r>
              <a:rPr sz="1100" b="1">
                <a:solidFill>
                  <a:srgbClr val="1F3864"/>
                </a:solidFill>
                <a:latin typeface="Arial"/>
                <a:ea typeface="Arial"/>
                <a:cs typeface="Arial"/>
              </a:rPr>
              <a:t>DM-GAN+CL: ΔFID −1.061 · ΔR −5.55 pp
DAE-GAN: ΔFID +6.287 · ΔR +9.70 pp
Both are trade-offs.</a:t>
            </a:r>
            <a:endParaRPr sz="1100"/>
          </a:p>
        </p:txBody>
      </p:sp>
      <p:sp>
        <p:nvSpPr>
          <p:cNvPr id="15" name="Shape 12">
            <a:extLst xmlns:a="http://schemas.openxmlformats.org/drawingml/2006/main">
              <a:ext uri="{FF2B5EF4-FFF2-40B4-BE49-F238E27FC236}">
                <a16:creationId xmlns:a16="http://schemas.microsoft.com/office/drawing/2014/main" id="{CC991CC7-EF31-4C13-9803-71A1294255E5}"/>
              </a:ext>
            </a:extLst>
          </p:cNvPr>
          <p:cNvSpPr>
            <a:spLocks xmlns:a="http://schemas.openxmlformats.org/drawingml/2006/main" noGrp="1"/>
          </p:cNvSpPr>
          <p:nvPr/>
        </p:nvSpPr>
        <p:spPr>
          <a:xfrm xmlns:a="http://schemas.openxmlformats.org/drawingml/2006/main">
            <a:off x="4617720" y="3474720"/>
            <a:ext cx="4160520" cy="731520"/>
          </a:xfrm>
          <a:prstGeom xmlns:a="http://schemas.openxmlformats.org/drawingml/2006/main" prst="roundRect">
            <a:avLst>
              <a:gd name="adj" fmla="val 7500"/>
            </a:avLst>
          </a:prstGeom>
          <a:solidFill xmlns:a="http://schemas.openxmlformats.org/drawingml/2006/main">
            <a:srgbClr val="E8EEF7"/>
          </a:solidFill>
          <a:ln xmlns:a="http://schemas.openxmlformats.org/drawingml/2006/main" w="12700">
            <a:solidFill>
              <a:srgbClr val="0E7C7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410DC54F-C4DF-4C35-92D2-B846F7A6FE2A}"/>
              </a:ext>
            </a:extLst>
          </p:cNvPr>
          <p:cNvSpPr>
            <a:spLocks xmlns:a="http://schemas.openxmlformats.org/drawingml/2006/main" noGrp="1"/>
          </p:cNvSpPr>
          <p:nvPr/>
        </p:nvSpPr>
        <p:spPr>
          <a:xfrm xmlns:a="http://schemas.openxmlformats.org/drawingml/2006/main">
            <a:off x="4736592" y="3547872"/>
            <a:ext cx="3931920" cy="5852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100"/>
              </a:lnSpc>
              <a:buNone/>
            </a:pPr>
            <a:r>
              <a:rPr sz="1000" i="1">
                <a:solidFill>
                  <a:srgbClr val="1F2937"/>
                </a:solidFill>
                <a:latin typeface="Arial"/>
                <a:ea typeface="Arial"/>
                <a:cs typeface="Arial"/>
              </a:rPr>
              <a:t>Local CL2 · 3-seed mean: ΔFID −0.038 ± 0.079 · ΔR +0.058 ± 0.093 pp · 2/3 pass · MIXED</a:t>
            </a:r>
            <a:endParaRPr sz="1000"/>
          </a:p>
        </p:txBody>
      </p:sp>
      <p:sp>
        <p:nvSpPr>
          <p:cNvPr id="17" name="Text 14">
            <a:extLst xmlns:a="http://schemas.openxmlformats.org/drawingml/2006/main">
              <a:ext uri="{FF2B5EF4-FFF2-40B4-BE49-F238E27FC236}">
                <a16:creationId xmlns:a16="http://schemas.microsoft.com/office/drawing/2014/main" id="{02EC6E58-54C7-49E1-AF72-466AB39823B1}"/>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13 / 15</a:t>
            </a:r>
            <a:endParaRPr sz="900"/>
          </a:p>
        </p:txBody>
      </p:sp>
      <p:sp>
        <p:nvSpPr>
          <p:cNvPr id="18" name="Shape 15">
            <a:extLst xmlns:a="http://schemas.openxmlformats.org/drawingml/2006/main">
              <a:ext uri="{FF2B5EF4-FFF2-40B4-BE49-F238E27FC236}">
                <a16:creationId xmlns:a16="http://schemas.microsoft.com/office/drawing/2014/main" id="{3349BC4C-F591-486D-96E7-3BD830A105F3}"/>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C18D53C2-8212-4B2C-83B1-C7AF1853E8AE}"/>
              </a:ext>
            </a:extLst>
          </p:cNvPr>
          <p:cNvSpPr>
            <a:spLocks xmlns:a="http://schemas.openxmlformats.org/drawingml/2006/main" noGrp="1"/>
          </p:cNvSpPr>
          <p:nvPr/>
        </p:nvSpPr>
        <p:spPr>
          <a:xfrm xmlns:a="http://schemas.openxmlformats.org/drawingml/2006/main">
            <a:off x="7955280" y="4864608"/>
            <a:ext cx="696351"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1424256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CF48FBC-5516-46E8-B1B3-4422E39ABF29}"/>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3935D704-B055-41E6-A77E-B865147F474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13</a:t>
            </a:r>
            <a:endParaRPr sz="1700"/>
          </a:p>
        </p:txBody>
      </p:sp>
      <p:sp>
        <p:nvSpPr>
          <p:cNvPr id="4" name="Text 2">
            <a:extLst xmlns:a="http://schemas.openxmlformats.org/drawingml/2006/main">
              <a:ext uri="{FF2B5EF4-FFF2-40B4-BE49-F238E27FC236}">
                <a16:creationId xmlns:a16="http://schemas.microsoft.com/office/drawing/2014/main" id="{B17940FC-87FD-4A32-A243-064BB3F757A9}"/>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25" b="1">
                <a:solidFill>
                  <a:srgbClr val="1F2937"/>
                </a:solidFill>
                <a:latin typeface="Arial"/>
                <a:ea typeface="Arial"/>
                <a:cs typeface="Arial"/>
              </a:rPr>
              <a:t>The MDD Win Is Real for This Protocol, Not Universal</a:t>
            </a:r>
            <a:endParaRPr sz="2100"/>
          </a:p>
        </p:txBody>
      </p:sp>
      <p:sp>
        <p:nvSpPr>
          <p:cNvPr id="5" name="Text 3">
            <a:extLst xmlns:a="http://schemas.openxmlformats.org/drawingml/2006/main">
              <a:ext uri="{FF2B5EF4-FFF2-40B4-BE49-F238E27FC236}">
                <a16:creationId xmlns:a16="http://schemas.microsoft.com/office/drawing/2014/main" id="{292556EE-53A4-4EE5-B725-48E2FF45ADA1}"/>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A strong checkpoint result with explicit boundaries</a:t>
            </a:r>
            <a:endParaRPr sz="1150"/>
          </a:p>
        </p:txBody>
      </p:sp>
      <p:sp>
        <p:nvSpPr>
          <p:cNvPr id="6" name="Shape 4">
            <a:extLst xmlns:a="http://schemas.openxmlformats.org/drawingml/2006/main">
              <a:ext uri="{FF2B5EF4-FFF2-40B4-BE49-F238E27FC236}">
                <a16:creationId xmlns:a16="http://schemas.microsoft.com/office/drawing/2014/main" id="{EE1C6AEA-F400-482A-8C22-74E93EF3E8E1}"/>
              </a:ext>
            </a:extLst>
          </p:cNvPr>
          <p:cNvSpPr>
            <a:spLocks xmlns:a="http://schemas.openxmlformats.org/drawingml/2006/main" noGrp="1"/>
          </p:cNvSpPr>
          <p:nvPr/>
        </p:nvSpPr>
        <p:spPr>
          <a:xfrm xmlns:a="http://schemas.openxmlformats.org/drawingml/2006/main">
            <a:off x="36576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40A6FFFA-C25D-4F23-9DDA-7579C5B30542}"/>
              </a:ext>
            </a:extLst>
          </p:cNvPr>
          <p:cNvSpPr>
            <a:spLocks xmlns:a="http://schemas.openxmlformats.org/drawingml/2006/main" noGrp="1"/>
          </p:cNvSpPr>
          <p:nvPr/>
        </p:nvSpPr>
        <p:spPr>
          <a:xfrm xmlns:a="http://schemas.openxmlformats.org/drawingml/2006/main">
            <a:off x="365760" y="1051560"/>
            <a:ext cx="411480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5E21CAE-E99E-4449-9483-ABFCB6C9837A}"/>
              </a:ext>
            </a:extLst>
          </p:cNvPr>
          <p:cNvSpPr>
            <a:spLocks xmlns:a="http://schemas.openxmlformats.org/drawingml/2006/main" noGrp="1"/>
          </p:cNvSpPr>
          <p:nvPr/>
        </p:nvSpPr>
        <p:spPr>
          <a:xfrm xmlns:a="http://schemas.openxmlformats.org/drawingml/2006/main">
            <a:off x="36576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SUPPORTED</a:t>
            </a:r>
            <a:endParaRPr sz="1250"/>
          </a:p>
        </p:txBody>
      </p:sp>
      <p:sp>
        <p:nvSpPr>
          <p:cNvPr id="9" name="Text 7">
            <a:extLst xmlns:a="http://schemas.openxmlformats.org/drawingml/2006/main">
              <a:ext uri="{FF2B5EF4-FFF2-40B4-BE49-F238E27FC236}">
                <a16:creationId xmlns:a16="http://schemas.microsoft.com/office/drawing/2014/main" id="{F219D6E4-CED7-414C-BEEA-1FE492CA9AE8}"/>
              </a:ext>
            </a:extLst>
          </p:cNvPr>
          <p:cNvSpPr>
            <a:spLocks xmlns:a="http://schemas.openxmlformats.org/drawingml/2006/main" noGrp="1"/>
          </p:cNvSpPr>
          <p:nvPr/>
        </p:nvSpPr>
        <p:spPr>
          <a:xfrm xmlns:a="http://schemas.openxmlformats.org/drawingml/2006/main">
            <a:off x="53035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300"/>
              </a:lnSpc>
              <a:buNone/>
            </a:pPr>
            <a:r>
              <a:rPr sz="1150" b="1">
                <a:solidFill>
                  <a:srgbClr val="0E7C7B"/>
                </a:solidFill>
                <a:latin typeface="Arial"/>
                <a:ea typeface="Arial"/>
                <a:cs typeface="Arial"/>
              </a:rPr>
              <a:t>30k matched-mean comparison
FID improves by 1.016
R improves by 0.67 pp
R 95% CI stays above zero</a:t>
            </a:r>
            <a:endParaRPr sz="1150"/>
          </a:p>
        </p:txBody>
      </p:sp>
      <p:sp>
        <p:nvSpPr>
          <p:cNvPr id="10" name="Shape 8">
            <a:extLst xmlns:a="http://schemas.openxmlformats.org/drawingml/2006/main">
              <a:ext uri="{FF2B5EF4-FFF2-40B4-BE49-F238E27FC236}">
                <a16:creationId xmlns:a16="http://schemas.microsoft.com/office/drawing/2014/main" id="{C5B43479-84BF-450A-8CB1-E203678106B3}"/>
              </a:ext>
            </a:extLst>
          </p:cNvPr>
          <p:cNvSpPr>
            <a:spLocks xmlns:a="http://schemas.openxmlformats.org/drawingml/2006/main" noGrp="1"/>
          </p:cNvSpPr>
          <p:nvPr/>
        </p:nvSpPr>
        <p:spPr>
          <a:xfrm xmlns:a="http://schemas.openxmlformats.org/drawingml/2006/main">
            <a:off x="4663440" y="1051560"/>
            <a:ext cx="4114800" cy="1965960"/>
          </a:xfrm>
          <a:prstGeom xmlns:a="http://schemas.openxmlformats.org/drawingml/2006/main" prst="roundRect">
            <a:avLst>
              <a:gd name="adj" fmla="val 2791"/>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0A67230-E38C-4078-B9C1-8232B31DF0B7}"/>
              </a:ext>
            </a:extLst>
          </p:cNvPr>
          <p:cNvSpPr>
            <a:spLocks xmlns:a="http://schemas.openxmlformats.org/drawingml/2006/main" noGrp="1"/>
          </p:cNvSpPr>
          <p:nvPr/>
        </p:nvSpPr>
        <p:spPr>
          <a:xfrm xmlns:a="http://schemas.openxmlformats.org/drawingml/2006/main">
            <a:off x="4663440" y="1051560"/>
            <a:ext cx="4114800" cy="384048"/>
          </a:xfrm>
          <a:prstGeom xmlns:a="http://schemas.openxmlformats.org/drawingml/2006/main" prst="roundRect">
            <a:avLst>
              <a:gd name="adj" fmla="val 14286"/>
            </a:avLst>
          </a:prstGeom>
          <a:solidFill xmlns:a="http://schemas.openxmlformats.org/drawingml/2006/main">
            <a:srgbClr val="C55A11"/>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93DBB63-AFBF-404D-B369-0B07A2371ADD}"/>
              </a:ext>
            </a:extLst>
          </p:cNvPr>
          <p:cNvSpPr>
            <a:spLocks xmlns:a="http://schemas.openxmlformats.org/drawingml/2006/main" noGrp="1"/>
          </p:cNvSpPr>
          <p:nvPr/>
        </p:nvSpPr>
        <p:spPr>
          <a:xfrm xmlns:a="http://schemas.openxmlformats.org/drawingml/2006/main">
            <a:off x="4663440" y="1097280"/>
            <a:ext cx="4114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NOT SUPPORTED</a:t>
            </a:r>
            <a:endParaRPr sz="1250"/>
          </a:p>
        </p:txBody>
      </p:sp>
      <p:sp>
        <p:nvSpPr>
          <p:cNvPr id="13" name="Text 11">
            <a:extLst xmlns:a="http://schemas.openxmlformats.org/drawingml/2006/main">
              <a:ext uri="{FF2B5EF4-FFF2-40B4-BE49-F238E27FC236}">
                <a16:creationId xmlns:a16="http://schemas.microsoft.com/office/drawing/2014/main" id="{9A136CF3-5921-4AA1-8C00-40146DBD2329}"/>
              </a:ext>
            </a:extLst>
          </p:cNvPr>
          <p:cNvSpPr>
            <a:spLocks xmlns:a="http://schemas.openxmlformats.org/drawingml/2006/main" noGrp="1"/>
          </p:cNvSpPr>
          <p:nvPr/>
        </p:nvSpPr>
        <p:spPr>
          <a:xfrm xmlns:a="http://schemas.openxmlformats.org/drawingml/2006/main">
            <a:off x="4828032" y="1536192"/>
            <a:ext cx="3785616"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50">
                <a:solidFill>
                  <a:srgbClr val="1F2937"/>
                </a:solidFill>
                <a:latin typeface="Arial"/>
                <a:ea typeface="Arial"/>
                <a:cs typeface="Arial"/>
              </a:rPr>
              <a:t>Dominance under native defaults
Isolated causal effect of MDD loss
Full retraining
Multi-seed checkpoint variance</a:t>
            </a:r>
            <a:endParaRPr sz="1150"/>
          </a:p>
        </p:txBody>
      </p:sp>
      <p:sp>
        <p:nvSpPr>
          <p:cNvPr id="14" name="Shape 12">
            <a:extLst xmlns:a="http://schemas.openxmlformats.org/drawingml/2006/main">
              <a:ext uri="{FF2B5EF4-FFF2-40B4-BE49-F238E27FC236}">
                <a16:creationId xmlns:a16="http://schemas.microsoft.com/office/drawing/2014/main" id="{698F6D3F-65A2-4063-970C-672547457398}"/>
              </a:ext>
            </a:extLst>
          </p:cNvPr>
          <p:cNvSpPr>
            <a:spLocks xmlns:a="http://schemas.openxmlformats.org/drawingml/2006/main" noGrp="1"/>
          </p:cNvSpPr>
          <p:nvPr/>
        </p:nvSpPr>
        <p:spPr>
          <a:xfrm xmlns:a="http://schemas.openxmlformats.org/drawingml/2006/main">
            <a:off x="365760" y="3200400"/>
            <a:ext cx="8412480" cy="1051560"/>
          </a:xfrm>
          <a:prstGeom xmlns:a="http://schemas.openxmlformats.org/drawingml/2006/main" prst="roundRect">
            <a:avLst>
              <a:gd name="adj" fmla="val 5217"/>
            </a:avLst>
          </a:prstGeom>
          <a:solidFill xmlns:a="http://schemas.openxmlformats.org/drawingml/2006/main">
            <a:srgbClr val="E8EEF7"/>
          </a:solidFill>
          <a:ln xmlns:a="http://schemas.openxmlformats.org/drawingml/2006/main" w="12700">
            <a:solidFill>
              <a:srgbClr val="1F386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3B7523DB-1162-4458-A8C5-9F39F60753E3}"/>
              </a:ext>
            </a:extLst>
          </p:cNvPr>
          <p:cNvSpPr>
            <a:spLocks xmlns:a="http://schemas.openxmlformats.org/drawingml/2006/main" noGrp="1"/>
          </p:cNvSpPr>
          <p:nvPr/>
        </p:nvSpPr>
        <p:spPr>
          <a:xfrm xmlns:a="http://schemas.openxmlformats.org/drawingml/2006/main">
            <a:off x="548640" y="3310128"/>
            <a:ext cx="80467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F3864"/>
                </a:solidFill>
                <a:latin typeface="Arial"/>
                <a:ea typeface="Arial"/>
                <a:cs typeface="Arial"/>
              </a:rPr>
              <a:t>EVALUATION LIMITS</a:t>
            </a:r>
            <a:endParaRPr sz="1250"/>
          </a:p>
        </p:txBody>
      </p:sp>
      <p:sp>
        <p:nvSpPr>
          <p:cNvPr id="16" name="Text 14">
            <a:extLst xmlns:a="http://schemas.openxmlformats.org/drawingml/2006/main">
              <a:ext uri="{FF2B5EF4-FFF2-40B4-BE49-F238E27FC236}">
                <a16:creationId xmlns:a16="http://schemas.microsoft.com/office/drawing/2014/main" id="{19B8858B-0D95-4C89-8B99-F82B974E1D2A}"/>
              </a:ext>
            </a:extLst>
          </p:cNvPr>
          <p:cNvSpPr>
            <a:spLocks xmlns:a="http://schemas.openxmlformats.org/drawingml/2006/main" noGrp="1"/>
          </p:cNvSpPr>
          <p:nvPr/>
        </p:nvSpPr>
        <p:spPr>
          <a:xfrm xmlns:a="http://schemas.openxmlformats.org/drawingml/2006/main">
            <a:off x="548640" y="3630168"/>
            <a:ext cx="8046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50">
                <a:solidFill>
                  <a:srgbClr val="1F2937"/>
                </a:solidFill>
                <a:latin typeface="Arial"/>
                <a:ea typeface="Arial"/>
                <a:cs typeface="Arial"/>
              </a:rPr>
              <a:t>Frozen DAMSM-family R judge · one checkpoint pair/seed · corrected mask differs from legacy batches · caption bank wraps after 29,330 rows.</a:t>
            </a:r>
            <a:endParaRPr sz="1150"/>
          </a:p>
        </p:txBody>
      </p:sp>
      <p:sp>
        <p:nvSpPr>
          <p:cNvPr id="17" name="Text 15">
            <a:extLst xmlns:a="http://schemas.openxmlformats.org/drawingml/2006/main">
              <a:ext uri="{FF2B5EF4-FFF2-40B4-BE49-F238E27FC236}">
                <a16:creationId xmlns:a16="http://schemas.microsoft.com/office/drawing/2014/main" id="{2EC6DB93-7D28-4417-98CD-8923EF138480}"/>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14 / 15</a:t>
            </a:r>
            <a:endParaRPr sz="900"/>
          </a:p>
        </p:txBody>
      </p:sp>
      <p:sp>
        <p:nvSpPr>
          <p:cNvPr id="18" name="Shape 16">
            <a:extLst xmlns:a="http://schemas.openxmlformats.org/drawingml/2006/main">
              <a:ext uri="{FF2B5EF4-FFF2-40B4-BE49-F238E27FC236}">
                <a16:creationId xmlns:a16="http://schemas.microsoft.com/office/drawing/2014/main" id="{84555E5B-078E-493D-AD28-7D2608621E18}"/>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55C9039F-C1CA-4D5F-AB9B-8D239443A79A}"/>
              </a:ext>
            </a:extLst>
          </p:cNvPr>
          <p:cNvSpPr>
            <a:spLocks xmlns:a="http://schemas.openxmlformats.org/drawingml/2006/main" noGrp="1"/>
          </p:cNvSpPr>
          <p:nvPr/>
        </p:nvSpPr>
        <p:spPr>
          <a:xfrm xmlns:a="http://schemas.openxmlformats.org/drawingml/2006/main">
            <a:off x="7955280" y="4864608"/>
            <a:ext cx="506437"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0363772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417A1D-6FAB-4A41-A109-02A1F447908F}"/>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880C3012-33CB-48EF-A0E0-F7A92D79FCE4}"/>
              </a:ext>
            </a:extLst>
          </p:cNvPr>
          <p:cNvSpPr>
            <a:spLocks xmlns:a="http://schemas.openxmlformats.org/drawingml/2006/main" noGrp="1"/>
          </p:cNvSpPr>
          <p:nvPr/>
        </p:nvSpPr>
        <p:spPr>
          <a:xfrm xmlns:a="http://schemas.openxmlformats.org/drawingml/2006/main">
            <a:off x="365760" y="274320"/>
            <a:ext cx="457200"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Arial"/>
                <a:ea typeface="Arial"/>
                <a:cs typeface="Arial"/>
              </a:rPr>
              <a:t>14</a:t>
            </a:r>
            <a:endParaRPr sz="1700"/>
          </a:p>
        </p:txBody>
      </p:sp>
      <p:sp>
        <p:nvSpPr>
          <p:cNvPr id="4" name="Text 2">
            <a:extLst xmlns:a="http://schemas.openxmlformats.org/drawingml/2006/main">
              <a:ext uri="{FF2B5EF4-FFF2-40B4-BE49-F238E27FC236}">
                <a16:creationId xmlns:a16="http://schemas.microsoft.com/office/drawing/2014/main" id="{46CECB0B-C8E2-45AA-A05C-05259BA80FDD}"/>
              </a:ext>
            </a:extLst>
          </p:cNvPr>
          <p:cNvSpPr>
            <a:spLocks xmlns:a="http://schemas.openxmlformats.org/drawingml/2006/main" noGrp="1"/>
          </p:cNvSpPr>
          <p:nvPr/>
        </p:nvSpPr>
        <p:spPr>
          <a:xfrm xmlns:a="http://schemas.openxmlformats.org/drawingml/2006/main">
            <a:off x="960120" y="201168"/>
            <a:ext cx="7680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50" b="1">
                <a:solidFill>
                  <a:srgbClr val="1F2937"/>
                </a:solidFill>
                <a:latin typeface="Arial"/>
                <a:ea typeface="Arial"/>
                <a:cs typeface="Arial"/>
              </a:rPr>
              <a:t>Choose DM-GAN-MDD Under Matched Mean—Then Test Diversity</a:t>
            </a:r>
            <a:endParaRPr sz="2100"/>
          </a:p>
        </p:txBody>
      </p:sp>
      <p:sp>
        <p:nvSpPr>
          <p:cNvPr id="5" name="Text 3">
            <a:extLst xmlns:a="http://schemas.openxmlformats.org/drawingml/2006/main">
              <a:ext uri="{FF2B5EF4-FFF2-40B4-BE49-F238E27FC236}">
                <a16:creationId xmlns:a16="http://schemas.microsoft.com/office/drawing/2014/main" id="{10427EF0-5930-49A0-AB62-0709A314E321}"/>
              </a:ext>
            </a:extLst>
          </p:cNvPr>
          <p:cNvSpPr>
            <a:spLocks xmlns:a="http://schemas.openxmlformats.org/drawingml/2006/main" noGrp="1"/>
          </p:cNvSpPr>
          <p:nvPr/>
        </p:nvSpPr>
        <p:spPr>
          <a:xfrm xmlns:a="http://schemas.openxmlformats.org/drawingml/2006/main">
            <a:off x="960120" y="585216"/>
            <a:ext cx="78638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7280"/>
                </a:solidFill>
                <a:latin typeface="Arial"/>
                <a:ea typeface="Arial"/>
                <a:cs typeface="Arial"/>
              </a:rPr>
              <a:t>The defensible answer is conditional, measured, and reproducible</a:t>
            </a:r>
            <a:endParaRPr sz="1150"/>
          </a:p>
        </p:txBody>
      </p:sp>
      <p:sp>
        <p:nvSpPr>
          <p:cNvPr id="6" name="Shape 4">
            <a:extLst xmlns:a="http://schemas.openxmlformats.org/drawingml/2006/main">
              <a:ext uri="{FF2B5EF4-FFF2-40B4-BE49-F238E27FC236}">
                <a16:creationId xmlns:a16="http://schemas.microsoft.com/office/drawing/2014/main" id="{A838829E-6CF1-41D9-A239-D6C9B25B6353}"/>
              </a:ext>
            </a:extLst>
          </p:cNvPr>
          <p:cNvSpPr>
            <a:spLocks xmlns:a="http://schemas.openxmlformats.org/drawingml/2006/main" noGrp="1"/>
          </p:cNvSpPr>
          <p:nvPr/>
        </p:nvSpPr>
        <p:spPr>
          <a:xfrm xmlns:a="http://schemas.openxmlformats.org/drawingml/2006/main">
            <a:off x="365760" y="1051560"/>
            <a:ext cx="3108960" cy="2103120"/>
          </a:xfrm>
          <a:prstGeom xmlns:a="http://schemas.openxmlformats.org/drawingml/2006/main" prst="roundRect">
            <a:avLst>
              <a:gd name="adj" fmla="val 260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B40910E1-246B-41C5-9719-B69C3ADB3878}"/>
              </a:ext>
            </a:extLst>
          </p:cNvPr>
          <p:cNvSpPr>
            <a:spLocks xmlns:a="http://schemas.openxmlformats.org/drawingml/2006/main" noGrp="1"/>
          </p:cNvSpPr>
          <p:nvPr/>
        </p:nvSpPr>
        <p:spPr>
          <a:xfrm xmlns:a="http://schemas.openxmlformats.org/drawingml/2006/main">
            <a:off x="365760" y="1051560"/>
            <a:ext cx="3108960" cy="384048"/>
          </a:xfrm>
          <a:prstGeom xmlns:a="http://schemas.openxmlformats.org/drawingml/2006/main" prst="roundRect">
            <a:avLst>
              <a:gd name="adj" fmla="val 14286"/>
            </a:avLst>
          </a:prstGeom>
          <a:solidFill xmlns:a="http://schemas.openxmlformats.org/drawingml/2006/main">
            <a:srgbClr val="0E7C7B"/>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D0B7FE7A-F3EE-4DA7-B774-E867623C9B82}"/>
              </a:ext>
            </a:extLst>
          </p:cNvPr>
          <p:cNvSpPr>
            <a:spLocks xmlns:a="http://schemas.openxmlformats.org/drawingml/2006/main" noGrp="1"/>
          </p:cNvSpPr>
          <p:nvPr/>
        </p:nvSpPr>
        <p:spPr>
          <a:xfrm xmlns:a="http://schemas.openxmlformats.org/drawingml/2006/main">
            <a:off x="365760" y="1097280"/>
            <a:ext cx="310896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WHAT WE COMPLETED</a:t>
            </a:r>
            <a:endParaRPr sz="1250"/>
          </a:p>
        </p:txBody>
      </p:sp>
      <p:sp>
        <p:nvSpPr>
          <p:cNvPr id="9" name="Text 7">
            <a:extLst xmlns:a="http://schemas.openxmlformats.org/drawingml/2006/main">
              <a:ext uri="{FF2B5EF4-FFF2-40B4-BE49-F238E27FC236}">
                <a16:creationId xmlns:a16="http://schemas.microsoft.com/office/drawing/2014/main" id="{CC1F2DB2-8C77-4C53-9C1B-729E738B5232}"/>
              </a:ext>
            </a:extLst>
          </p:cNvPr>
          <p:cNvSpPr>
            <a:spLocks xmlns:a="http://schemas.openxmlformats.org/drawingml/2006/main" noGrp="1"/>
          </p:cNvSpPr>
          <p:nvPr/>
        </p:nvSpPr>
        <p:spPr>
          <a:xfrm xmlns:a="http://schemas.openxmlformats.org/drawingml/2006/main">
            <a:off x="530352" y="1536192"/>
            <a:ext cx="2779776" cy="15087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200"/>
              </a:lnSpc>
              <a:buNone/>
            </a:pPr>
            <a:r>
              <a:rPr sz="1200" b="1">
                <a:solidFill>
                  <a:srgbClr val="1F3864"/>
                </a:solidFill>
                <a:latin typeface="Arial"/>
                <a:ea typeface="Arial"/>
                <a:cs typeface="Arial"/>
              </a:rPr>
              <a:t>Credible DM-GAN reproduction
Published-successor search
Strict MDD integration
Two 30k CA protocols
CL and DAE cross-checks</a:t>
            </a:r>
            <a:endParaRPr sz="1200"/>
          </a:p>
        </p:txBody>
      </p:sp>
      <p:sp>
        <p:nvSpPr>
          <p:cNvPr id="10" name="Shape 8">
            <a:extLst xmlns:a="http://schemas.openxmlformats.org/drawingml/2006/main">
              <a:ext uri="{FF2B5EF4-FFF2-40B4-BE49-F238E27FC236}">
                <a16:creationId xmlns:a16="http://schemas.microsoft.com/office/drawing/2014/main" id="{9CB42AC3-6EBF-4C0F-8414-9DCF746DE06D}"/>
              </a:ext>
            </a:extLst>
          </p:cNvPr>
          <p:cNvSpPr>
            <a:spLocks xmlns:a="http://schemas.openxmlformats.org/drawingml/2006/main" noGrp="1"/>
          </p:cNvSpPr>
          <p:nvPr/>
        </p:nvSpPr>
        <p:spPr>
          <a:xfrm xmlns:a="http://schemas.openxmlformats.org/drawingml/2006/main">
            <a:off x="3657600" y="1051560"/>
            <a:ext cx="5120640" cy="2103120"/>
          </a:xfrm>
          <a:prstGeom xmlns:a="http://schemas.openxmlformats.org/drawingml/2006/main" prst="roundRect">
            <a:avLst>
              <a:gd name="adj" fmla="val 2609"/>
            </a:avLst>
          </a:prstGeom>
          <a:solidFill xmlns:a="http://schemas.openxmlformats.org/drawingml/2006/main">
            <a:srgbClr val="F3F6FB"/>
          </a:solidFill>
          <a:ln xmlns:a="http://schemas.openxmlformats.org/drawingml/2006/main" w="12700">
            <a:solidFill>
              <a:srgbClr val="E8EEF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FB9FD1B-42FD-4ED5-A04C-4C738DE9FACA}"/>
              </a:ext>
            </a:extLst>
          </p:cNvPr>
          <p:cNvSpPr>
            <a:spLocks xmlns:a="http://schemas.openxmlformats.org/drawingml/2006/main" noGrp="1"/>
          </p:cNvSpPr>
          <p:nvPr/>
        </p:nvSpPr>
        <p:spPr>
          <a:xfrm xmlns:a="http://schemas.openxmlformats.org/drawingml/2006/main">
            <a:off x="3657600" y="1051560"/>
            <a:ext cx="5120640" cy="384048"/>
          </a:xfrm>
          <a:prstGeom xmlns:a="http://schemas.openxmlformats.org/drawingml/2006/main" prst="roundRect">
            <a:avLst>
              <a:gd name="adj" fmla="val 14286"/>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83220C33-3268-4FF3-99E4-E96739FC104E}"/>
              </a:ext>
            </a:extLst>
          </p:cNvPr>
          <p:cNvSpPr>
            <a:spLocks xmlns:a="http://schemas.openxmlformats.org/drawingml/2006/main" noGrp="1"/>
          </p:cNvSpPr>
          <p:nvPr/>
        </p:nvSpPr>
        <p:spPr>
          <a:xfrm xmlns:a="http://schemas.openxmlformats.org/drawingml/2006/main">
            <a:off x="3657600" y="1097280"/>
            <a:ext cx="51206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WHAT THE EVIDENCE SAYS</a:t>
            </a:r>
            <a:endParaRPr sz="1250"/>
          </a:p>
        </p:txBody>
      </p:sp>
      <p:sp>
        <p:nvSpPr>
          <p:cNvPr id="13" name="Text 11">
            <a:extLst xmlns:a="http://schemas.openxmlformats.org/drawingml/2006/main">
              <a:ext uri="{FF2B5EF4-FFF2-40B4-BE49-F238E27FC236}">
                <a16:creationId xmlns:a16="http://schemas.microsoft.com/office/drawing/2014/main" id="{155F9E7F-F05A-45F4-95F8-DD238CD24D87}"/>
              </a:ext>
            </a:extLst>
          </p:cNvPr>
          <p:cNvSpPr>
            <a:spLocks xmlns:a="http://schemas.openxmlformats.org/drawingml/2006/main" noGrp="1"/>
          </p:cNvSpPr>
          <p:nvPr/>
        </p:nvSpPr>
        <p:spPr>
          <a:xfrm xmlns:a="http://schemas.openxmlformats.org/drawingml/2006/main">
            <a:off x="3822192" y="1536192"/>
            <a:ext cx="4791456" cy="15087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300"/>
              </a:lnSpc>
              <a:buNone/>
            </a:pPr>
            <a:r>
              <a:rPr sz="1100" b="1">
                <a:solidFill>
                  <a:srgbClr val="C55A11"/>
                </a:solidFill>
                <a:latin typeface="Arial"/>
                <a:ea typeface="Arial"/>
                <a:cs typeface="Arial"/>
              </a:rPr>
              <a:t>Matched mean: FID −1.016 · R +0.67 pp
Native defaults: FID +0.450 · R +2.93 pp
Best validated successor—not an unconditional winner.</a:t>
            </a:r>
            <a:endParaRPr sz="1100"/>
          </a:p>
        </p:txBody>
      </p:sp>
      <p:sp>
        <p:nvSpPr>
          <p:cNvPr id="14" name="Shape 12">
            <a:extLst xmlns:a="http://schemas.openxmlformats.org/drawingml/2006/main">
              <a:ext uri="{FF2B5EF4-FFF2-40B4-BE49-F238E27FC236}">
                <a16:creationId xmlns:a16="http://schemas.microsoft.com/office/drawing/2014/main" id="{CC890284-C1AF-4979-A49C-452AA809E4C8}"/>
              </a:ext>
            </a:extLst>
          </p:cNvPr>
          <p:cNvSpPr>
            <a:spLocks xmlns:a="http://schemas.openxmlformats.org/drawingml/2006/main" noGrp="1"/>
          </p:cNvSpPr>
          <p:nvPr/>
        </p:nvSpPr>
        <p:spPr>
          <a:xfrm xmlns:a="http://schemas.openxmlformats.org/drawingml/2006/main">
            <a:off x="365760" y="3337560"/>
            <a:ext cx="5120640" cy="914400"/>
          </a:xfrm>
          <a:prstGeom xmlns:a="http://schemas.openxmlformats.org/drawingml/2006/main" prst="roundRect">
            <a:avLst>
              <a:gd name="adj" fmla="val 6000"/>
            </a:avLst>
          </a:prstGeom>
          <a:solidFill xmlns:a="http://schemas.openxmlformats.org/drawingml/2006/main">
            <a:srgbClr val="E8EEF7"/>
          </a:solidFill>
          <a:ln xmlns:a="http://schemas.openxmlformats.org/drawingml/2006/main" w="12700">
            <a:solidFill>
              <a:srgbClr val="0E7C7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F5320E88-2104-4B95-8441-13CB06DAC331}"/>
              </a:ext>
            </a:extLst>
          </p:cNvPr>
          <p:cNvSpPr>
            <a:spLocks xmlns:a="http://schemas.openxmlformats.org/drawingml/2006/main" noGrp="1"/>
          </p:cNvSpPr>
          <p:nvPr/>
        </p:nvSpPr>
        <p:spPr>
          <a:xfrm xmlns:a="http://schemas.openxmlformats.org/drawingml/2006/main">
            <a:off x="502920" y="3410712"/>
            <a:ext cx="14630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F3864"/>
                </a:solidFill>
                <a:latin typeface="Arial"/>
                <a:ea typeface="Arial"/>
                <a:cs typeface="Arial"/>
              </a:rPr>
              <a:t>NEXT STUDY</a:t>
            </a:r>
            <a:endParaRPr sz="1200"/>
          </a:p>
        </p:txBody>
      </p:sp>
      <p:sp>
        <p:nvSpPr>
          <p:cNvPr id="16" name="Text 14">
            <a:extLst xmlns:a="http://schemas.openxmlformats.org/drawingml/2006/main">
              <a:ext uri="{FF2B5EF4-FFF2-40B4-BE49-F238E27FC236}">
                <a16:creationId xmlns:a16="http://schemas.microsoft.com/office/drawing/2014/main" id="{2B01C8CC-A496-4985-A3C2-8D9A806D4322}"/>
              </a:ext>
            </a:extLst>
          </p:cNvPr>
          <p:cNvSpPr>
            <a:spLocks xmlns:a="http://schemas.openxmlformats.org/drawingml/2006/main" noGrp="1"/>
          </p:cNvSpPr>
          <p:nvPr/>
        </p:nvSpPr>
        <p:spPr>
          <a:xfrm xmlns:a="http://schemas.openxmlformats.org/drawingml/2006/main">
            <a:off x="502920" y="3675888"/>
            <a:ext cx="484632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050">
                <a:solidFill>
                  <a:srgbClr val="1F2937"/>
                </a:solidFill>
                <a:latin typeface="Arial"/>
                <a:ea typeface="Arial"/>
                <a:cs typeface="Arial"/>
              </a:rPr>
              <a:t>Match stochastic CA on both sides
Retrain MDD with paired seeds
Add independent human/CLIP and diversity tests</a:t>
            </a:r>
            <a:endParaRPr sz="1050"/>
          </a:p>
        </p:txBody>
      </p:sp>
      <p:sp>
        <p:nvSpPr>
          <p:cNvPr id="17" name="Shape 15">
            <a:extLst xmlns:a="http://schemas.openxmlformats.org/drawingml/2006/main">
              <a:ext uri="{FF2B5EF4-FFF2-40B4-BE49-F238E27FC236}">
                <a16:creationId xmlns:a16="http://schemas.microsoft.com/office/drawing/2014/main" id="{4CBC7606-5E03-4C13-9CBE-8C0A220C3D53}"/>
              </a:ext>
            </a:extLst>
          </p:cNvPr>
          <p:cNvSpPr>
            <a:spLocks xmlns:a="http://schemas.openxmlformats.org/drawingml/2006/main" noGrp="1"/>
          </p:cNvSpPr>
          <p:nvPr/>
        </p:nvSpPr>
        <p:spPr>
          <a:xfrm xmlns:a="http://schemas.openxmlformats.org/drawingml/2006/main">
            <a:off x="5669280" y="3337560"/>
            <a:ext cx="3108960" cy="914400"/>
          </a:xfrm>
          <a:prstGeom xmlns:a="http://schemas.openxmlformats.org/drawingml/2006/main" prst="roundRect">
            <a:avLst>
              <a:gd name="adj" fmla="val 6000"/>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C168151-475E-4BAE-B8B7-3CEAF14E6DE9}"/>
              </a:ext>
            </a:extLst>
          </p:cNvPr>
          <p:cNvSpPr>
            <a:spLocks xmlns:a="http://schemas.openxmlformats.org/drawingml/2006/main" noGrp="1"/>
          </p:cNvSpPr>
          <p:nvPr/>
        </p:nvSpPr>
        <p:spPr>
          <a:xfrm xmlns:a="http://schemas.openxmlformats.org/drawingml/2006/main">
            <a:off x="5833872" y="3429000"/>
            <a:ext cx="2779776"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00"/>
              </a:lnSpc>
              <a:buNone/>
            </a:pPr>
            <a:r>
              <a:rPr sz="1100" b="1">
                <a:solidFill>
                  <a:srgbClr val="FFFFFF"/>
                </a:solidFill>
                <a:latin typeface="Arial"/>
                <a:ea typeface="Arial"/>
                <a:cs typeface="Arial"/>
              </a:rPr>
              <a:t>Validated baseline → published successor → controlled win → honest boundary</a:t>
            </a:r>
            <a:endParaRPr sz="1100"/>
          </a:p>
        </p:txBody>
      </p:sp>
      <p:sp>
        <p:nvSpPr>
          <p:cNvPr id="20" name="Text 18">
            <a:extLst xmlns:a="http://schemas.openxmlformats.org/drawingml/2006/main">
              <a:ext uri="{FF2B5EF4-FFF2-40B4-BE49-F238E27FC236}">
                <a16:creationId xmlns:a16="http://schemas.microsoft.com/office/drawing/2014/main" id="{8A8A924B-940B-446F-A61E-6E5DF2C31C7B}"/>
              </a:ext>
            </a:extLst>
          </p:cNvPr>
          <p:cNvSpPr>
            <a:spLocks xmlns:a="http://schemas.openxmlformats.org/drawingml/2006/main" noGrp="1"/>
          </p:cNvSpPr>
          <p:nvPr/>
        </p:nvSpPr>
        <p:spPr>
          <a:xfrm xmlns:a="http://schemas.openxmlformats.org/drawingml/2006/main">
            <a:off x="365760" y="4828032"/>
            <a:ext cx="914400" cy="2011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Arial"/>
                <a:ea typeface="Arial"/>
                <a:cs typeface="Arial"/>
              </a:rPr>
              <a:t>15 / 15</a:t>
            </a:r>
            <a:endParaRPr sz="900"/>
          </a:p>
        </p:txBody>
      </p:sp>
      <p:sp>
        <p:nvSpPr>
          <p:cNvPr id="21" name="Shape 19">
            <a:extLst xmlns:a="http://schemas.openxmlformats.org/drawingml/2006/main">
              <a:ext uri="{FF2B5EF4-FFF2-40B4-BE49-F238E27FC236}">
                <a16:creationId xmlns:a16="http://schemas.microsoft.com/office/drawing/2014/main" id="{330F4208-A699-4B9E-8419-2220300566B9}"/>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E8EEF7"/>
          </a:solidFill>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A1315EB0-AC15-477B-A7DA-7B44B53CDDF3}"/>
              </a:ext>
            </a:extLst>
          </p:cNvPr>
          <p:cNvSpPr>
            <a:spLocks xmlns:a="http://schemas.openxmlformats.org/drawingml/2006/main" noGrp="1"/>
          </p:cNvSpPr>
          <p:nvPr/>
        </p:nvSpPr>
        <p:spPr>
          <a:xfrm xmlns:a="http://schemas.openxmlformats.org/drawingml/2006/main">
            <a:off x="7955280" y="4864608"/>
            <a:ext cx="822960" cy="54864"/>
          </a:xfrm>
          <a:prstGeom xmlns:a="http://schemas.openxmlformats.org/drawingml/2006/main" prst="rect">
            <a:avLst/>
          </a:prstGeom>
          <a:solidFill xmlns:a="http://schemas.openxmlformats.org/drawingml/2006/main">
            <a:srgbClr val="1F3864"/>
          </a:solid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08625832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2026-09-02T13:58:47.2150000Z</dcterms:created>
  <dcterms:modified xsi:type="dcterms:W3CDTF">2026-09-02T13:58:47.2150000Z</dcterms:modified>
</coreProperties>
</file>