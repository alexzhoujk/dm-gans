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ab3924feb747a3" /><Relationship Type="http://schemas.openxmlformats.org/officeDocument/2006/relationships/extended-properties" Target="/docProps/app.xml" Id="Rf719eb9558404a36" /><Relationship Type="http://schemas.openxmlformats.org/officeDocument/2006/relationships/officeDocument" Target="/ppt/presentation.xml" Id="Rf19c07ef10fe4c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2ae0d797804cc1"/>
  </p:sldMasterIdLst>
  <p:notesMasterIdLst>
    <p:notesMasterId xmlns:r="http://schemas.openxmlformats.org/officeDocument/2006/relationships" r:id="R68a2e8ad543843eb"/>
  </p:notesMasterIdLst>
  <p:sldIdLst>
    <p:sldId xmlns:r="http://schemas.openxmlformats.org/officeDocument/2006/relationships" id="256" r:id="R08f20320c1ae49c6"/>
    <p:sldId xmlns:r="http://schemas.openxmlformats.org/officeDocument/2006/relationships" id="257" r:id="Rb1b523d6a7684fa3"/>
    <p:sldId xmlns:r="http://schemas.openxmlformats.org/officeDocument/2006/relationships" id="258" r:id="R8ea730898124401f"/>
    <p:sldId xmlns:r="http://schemas.openxmlformats.org/officeDocument/2006/relationships" id="259" r:id="R6d84c3e4edc94f88"/>
    <p:sldId xmlns:r="http://schemas.openxmlformats.org/officeDocument/2006/relationships" id="260" r:id="Rf5028fe9800f4c08"/>
    <p:sldId xmlns:r="http://schemas.openxmlformats.org/officeDocument/2006/relationships" id="261" r:id="Rb305bcf7a8dd4b89"/>
    <p:sldId xmlns:r="http://schemas.openxmlformats.org/officeDocument/2006/relationships" id="262" r:id="R67f10c6f8b5f4bad"/>
    <p:sldId xmlns:r="http://schemas.openxmlformats.org/officeDocument/2006/relationships" id="263" r:id="R245dc5c47bca4780"/>
    <p:sldId xmlns:r="http://schemas.openxmlformats.org/officeDocument/2006/relationships" id="264" r:id="R9efb4c47e68b4e1a"/>
    <p:sldId xmlns:r="http://schemas.openxmlformats.org/officeDocument/2006/relationships" id="265" r:id="R9808eada2b654a1d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88f05c5bc142a0" /><Relationship Type="http://schemas.openxmlformats.org/officeDocument/2006/relationships/slideMaster" Target="/ppt/slideMasters/slideMaster1.xml" Id="R572ae0d797804cc1" /><Relationship Type="http://schemas.openxmlformats.org/officeDocument/2006/relationships/notesMaster" Target="/ppt/notesMasters/notesMaster1.xml" Id="R68a2e8ad543843eb" /><Relationship Type="http://schemas.openxmlformats.org/officeDocument/2006/relationships/presProps" Target="/ppt/presProps.xml" Id="R93dde79a8d4549c7" /><Relationship Type="http://schemas.openxmlformats.org/officeDocument/2006/relationships/viewProps" Target="/ppt/viewProps.xml" Id="R86f4d837976f4b14" /><Relationship Type="http://schemas.openxmlformats.org/officeDocument/2006/relationships/tableStyles" Target="/ppt/tableStyles.xml" Id="Rdc29d7633ca74936" /><Relationship Type="http://schemas.openxmlformats.org/officeDocument/2006/relationships/slide" Target="/ppt/slides/slide1.xml" Id="R08f20320c1ae49c6" /><Relationship Type="http://schemas.openxmlformats.org/officeDocument/2006/relationships/slide" Target="/ppt/slides/slide2.xml" Id="Rb1b523d6a7684fa3" /><Relationship Type="http://schemas.openxmlformats.org/officeDocument/2006/relationships/slide" Target="/ppt/slides/slide3.xml" Id="R8ea730898124401f" /><Relationship Type="http://schemas.openxmlformats.org/officeDocument/2006/relationships/slide" Target="/ppt/slides/slide4.xml" Id="R6d84c3e4edc94f88" /><Relationship Type="http://schemas.openxmlformats.org/officeDocument/2006/relationships/slide" Target="/ppt/slides/slide5.xml" Id="Rf5028fe9800f4c08" /><Relationship Type="http://schemas.openxmlformats.org/officeDocument/2006/relationships/slide" Target="/ppt/slides/slide6.xml" Id="Rb305bcf7a8dd4b89" /><Relationship Type="http://schemas.openxmlformats.org/officeDocument/2006/relationships/slide" Target="/ppt/slides/slide7.xml" Id="R67f10c6f8b5f4bad" /><Relationship Type="http://schemas.openxmlformats.org/officeDocument/2006/relationships/slide" Target="/ppt/slides/slide8.xml" Id="R245dc5c47bca4780" /><Relationship Type="http://schemas.openxmlformats.org/officeDocument/2006/relationships/slide" Target="/ppt/slides/slide9.xml" Id="R9efb4c47e68b4e1a" /><Relationship Type="http://schemas.openxmlformats.org/officeDocument/2006/relationships/slide" Target="/ppt/slides/slide10.xml" Id="R9808eada2b654a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fc3360303246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4320724d6e4919" /><Relationship Type="http://schemas.openxmlformats.org/officeDocument/2006/relationships/notesMaster" Target="/ppt/notesMasters/notesMaster1.xml" Id="R8a04c7dee1ac49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61d9ae762547d1" /><Relationship Type="http://schemas.openxmlformats.org/officeDocument/2006/relationships/notesMaster" Target="/ppt/notesMasters/notesMaster1.xml" Id="R9503b4ca93804e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d71eb0da4740c7" /><Relationship Type="http://schemas.openxmlformats.org/officeDocument/2006/relationships/notesMaster" Target="/ppt/notesMasters/notesMaster1.xml" Id="Rce0b5b27c6854d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ad45595bc14ba0" /><Relationship Type="http://schemas.openxmlformats.org/officeDocument/2006/relationships/notesMaster" Target="/ppt/notesMasters/notesMaster1.xml" Id="R3f6b5db8cf5f48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df4a36826649b1" /><Relationship Type="http://schemas.openxmlformats.org/officeDocument/2006/relationships/notesMaster" Target="/ppt/notesMasters/notesMaster1.xml" Id="Rcadab4a272d447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411894711f4ca5" /><Relationship Type="http://schemas.openxmlformats.org/officeDocument/2006/relationships/notesMaster" Target="/ppt/notesMasters/notesMaster1.xml" Id="R2be9b6112a4743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f6ed2a2bf743ed" /><Relationship Type="http://schemas.openxmlformats.org/officeDocument/2006/relationships/notesMaster" Target="/ppt/notesMasters/notesMaster1.xml" Id="R0e29b77823004b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41af553bc24969" /><Relationship Type="http://schemas.openxmlformats.org/officeDocument/2006/relationships/notesMaster" Target="/ppt/notesMasters/notesMaster1.xml" Id="R1a0e7f2e245944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a3c324376e4f29" /><Relationship Type="http://schemas.openxmlformats.org/officeDocument/2006/relationships/notesMaster" Target="/ppt/notesMasters/notesMaster1.xml" Id="Rd80864acaf4f45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a204999e8748d2" /><Relationship Type="http://schemas.openxmlformats.org/officeDocument/2006/relationships/notesMaster" Target="/ppt/notesMasters/notesMaster1.xml" Id="Rde8a41db23aa47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User-provided literature-research deck: Text-to-Image Final Presentation.pptx</a:t>
            </a:r>
            <a:endParaRPr/>
          </a:p>
          <a:p xmlns:a="http://schemas.openxmlformats.org/drawingml/2006/main">
            <a:r>
              <a:t>DM-GAN official repository: https://github.com/MinfengZhu/DM-GAN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milestone progressed beyond a code audit: the official checkpoint was executed locally, a real CUB batch completed the complete loss/backprop path, and a 200-step short run produced a saved checkpoint.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DM-GAN official repository: https://github.com/MinfengZhu/DM-GAN</a:t>
            </a:r>
            <a:endParaRPr/>
          </a:p>
          <a:p xmlns:a="http://schemas.openxmlformats.org/drawingml/2006/main">
            <a:r>
              <a:t>Local integration report: /home/zjk/Desktop/DM-GANS/artifacts/session6/real_integration/report.json</a:t>
            </a:r>
            <a:endParaRPr/>
          </a:p>
          <a:p xmlns:a="http://schemas.openxmlformats.org/drawingml/2006/main">
            <a:r>
              <a:t>Local short-run summary: /home/zjk/Desktop/DM-GANS/artifacts/session6/short_run/summary.json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the implementation boundary: DAMSM encoders are loaded from official pretrained weights; the modern implementation covers conditioning augmentation, the initial generator, dynamic memory, three discriminators, losses, optimization, EMA, and checkpointing.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DM-GAN official repository: https://github.com/MinfengZhu/DM-GAN</a:t>
            </a:r>
            <a:endParaRPr/>
          </a:p>
          <a:p xmlns:a="http://schemas.openxmlformats.org/drawingml/2006/main">
            <a:r>
              <a:t>Local implementation: /home/zjk/Desktop/DM-GANS/dmgan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Zhu et al., DM-GAN, CVPR 2019, Sections 3.1–3.3 and Figure 2</a:t>
            </a:r>
            <a:endParaRPr/>
          </a:p>
          <a:p xmlns:a="http://schemas.openxmlformats.org/drawingml/2006/main">
            <a:r>
              <a:t>https://openaccess.thecvf.com/content_CVPR_2019/papers/Zhu_DM-GAN_Dynamic_Memory_Generative_Adversarial_Networks_for_Text-To-Image_Synthesis_CVPR_2019_paper.pdf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Official DM-GAN Figure 2 retained from the user-provided source deck</a:t>
            </a:r>
            <a:endParaRPr/>
          </a:p>
          <a:p xmlns:a="http://schemas.openxmlformats.org/drawingml/2006/main">
            <a:r>
              <a:t>Official model code: https://github.com/MinfengZhu/DM-GAN/blob/master/code/model.py</a:t>
            </a:r>
            <a:endParaRPr/>
          </a:p>
          <a:p xmlns:a="http://schemas.openxmlformats.org/drawingml/2006/main">
            <a:r>
              <a:t>Local modernized core: dmgan_reimplementation/models.py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CUB-200-2011 official dataset: https://www.vision.caltech.edu/datasets/cub_200_2011/</a:t>
            </a:r>
            <a:endParaRPr/>
          </a:p>
          <a:p xmlns:a="http://schemas.openxmlformats.org/drawingml/2006/main">
            <a:r>
              <a:t>Official bird configuration: https://github.com/MinfengZhu/DM-GAN/blob/master/code/cfg/bird_DMGAN.yml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on the left was generated locally using the official pretrained DM-GAN checkpoint. The metric table remains a reference table and is not a local result. Emphasize the separation among official checkpoint inference, the locally reimplemented random-init core, and paper/repository metrics.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Official checkpoint inference report: /home/zjk/Desktop/DM-GANS/artifacts/session6/official_pretrained/report.json</a:t>
            </a:r>
            <a:endParaRPr/>
          </a:p>
          <a:p xmlns:a="http://schemas.openxmlformats.org/drawingml/2006/main">
            <a:r>
              <a:t>Real integration report: /home/zjk/Desktop/DM-GANS/artifacts/session6/real_integration/report.json</a:t>
            </a:r>
            <a:endParaRPr/>
          </a:p>
          <a:p xmlns:a="http://schemas.openxmlformats.org/drawingml/2006/main">
            <a:r>
              <a:t>Short-run summary: /home/zjk/Desktop/DM-GANS/artifacts/session6/short_run/summary.json</a:t>
            </a:r>
            <a:endParaRPr/>
          </a:p>
          <a:p xmlns:a="http://schemas.openxmlformats.org/drawingml/2006/main">
            <a:r>
              <a:t>DM-GAN performance table: https://github.com/MinfengZhu/DM-GAN#performance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limitation claims come from a small hand-inspected set of 16 fixed prompts using the official checkpoint. They are qualitative signals, not benchmark statistics. The locally trained 200-step model only demonstrates training progress.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Failure analysis: /home/zjk/Desktop/DM-GANS/docs/failure_analysis.md</a:t>
            </a:r>
            <a:endParaRPr/>
          </a:p>
          <a:p xmlns:a="http://schemas.openxmlformats.org/drawingml/2006/main">
            <a:r>
              <a:t>Diagnostic report: /home/zjk/Desktop/DM-GANS/artifacts/session6/diagnostics/red_wings/report.json</a:t>
            </a:r>
            <a:endParaRPr/>
          </a:p>
          <a:p xmlns:a="http://schemas.openxmlformats.org/drawingml/2006/main">
            <a:r>
              <a:t>Official 16-prompt report: /home/zjk/Desktop/DM-GANS/artifacts/session6/official_pretrained_16/report.json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part-aware alignment loss is implemented as an optional, unit-tested prototype. No performance improvement is claimed because the controlled ablation has not yet been trained.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CUB dataset and part annotations: https://www.vision.caltech.edu/datasets/cub_200_2011/</a:t>
            </a:r>
            <a:endParaRPr/>
          </a:p>
          <a:p xmlns:a="http://schemas.openxmlformats.org/drawingml/2006/main">
            <a:r>
              <a:t>Prototype implementation: /home/zjk/Desktop/DM-GANS/dmgan/part_aware.py</a:t>
            </a:r>
            <a:endParaRPr/>
          </a:p>
          <a:p xmlns:a="http://schemas.openxmlformats.org/drawingml/2006/main">
            <a:r>
              <a:t>Prototype test: /home/zjk/Desktop/DM-GANS/tests/test_part_aware.py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concrete outcome: the runtime path is verified and reproducible. The next decision is how much training budget to allocate before enabling the optional part-aware loss for a controlled comparison.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Session 6 checklist: /home/zjk/Desktop/DM-GANS/docs/session6_checklist.md</a:t>
            </a:r>
            <a:endParaRPr/>
          </a:p>
          <a:p xmlns:a="http://schemas.openxmlformats.org/drawingml/2006/main">
            <a:r>
              <a:t>Short-run summary: /home/zjk/Desktop/DM-GANS/artifacts/session6/short_run/summary.json</a:t>
            </a:r>
            <a:endParaRPr/>
          </a:p>
          <a:p xmlns:a="http://schemas.openxmlformats.org/drawingml/2006/main">
            <a:r>
              <a:t>DM-GAN official repository: https://github.com/MinfengZhu/DM-GAN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19d53ec71470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39f21b79bf48cd" /><Relationship Type="http://schemas.openxmlformats.org/officeDocument/2006/relationships/slideLayout" Target="/ppt/slideLayouts/slideLayout1.xml" Id="R4547e04e13f8436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47e04e13f8436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129f4b5a8494f" /><Relationship Type="http://schemas.openxmlformats.org/officeDocument/2006/relationships/notesSlide" Target="/ppt/notesSlides/notesSlide1.xml" Id="R3a6df6a4584946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8a3715ffb42b3" /><Relationship Type="http://schemas.openxmlformats.org/officeDocument/2006/relationships/notesSlide" Target="/ppt/notesSlides/notesSlide2.xml" Id="R2eaec1d92a0449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36adb8b554aa1" /><Relationship Type="http://schemas.openxmlformats.org/officeDocument/2006/relationships/notesSlide" Target="/ppt/notesSlides/notesSlide3.xml" Id="R7cabf0fac7ed4a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f05b5e8ae40c7" /><Relationship Type="http://schemas.openxmlformats.org/officeDocument/2006/relationships/notesSlide" Target="/ppt/notesSlides/notesSlide4.xml" Id="Re90b9445a5b049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90311a7714c93" /><Relationship Type="http://schemas.openxmlformats.org/officeDocument/2006/relationships/image" Target="/ppt/media/image.png" Id="R2fa3d81ea7e34db5" /><Relationship Type="http://schemas.openxmlformats.org/officeDocument/2006/relationships/notesSlide" Target="/ppt/notesSlides/notesSlide5.xml" Id="Rf2aaf941075a4b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83442cf344366" /><Relationship Type="http://schemas.openxmlformats.org/officeDocument/2006/relationships/notesSlide" Target="/ppt/notesSlides/notesSlide6.xml" Id="Re0563648db4c44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1401ba73e4c74" /><Relationship Type="http://schemas.openxmlformats.org/officeDocument/2006/relationships/image" Target="/ppt/media/image2.png" Id="R9512774747bd4604" /><Relationship Type="http://schemas.openxmlformats.org/officeDocument/2006/relationships/notesSlide" Target="/ppt/notesSlides/notesSlide7.xml" Id="R3df17ddc6a9744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b015b93674197" /><Relationship Type="http://schemas.openxmlformats.org/officeDocument/2006/relationships/notesSlide" Target="/ppt/notesSlides/notesSlide8.xml" Id="Rd7fdb2c1111143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8c9020139487c" /><Relationship Type="http://schemas.openxmlformats.org/officeDocument/2006/relationships/notesSlide" Target="/ppt/notesSlides/notesSlide9.xml" Id="Rb6d72b1f727240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3d3cc3b4f4fbd" /><Relationship Type="http://schemas.openxmlformats.org/officeDocument/2006/relationships/notesSlide" Target="/ppt/notesSlides/notesSlide10.xml" Id="R74cac1d27cd743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991FA01-14C4-4E3C-9A9F-F78054FA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D4A6042-3935-4819-9041-11500631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83480"/>
            <a:ext cx="914400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CF5E0E2-8370-4934-9625-D6267189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DM-GAN Baseline Reimplementation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7E74682-23A1-468F-9BFD-943D1215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  <a:latin typeface="Arial"/>
                <a:ea typeface="Arial"/>
                <a:cs typeface="Arial"/>
              </a:rPr>
              <a:t>Milestone 2 · Baseline Implementation and Investigation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A000F15-279A-4C5A-93E2-18ECCB33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55648"/>
            <a:ext cx="7863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0E7C7B"/>
                </a:solidFill>
                <a:latin typeface="Arial"/>
                <a:ea typeface="Arial"/>
                <a:cs typeface="Arial"/>
              </a:rPr>
              <a:t>From official architecture to a reproducible dynamic-memory pipeline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5DB531F-55FB-47A9-B335-BB7E0F5B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77440"/>
            <a:ext cx="182880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89625CE-1F8A-4902-96D1-6FA8A8F2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8716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BASELINE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203628C-02A3-40CA-8F9A-270A5EA5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0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DM-GAN</a:t>
            </a:r>
            <a:endParaRPr sz="15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2282384-D422-4283-A453-997AD8D5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72384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Initial image + memory refinement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F722-7419-4C86-9589-99A1499D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0358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B728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15FF497-7690-495A-975E-14A40707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77440"/>
            <a:ext cx="182880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6FE07A-4157-412B-902C-39FC888D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8716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DATA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7BE8D78-A24C-453B-A5A4-6E37B3A7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CUB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30FCE7D-55EE-4928-80DB-65862A00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72384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11,788 images · 10 captions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B72E24A-B5E3-4E7E-9E2B-02BCDED6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358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B728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18EF809-41DC-4BDB-9BB5-03AA8F16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377440"/>
            <a:ext cx="182880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268FCC0-6D05-41E7-BB7D-5539F531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48716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CORE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FCA3C64-06D2-4398-B3F6-AA1413F9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743200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Memory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5EE4C2B-D184-453E-B2C4-B61C97D7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072384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Write · Read · Reply</a:t>
            </a:r>
            <a:endParaRPr sz="1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A6B3CC8-8888-4466-BB09-7F430B0B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0358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B728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260540A-770C-48EB-B8F8-26FCCC87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377440"/>
            <a:ext cx="182880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BDEEE3C-86D3-4608-830F-4F19B4F9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48716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NEXT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8F06188-AE5F-48F1-8963-C9DEF1F9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743200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Part-aware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FD0AB63-4CA7-48A3-BDFD-80F687BC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072384"/>
            <a:ext cx="1828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Alignment improvement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C275CC5-020D-4079-80EE-EB3B0BD1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60520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B7280"/>
                </a:solidFill>
                <a:latin typeface="Arial"/>
                <a:ea typeface="Arial"/>
                <a:cs typeface="Arial"/>
              </a:rPr>
              <a:t>Presenter: Wenzhe Cao (Jason)    Group Members: Jikui Zhou, Xinyi Jiang, Zhongyu Yin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030227D-D2AA-4B2F-863A-CB57EE55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1 / 10</a:t>
            </a:r>
            <a:endParaRPr sz="9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C30A1FE-221D-4F09-A572-6CCD8C4B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839551D-A15D-48BF-B1DB-33C643EC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6330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779463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316E448-77A2-4532-A5B5-8E7BFD2C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8A0851-900D-489A-A3AA-28E841CB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8DE5BCD-37A2-415C-AE20-B56B72E2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Milestone 2: DM-GAN Baseline</a:t>
            </a:r>
            <a:endParaRPr sz="2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F219415-A7AD-4CF6-A473-52EBD8AA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5216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Arial"/>
                <a:ea typeface="Arial"/>
                <a:cs typeface="Arial"/>
              </a:rPr>
              <a:t>Implementation · Investigation · 10-minute presentation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C925AD9-8EEB-4A37-B6CA-E22C3ABF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5212080" cy="278892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F09040B-9C89-4F8C-97CC-E20CB193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521208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E23B87F-5135-4C86-875F-B91DD3F6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Assignment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0956879-CA6E-4016-B30D-3A6337BE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4809744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4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Choose and reimplement one baseline
DM-GAN is selected as our generative baseline.
Investigate baseline problems
Trace environment barriers and model failure modes.
Deliverable
A reproducible code path, honest verification status, and a concrete improvement hypothesis.</a:t>
            </a:r>
            <a:endParaRPr sz="1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CFD7943-F297-407F-A974-94BE2F43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051560"/>
            <a:ext cx="3017520" cy="278892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5875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589D3B-B08C-4B21-AC19-B5D37914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051560"/>
            <a:ext cx="301752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E7C7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A3F7E30-0EE4-46FE-AC42-CBC7716B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097280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Concrete Question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8D82350-20FA-4946-ADBE-5355A636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265176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3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Can we reproduce the DM-GAN pipeline on CUB and verify whether dynamic memory repairs text–image mismatches when the initial image is weak?
Milestone result:
modern PyTorch core + official weights + real CUB backprop + 200-step short run.
Pending: full training and local metrics.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1B04A99-9C85-4974-9538-69B19D92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2 / 10</a:t>
            </a:r>
            <a:endParaRPr sz="9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509EB95-EFA9-4977-A8C6-B4B5BB0A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FB9E004-941E-4E34-B3F2-85E798F4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126609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448090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639511C-5B6F-4B5C-8C9E-237273EE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1E3D59-CFDC-42BD-9395-A4A599DC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276DBEF-B4E4-4A81-AC74-D4BB749F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Why DM-GAN Is the Right Baseline</a:t>
            </a:r>
            <a:endParaRPr sz="2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791F405-8E2B-491D-925D-174C016F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5216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Arial"/>
                <a:ea typeface="Arial"/>
                <a:cs typeface="Arial"/>
              </a:rPr>
              <a:t>Open implementation · clear mechanism · direct link to alignment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4114AC-47E0-4C37-95DE-023EDEC1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4114800" cy="265176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D8E62DA-4EF1-4261-ABE4-D07EA931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411480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E7C7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86DF36-3424-4419-BE2F-9C3890A0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This Model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74181A9-58A3-485E-B1F7-C4DF200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371246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CVPR 2019 GAN baseline with open code and checkpoints
Three outputs: 64×64 → 128×128 → 256×256
Dynamic memory targets missing colors and local attributes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B42BC8D-DB7A-4F24-9079-0E8FA6B8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51560"/>
            <a:ext cx="4114800" cy="265176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176C03E-0E56-45FE-8E6C-9AA2C5D1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51560"/>
            <a:ext cx="411480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55A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132B374-D2CF-414E-B63F-14671635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9728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We Reimplement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C5CFB3A-F3E0-485B-9781-7CA15F7A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1600200"/>
            <a:ext cx="371246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Pretrained DAMSM sentence/word inputs
Conditioning Augmentation + initial generator
Writing gate · key/value read · response gate
Conditional + unconditional discriminators at three scales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CDE9A43-8C94-4036-885E-32A1C55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886200"/>
            <a:ext cx="8412480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C7A6E72-5876-425C-8BCA-DA6ED02B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8046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Reproduction target: CUB with official DAMSM inputs. Official-checkpoint inference and real-batch backprop passed; full local training metrics remain pending.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1B54E14-8014-4E02-B347-67BDB21F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3 / 10</a:t>
            </a:r>
            <a:endParaRPr sz="9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71834C7-C7CD-40C8-87AA-37DC8521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A3F5AA0-0A47-4CB6-B45B-6F8ABB5C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18991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92966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7AD54B-1A68-4B5C-9E4D-557F2BCE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0543F4F-C12C-401A-82E2-36746A76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1BB9FA-3763-4B22-8540-05EDC6DA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DM-GAN: Initial Image → Memory Refinement</a:t>
            </a:r>
            <a:endParaRPr sz="2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5A9A135-9852-42A1-8354-FA8F4C7F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5216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Arial"/>
                <a:ea typeface="Arial"/>
                <a:cs typeface="Arial"/>
              </a:rPr>
              <a:t>DM-GAN (Zhu et al., 2019, CVPR) — refinement driven by current image content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A7D9342-D1CF-4DBE-8058-ADA91F35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502920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FD97F0C-3B9F-450B-A56F-417E9341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502920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E93EEE2-5403-4834-B895-3625B105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5029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Pipeline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912AF36-7805-4782-8BE8-1F6E2550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141732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55D60EC-94C7-489F-AFA8-524C9079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1417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Text + noise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A8A389F-279B-4380-92C1-C6E71484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1572768"/>
            <a:ext cx="274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6B7280"/>
                </a:solidFill>
              </a:rPr>
              <a:t>→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FE13017-4B74-4C9C-B091-724FEB3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1572768"/>
            <a:ext cx="141732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D341EB2-D8C8-4730-A78C-BAAD3B61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1572768"/>
            <a:ext cx="1417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Initial 64×64 image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2CF9EAB-2156-46E0-A6D3-5CFEBC1D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572768"/>
            <a:ext cx="274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6B7280"/>
                </a:solidFill>
              </a:rPr>
              <a:t>→</a:t>
            </a:r>
            <a:endParaRPr sz="14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192756A-9468-499E-BD63-BCE8F653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572768"/>
            <a:ext cx="141732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7C7B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62C9EF-9F8F-4E3D-A86B-55A4183A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572768"/>
            <a:ext cx="1417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Memory-guided
128×128 / 256×256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C44D0D5-59DB-4438-857A-C76C115A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12848"/>
            <a:ext cx="470001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A sentence vector produces the first image; word features are then selected according to the current visual state and reused at both refinement scales.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8D5CD8E-94DF-43E8-A8BC-B0C8DD3D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051560"/>
            <a:ext cx="315468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0456374-7918-407D-8BE7-A515EFAF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051560"/>
            <a:ext cx="315468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7C7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E1C2751-3B89-4273-8B54-0B19093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097280"/>
            <a:ext cx="3154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Trick: Dynamic Memory</a:t>
            </a:r>
            <a:endParaRPr sz="11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CC5FE9F-1E30-4D6C-9473-BCF42716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1517904"/>
            <a:ext cx="283464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ts val="1100"/>
              </a:lnSpc>
              <a:buNone/>
            </a:pPr>
            <a:r>
              <a:rPr sz="1050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Problem: later stages inherit errors from a weak initial image.
Solution: rebuild a word memory at each refinement stage and query it with current image features.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4CA2A4E-FC44-4CA4-8F4F-95C6A9F5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697480"/>
            <a:ext cx="8412480" cy="155448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2700">
            <a:solidFill>
              <a:srgbClr val="C55A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C60732A-2617-4773-A606-1EE52D54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16352"/>
            <a:ext cx="8046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Write–Read–Reply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7479C1B-DE28-456C-9440-F4C95D7E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8046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150">
                <a:solidFill>
                  <a:srgbClr val="1F2937"/>
                </a:solidFill>
                <a:latin typeface="Arial"/>
                <a:ea typeface="Arial"/>
                <a:cs typeface="Arial"/>
              </a:rPr>
              <a:t>Write: combine each word with the current image through a writing gate.
Read: spatial image queries address key–value memory.
Reply: a response gate controls how much memory updates each visual location.
Result: 64×64 initial → 128×128 refinement → 256×256 refinement.</a:t>
            </a:r>
            <a:endParaRPr sz="11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27FC237-9ABF-48D1-BDA3-7C1D0D7E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4 / 10</a:t>
            </a:r>
            <a:endParaRPr sz="9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5EB0E09-3FA6-40AE-B1E6-D05BB75F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C8C7A2E-928C-49FF-8B22-E21A1A9D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316523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1139369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4DB82D0-6891-4AB5-BE2E-438155B7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C4E628-D939-4507-9B6A-668DDDB4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79CECD0-2166-4B08-959D-7B0B036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Reimplementation: Dynamic Memory as a Module</a:t>
            </a:r>
            <a:endParaRPr sz="2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6CF5A49-AF1A-4581-8402-0F52FBFF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5216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Arial"/>
                <a:ea typeface="Arial"/>
                <a:cs typeface="Arial"/>
              </a:rPr>
              <a:t>Modern PyTorch core following the official write–read–reply computation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C9C9B7E-A265-4729-A100-EA080980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393192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9D2AA30-56F9-448C-AFD5-1F95E3F1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173736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55A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F6D85D-5B02-4185-94F1-0C9BD65F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173736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 Components</a:t>
            </a:r>
            <a:endParaRPr sz="11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A7F4981-980E-4F27-827B-164B6BD0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024128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00"/>
              </a:lnSpc>
              <a:buNone/>
            </a:pPr>
            <a:r>
              <a:rPr sz="10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① Conditioning Augmentation
② Initial 64×64 generator
③ Memory writing gate
④ Key/value addressing
⑤ Response gate
⑥ 64/128/256 discriminators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F2A0D9B-2481-40F7-8E4D-32FA1D3F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960120"/>
            <a:ext cx="4160520" cy="233172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3d81ea7e34db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09160" y="1024128"/>
            <a:ext cx="3977640" cy="2203704"/>
          </a:xfrm>
          <a:prstGeom xmlns:a="http://schemas.openxmlformats.org/drawingml/2006/main" prst="rect">
            <a:avLst/>
          </a:prstGeom>
        </p:spPr>
      </p:pic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71F0BD6-95FD-47E4-A7D6-A4F8B8BD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606040"/>
            <a:ext cx="3931920" cy="169164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A7B28F2-968F-408C-8F74-9032CA47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97480"/>
            <a:ext cx="3703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Training Flow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485C1-8A36-4D2F-A3F4-EF52DE50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35808"/>
            <a:ext cx="3703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1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Encode: frozen DAMSM supplies sentence and word features
Generate: one initial image plus two memory-guided refinements
Train: conditional GAN losses at 64/128/256 + DAMSM matching + KL</a:t>
            </a:r>
            <a:endParaRPr sz="1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CC991CC7-EF31-4C13-9803-71A12942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474720"/>
            <a:ext cx="4160520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270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10DC54F-C4DF-4C35-92D2-B846F7A6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3547872"/>
            <a:ext cx="39319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100"/>
              </a:lnSpc>
              <a:buNone/>
            </a:pPr>
            <a:r>
              <a:rPr sz="1000" i="1">
                <a:solidFill>
                  <a:srgbClr val="1F2937"/>
                </a:solidFill>
                <a:latin typeface="Arial"/>
                <a:ea typeface="Arial"/>
                <a:cs typeface="Arial"/>
              </a:rPr>
              <a:t>Official architecture: word memory is rewritten and queried at both refinement stages. Our code exposes attention and writing-gate tensors for diagnosis.</a:t>
            </a:r>
            <a:endParaRPr sz="10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2EC6E58-54C7-49E1-AF72-466AB398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5 / 10</a:t>
            </a:r>
            <a:endParaRPr sz="9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349BC4C-F591-486D-96E7-3BD830A1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18D53C2-8212-4B2C-83B1-C7AF1853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696351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1424256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417A1D-6FAB-4A41-A109-02A1F447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0C3012-33CB-48EF-A0E0-F7A92D79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6CECB0B-C8E2-45AA-A05C-05259BA8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Data and Reproduction Protocol</a:t>
            </a:r>
            <a:endParaRPr sz="2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427EF0-5930-49A0-AB62-0709A314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5216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Arial"/>
                <a:ea typeface="Arial"/>
                <a:cs typeface="Arial"/>
              </a:rPr>
              <a:t>CUB-200-2011 · DAMSM inputs · fixed three-scale evaluation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838829E-6CF1-41D9-A239-D6C9B25B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3108960" cy="210312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40910E1-246B-41C5-9719-B69C3ADB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310896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7C7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0B7FE7A-F3EE-4DA7-B774-E867623C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Dataset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C1F2DB2-8C77-4C53-9C1B-729E738B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536192"/>
            <a:ext cx="2779776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2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CUB-200-2011
11,788 images · 200 bird species
10 captions per image in DM-GAN metadata
15 part locations + 312 attributes
Why CUB
Fine-grained and suitable for diagnosing part–attribute errors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CB42AC3-6EBF-4C0F-8414-9DCF746D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051560"/>
            <a:ext cx="5120640" cy="210312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FB9FD1B-42FD-4ED5-A04C-4C738DE9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051560"/>
            <a:ext cx="512064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3220C33-3268-4FF3-99E4-E96739FC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097280"/>
            <a:ext cx="5120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Reproduction Steps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55F9E7F-F05A-45F4-95F8-DD238CD2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536192"/>
            <a:ext cx="4791456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① Prepare official birds metadata and CUB images
② Load pretrained DAMSM text/image encoders
③ Run 64/128/256 forward and loss smoke tests
④ Train official baseline: batch 10, up to 800 epochs
⑤ Generate fixed test samples and evaluate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C890284-C1AF-4979-A49C-452AA809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337560"/>
            <a:ext cx="51206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270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5320E88-2104-4B95-8441-13CB06DA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10712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Evaluation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B01C8CC-A496-4985-A3C2-8D9A806D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75888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IS ↑ · FID ↓ · R-precision ↑ · same DAMSM encoder · fixed seeds/sample count · qualitative failure taxonomy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CBC7606-5E03-4C13-9CBE-8C0A220C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337560"/>
            <a:ext cx="310896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C168151-475E-4BAE-B8B7-3CEAF14E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3429000"/>
            <a:ext cx="277977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Fair comparison requires one evaluator: the repository reports different PyTorch and TensorFlow FID values.</a:t>
            </a:r>
            <a:endParaRPr sz="1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A8A924B-940B-446F-A61E-6E5DF2C3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6 / 10</a:t>
            </a:r>
            <a:endParaRPr sz="9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30F4208-A699-4B9E-8419-22203005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1315EB0-AC15-477B-A7DA-7B44B53C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0862583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42033E0-293F-4760-8E1C-D2576A14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874BC9-8EFB-4448-A052-0AB338EB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6D787F5-27C6-4D8E-ACE0-FFD74F8C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Verification Status: Runtime Path Passed</a:t>
            </a:r>
            <a:endParaRPr sz="2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9D0C23C-94A5-4CC5-849F-7898B2DE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5216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Arial"/>
                <a:ea typeface="Arial"/>
                <a:cs typeface="Arial"/>
              </a:rPr>
              <a:t>Local runs are separated from official-checkpoint and paper reference results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15478CA-B10D-4A4E-9B4D-975E1D55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87552"/>
            <a:ext cx="25146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1412B1-D18A-4C74-B451-E4C95630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42416"/>
            <a:ext cx="2514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CORE · MODULES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0C30DB-4C19-47DD-A9B6-627BB661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98448"/>
            <a:ext cx="2514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6 / 6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45201ED-BD42-4442-9A18-35023127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0934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6B7280"/>
                </a:solidFill>
                <a:latin typeface="Arial"/>
                <a:ea typeface="Arial"/>
                <a:cs typeface="Arial"/>
              </a:rPr>
              <a:t>CA + initial + memory + 3D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09427D6-8BED-4B02-BF85-E9B86B9A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987552"/>
            <a:ext cx="25146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059D79F-1F88-402D-AF58-1A0DFAC3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042416"/>
            <a:ext cx="2514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TEST · SUITE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5125CF9-E64E-413D-A9C9-58D7CBA4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298448"/>
            <a:ext cx="2514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PASS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B12CA28-EAC6-424E-977F-0D256A19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60934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E7C7B"/>
                </a:solidFill>
                <a:latin typeface="Arial"/>
                <a:ea typeface="Arial"/>
                <a:cs typeface="Arial"/>
              </a:rPr>
              <a:t>7 tests · full G/D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1B995AB-4B5D-4C87-AC92-116DE500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987552"/>
            <a:ext cx="25146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2FC38CE-E5D7-4A53-BAE4-636F6B55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042416"/>
            <a:ext cx="2514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SHORT · TRAIN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B3E4E52-3D7B-4F97-90B9-ADE4D1A4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298448"/>
            <a:ext cx="2514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200 STEPS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A77FA44-1544-44E5-B687-C9748163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60934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E7C7B"/>
                </a:solidFill>
                <a:latin typeface="Arial"/>
                <a:ea typeface="Arial"/>
                <a:cs typeface="Arial"/>
              </a:rPr>
              <a:t>batch 10 · no metric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10A018D-25F0-484E-9797-F482C798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057400"/>
            <a:ext cx="3200400" cy="251460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8E5DF4F-F942-4CAE-90A4-6E447A46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67128"/>
            <a:ext cx="3200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Official checkpoint · local inference</a:t>
            </a:r>
            <a:endParaRPr sz="950"/>
          </a:p>
        </p:txBody>
      </p:sp>
      <p:pic>
        <p:nvPicPr>
          <p:cNvPr id="6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2774747bd46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7200" y="2377440"/>
            <a:ext cx="3017520" cy="1920240"/>
          </a:xfrm>
          <a:prstGeom xmlns:a="http://schemas.openxmlformats.org/drawingml/2006/main" prst="rect">
            <a:avLst/>
          </a:prstGeom>
        </p:spPr>
      </p:pic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4E22412-51DD-4D36-A2B7-3F4ED713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057400"/>
            <a:ext cx="2606040" cy="251460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A7E5B67C-75C7-450D-8B0A-31AFFD83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057400"/>
            <a:ext cx="260604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7C7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C8735C6-9915-4A8C-83CE-1C6FE22E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103120"/>
            <a:ext cx="2606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Official CUB Reference</a:t>
            </a:r>
            <a:endParaRPr sz="12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5E9028B-B096-4ADD-B8AF-350CF8E7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42032"/>
            <a:ext cx="14173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282EB35-AED1-4DA1-AA9D-71923257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42032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R-precision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D2D95AA9-7624-492A-826E-C084DE22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542032"/>
            <a:ext cx="86868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8983770-A30C-4C42-9252-16C7F9D1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542032"/>
            <a:ext cx="868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72.31%</a:t>
            </a:r>
            <a:endParaRPr sz="10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4E75BCC-EC34-4828-9BCD-5AAFBED7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34640"/>
            <a:ext cx="14173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FC02901C-5B15-47B1-88AD-9933EB86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3464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Inception Score</a:t>
            </a:r>
            <a:endParaRPr sz="10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EFD5C0F-3F25-43C5-8280-4213299E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834640"/>
            <a:ext cx="86868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9E8CA0C-7248-49EE-A680-8870F4D4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834640"/>
            <a:ext cx="868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4.75</a:t>
            </a:r>
            <a:endParaRPr sz="10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1FBFCD48-BAEE-46B8-B315-48F867BF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27248"/>
            <a:ext cx="14173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FAE2B877-07C5-4EC7-87BE-6283B17D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2724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FID (paper)</a:t>
            </a:r>
            <a:endParaRPr sz="100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94B2B480-F874-4AB5-8005-3873B839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127248"/>
            <a:ext cx="86868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3B2DDE6F-2829-48E1-878C-B68392D4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127248"/>
            <a:ext cx="868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16.09</a:t>
            </a:r>
            <a:endParaRPr sz="10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484B58E1-96B3-4CCC-992D-A7238D01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19856"/>
            <a:ext cx="14173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396891A0-A658-4543-B466-F6630CB9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19856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1F2937"/>
                </a:solidFill>
                <a:latin typeface="Arial"/>
                <a:ea typeface="Arial"/>
                <a:cs typeface="Arial"/>
              </a:rPr>
              <a:t>Repo pretrained FID</a:t>
            </a:r>
            <a:endParaRPr sz="10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1DD621A3-6695-4789-A97D-6D6BB780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419856"/>
            <a:ext cx="86868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F9D4D6D4-A3AF-4B00-84D5-ABFF0C59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419856"/>
            <a:ext cx="868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15.34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27BEF71D-C0CA-4059-8A5F-EBFB23CB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57400"/>
            <a:ext cx="2240280" cy="251460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15E5423D-1610-4AF9-80A2-0E7DE616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286000"/>
            <a:ext cx="196596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50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Verified: CUB → DAMSM → G/D → loss → backprop.
Runtime: RTX 5080 · PyTorch 2.12 + CUDA 13.
Local: 200 steps, batch 10; checkpoint + loss log saved.
Pending: full training and local metrics.</a:t>
            </a:r>
            <a:endParaRPr sz="105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C9FDAE8B-3432-48F3-888E-12DA1A71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7 / 10</a:t>
            </a:r>
            <a:endParaRPr sz="90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CA28C56-AA96-4580-87E6-BB338854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E098D422-8079-448A-A059-BA1D79E0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75965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9672167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CF48FBC-5516-46E8-B1B3-4422E39A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935D704-B055-41E6-A77E-B865147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17940FC-87FD-4A32-A243-064BB3F7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What the Baseline Investigation Revealed</a:t>
            </a:r>
            <a:endParaRPr sz="2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2556EE-53A4-4EE5-B725-48E2FF45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5216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Arial"/>
                <a:ea typeface="Arial"/>
                <a:cs typeface="Arial"/>
              </a:rPr>
              <a:t>Reproduction barriers and model limitations require different fixes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E1C6AEA-F400-482A-8C22-74E93EF3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4114800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0A6FFFA-C25D-4F23-9DDA-7579C5B3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411480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7C7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E21CAE-E99E-4449-9483-ABFCB6C9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4114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 Implementation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219D6E4-CED7-414C-BEEA-1FE492CA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536192"/>
            <a:ext cx="3785616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50" b="1">
                <a:solidFill>
                  <a:srgbClr val="0E7C7B"/>
                </a:solidFill>
                <a:latin typeface="Arial"/>
                <a:ea typeface="Arial"/>
                <a:cs typeface="Arial"/>
              </a:rPr>
              <a:t>✓ Official checkpoint inference passed
✓ Modern core: 7 tests + full-width smoke
✓ Real CUB batch completed full backprop
✓ 200-step run: batch 10, checkpoint saved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5B43479-84BF-450A-8CB1-E2036781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51560"/>
            <a:ext cx="4114800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0A67230-E38C-4078-B9C1-8232B31D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51560"/>
            <a:ext cx="411480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55A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93DBB63-AFBF-404D-B369-0B07A237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97280"/>
            <a:ext cx="4114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Limitation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A136CF3-5921-4AA1-8C00-40146DBD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536192"/>
            <a:ext cx="3785616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50">
                <a:solidFill>
                  <a:srgbClr val="1F2937"/>
                </a:solidFill>
                <a:latin typeface="Arial"/>
                <a:ea typeface="Arial"/>
                <a:cs typeface="Arial"/>
              </a:rPr>
              <a:t>Official-checkpoint samples capture global color, but fine part relationships are less consistent.
Eye rings, head color, wing/belly placement, and beak geometry need part-level evidence.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98F6D3F-65A2-4063-970C-67254745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00400"/>
            <a:ext cx="8412480" cy="105156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B7523DB-1162-4458-A8C5-9F39F607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10128"/>
            <a:ext cx="80467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Evidence Collected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9B8858B-0D95-4C89-8B99-F82B974E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30168"/>
            <a:ext cx="8046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150">
                <a:solidFill>
                  <a:srgbClr val="1F2937"/>
                </a:solidFill>
                <a:latin typeface="Arial"/>
                <a:ea typeface="Arial"/>
                <a:cs typeface="Arial"/>
              </a:rPr>
              <a:t>16 fixed-caption samples plus attention/writing-gate diagnostics. The 200-step local output shows colored structure only—not a quality result.</a:t>
            </a:r>
            <a:endParaRPr sz="11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EC6DB93-7D28-4417-98CD-8923EF13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8 / 10</a:t>
            </a:r>
            <a:endParaRPr sz="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4555E5B-078E-493D-AD28-7D260862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5C9039F-C1CA-4D5F-AB9B-8D239443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506437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0363772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639511C-5B6F-4B5C-8C9E-237273EE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1E3D59-CFDC-42BD-9395-A4A599DC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276DBEF-B4E4-4A81-AC74-D4BB749F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Potential Improvement: Part-Aware Memory</a:t>
            </a:r>
            <a:endParaRPr sz="2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791F405-8E2B-491D-925D-174C016F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5216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Arial"/>
                <a:ea typeface="Arial"/>
                <a:cs typeface="Arial"/>
              </a:rPr>
              <a:t>Use CUB annotations to align attribute words with bird parts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4114AC-47E0-4C37-95DE-023EDEC1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4114800" cy="265176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D8E62DA-4EF1-4261-ABE4-D07EA931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411480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E7C7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86DF36-3424-4419-BE2F-9C3890A0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Change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74181A9-58A3-485E-B1F7-C4DF200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371246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Use 15 annotated bird-part locations to form differentiable part heatmaps.
Align attribute-word attention with head, wing, breast, belly, and tail regions.
Prototype loss is implemented and unit-tested; it remains disabled in the baseline.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B42BC8D-DB7A-4F24-9079-0E8FA6B8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51560"/>
            <a:ext cx="4114800" cy="265176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176C03E-0E56-45FE-8E6C-9AA2C5D1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51560"/>
            <a:ext cx="411480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55A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132B374-D2CF-414E-B63F-14671635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9728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Controlled Test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C5CFB3A-F3E0-485B-9781-7CA15F7A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1600200"/>
            <a:ext cx="371246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Baseline: official DM-GAN core
Variant: + part-aware alignment loss
Keep fixed: DAMSM, seeds, split, training budget
Measure: FID, R-precision, part–attribute accuracy
Status: ablation not yet run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CDE9A43-8C94-4036-885E-32A1C55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886200"/>
            <a:ext cx="8412480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C7A6E72-5876-425C-8BCA-DA6ED02B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8046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Hypothesis: part-aware supervision reduces “right attribute, wrong region” errors while preserving image realism.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1B54E14-8014-4E02-B347-67BDB21F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9 / 10</a:t>
            </a:r>
            <a:endParaRPr sz="9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71834C7-C7CD-40C8-87AA-37DC8521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A3F5AA0-0A47-4CB6-B45B-6F8ABB5C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189914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929667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417A1D-6FAB-4A41-A109-02A1F447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0C3012-33CB-48EF-A0E0-F7A92D79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  <a:endParaRPr sz="1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6CECB0B-C8E2-45AA-A05C-05259BA8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116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Next Run: Longer Baseline → Diagnosis → Ablation</a:t>
            </a:r>
            <a:endParaRPr sz="21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427EF0-5930-49A0-AB62-0709A314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5216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Arial"/>
                <a:ea typeface="Arial"/>
                <a:cs typeface="Arial"/>
              </a:rPr>
              <a:t>End-to-end runtime works; remaining work is evidence at training scale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838829E-6CF1-41D9-A239-D6C9B25B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3108960" cy="210312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40910E1-246B-41C5-9719-B69C3ADB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310896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7C7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0B7FE7A-F3EE-4DA7-B774-E867623C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Completed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C1F2DB2-8C77-4C53-9C1B-729E738B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536192"/>
            <a:ext cx="2779776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2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1. RTX 5080 · PyTorch 2.12
2. CUB images + metadata loaded
3. DAMSM + DM-GAN weights
4. Inference + backprop passed
5. 200-step run saved · batch 10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CB42AC3-6EBF-4C0F-8414-9DCF746D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051560"/>
            <a:ext cx="5120640" cy="210312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2700">
            <a:solidFill>
              <a:srgbClr val="E8EE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FB9FD1B-42FD-4ED5-A04C-4C738DE9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051560"/>
            <a:ext cx="512064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3220C33-3268-4FF3-99E4-E96739FC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097280"/>
            <a:ext cx="5120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 Plan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55F9E7F-F05A-45F4-95F8-DD238CD2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536192"/>
            <a:ext cx="4791456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100" b="1">
                <a:solidFill>
                  <a:srgbClr val="C55A11"/>
                </a:solidFill>
                <a:latin typeface="Arial"/>
                <a:ea typeface="Arial"/>
                <a:cs typeface="Arial"/>
              </a:rPr>
              <a:t>① Extend baseline training with fixed prompts
② Track G/D and DAMSM losses
③ Expand the part-error taxonomy
④ Enable part-aware loss behind a flag
⑤ Run a fixed-budget ablation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C890284-C1AF-4979-A49C-452AA809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337560"/>
            <a:ext cx="512064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2700">
            <a:solidFill>
              <a:srgbClr val="0E7C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5320E88-2104-4B95-8441-13CB06DA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10712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F3864"/>
                </a:solidFill>
                <a:latin typeface="Arial"/>
                <a:ea typeface="Arial"/>
                <a:cs typeface="Arial"/>
              </a:rPr>
              <a:t>Success Criteria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B01C8CC-A496-4985-A3C2-8D9A806D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75888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050">
                <a:solidFill>
                  <a:srgbClr val="1F2937"/>
                </a:solidFill>
                <a:latin typeface="Arial"/>
                <a:ea typeface="Arial"/>
                <a:cs typeface="Arial"/>
              </a:rPr>
              <a:t>End-to-end baseline · one evaluator · higher R-precision/part accuracy without material FID regression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CBC7606-5E03-4C13-9CBE-8C0A220C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337560"/>
            <a:ext cx="310896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C168151-475E-4BAE-B8B7-3CEAF14E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3429000"/>
            <a:ext cx="277977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Session 6 outcome: the reproduction pipeline runs; full metrics and part-aware ablation are next.</a:t>
            </a:r>
            <a:endParaRPr sz="1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A8A924B-940B-446F-A61E-6E5DF2C3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914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10 / 10</a:t>
            </a:r>
            <a:endParaRPr sz="9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30F4208-A699-4B9E-8419-22203005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1315EB0-AC15-477B-A7DA-7B44B53C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822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08625832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2026-08-24T08:42:31.6690000Z</dcterms:created>
  <dcterms:modified xsi:type="dcterms:W3CDTF">2026-08-24T08:42:31.6690000Z</dcterms:modified>
</coreProperties>
</file>