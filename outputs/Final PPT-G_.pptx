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636" autoAdjust="0"/>
  </p:normalViewPr>
  <p:slideViewPr>
    <p:cSldViewPr snapToGrid="0" snapToObjects="1">
      <p:cViewPr>
        <p:scale>
          <a:sx n="99" d="100"/>
          <a:sy n="99" d="100"/>
        </p:scale>
        <p:origin x="45" y="1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Seed 824</c:v>
          </c:tx>
          <c:spPr>
            <a:ln w="19050">
              <a:solidFill>
                <a:srgbClr val="17365D"/>
              </a:solidFill>
              <a:prstDash val="solid"/>
            </a:ln>
          </c:spPr>
          <c:marker>
            <c:symbol val="circle"/>
            <c:size val="5"/>
            <c:spPr>
              <a:solidFill>
                <a:srgbClr val="17365D"/>
              </a:solidFill>
            </c:spPr>
          </c:marker>
          <c:cat>
            <c:strLit>
              <c:ptCount val="2"/>
              <c:pt idx="0">
                <c:v>B</c:v>
              </c:pt>
              <c:pt idx="1">
                <c:v>C</c:v>
              </c:pt>
            </c:strLit>
          </c:cat>
          <c:val>
            <c:numLit>
              <c:formatCode>0.00</c:formatCode>
              <c:ptCount val="2"/>
              <c:pt idx="0">
                <c:v>15.948</c:v>
              </c:pt>
              <c:pt idx="1">
                <c:v>15.962</c:v>
              </c:pt>
            </c:numLit>
          </c:val>
          <c:smooth val="0"/>
          <c:extLst>
            <c:ext xmlns:c16="http://schemas.microsoft.com/office/drawing/2014/chart" uri="{C3380CC4-5D6E-409C-BE32-E72D297353CC}">
              <c16:uniqueId val="{00000000-8850-42BC-88B5-70BA3CFFB62C}"/>
            </c:ext>
          </c:extLst>
        </c:ser>
        <c:ser>
          <c:idx val="1"/>
          <c:order val="1"/>
          <c:tx>
            <c:v>Seed 825</c:v>
          </c:tx>
          <c:spPr>
            <a:ln w="19050">
              <a:solidFill>
                <a:srgbClr val="0F7C83"/>
              </a:solidFill>
              <a:prstDash val="solid"/>
            </a:ln>
          </c:spPr>
          <c:marker>
            <c:symbol val="diamond"/>
            <c:size val="5"/>
            <c:spPr>
              <a:solidFill>
                <a:srgbClr val="0F7C83"/>
              </a:solidFill>
            </c:spPr>
          </c:marker>
          <c:cat>
            <c:strLit>
              <c:ptCount val="2"/>
              <c:pt idx="0">
                <c:v>B</c:v>
              </c:pt>
              <c:pt idx="1">
                <c:v>C</c:v>
              </c:pt>
            </c:strLit>
          </c:cat>
          <c:val>
            <c:numLit>
              <c:formatCode>0.00</c:formatCode>
              <c:ptCount val="2"/>
              <c:pt idx="0">
                <c:v>16.295999999999999</c:v>
              </c:pt>
              <c:pt idx="1">
                <c:v>16.335000000000001</c:v>
              </c:pt>
            </c:numLit>
          </c:val>
          <c:smooth val="0"/>
          <c:extLst>
            <c:ext xmlns:c16="http://schemas.microsoft.com/office/drawing/2014/chart" uri="{C3380CC4-5D6E-409C-BE32-E72D297353CC}">
              <c16:uniqueId val="{00000001-8850-42BC-88B5-70BA3CFFB62C}"/>
            </c:ext>
          </c:extLst>
        </c:ser>
        <c:ser>
          <c:idx val="2"/>
          <c:order val="2"/>
          <c:tx>
            <c:v>Seed 826</c:v>
          </c:tx>
          <c:spPr>
            <a:ln w="19050">
              <a:solidFill>
                <a:srgbClr val="C95A00"/>
              </a:solidFill>
              <a:prstDash val="solid"/>
            </a:ln>
          </c:spPr>
          <c:marker>
            <c:symbol val="square"/>
            <c:size val="5"/>
            <c:spPr>
              <a:solidFill>
                <a:srgbClr val="C95A00"/>
              </a:solidFill>
            </c:spPr>
          </c:marker>
          <c:cat>
            <c:strLit>
              <c:ptCount val="2"/>
              <c:pt idx="0">
                <c:v>B</c:v>
              </c:pt>
              <c:pt idx="1">
                <c:v>C</c:v>
              </c:pt>
            </c:strLit>
          </c:cat>
          <c:val>
            <c:numLit>
              <c:formatCode>0.00</c:formatCode>
              <c:ptCount val="2"/>
              <c:pt idx="0">
                <c:v>15.919</c:v>
              </c:pt>
              <c:pt idx="1">
                <c:v>15.974</c:v>
              </c:pt>
            </c:numLit>
          </c:val>
          <c:smooth val="0"/>
          <c:extLst>
            <c:ext xmlns:c16="http://schemas.microsoft.com/office/drawing/2014/chart" uri="{C3380CC4-5D6E-409C-BE32-E72D297353CC}">
              <c16:uniqueId val="{00000002-8850-42BC-88B5-70BA3CFFB62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7DEE8"/>
            </a:solidFill>
            <a:prstDash val="solid"/>
          </a:ln>
        </c:spPr>
        <c:txPr>
          <a:bodyPr anchorCtr="1"/>
          <a:lstStyle/>
          <a:p>
            <a:pPr>
              <a:defRPr sz="750">
                <a:solidFill>
                  <a:srgbClr val="334155"/>
                </a:solidFill>
              </a:defRPr>
            </a:pPr>
            <a:endParaRPr lang="zh-CN"/>
          </a:p>
        </c:txPr>
        <c:crossAx val="48672768"/>
        <c:crosses val="autoZero"/>
        <c:auto val="1"/>
        <c:lblAlgn val="ctr"/>
        <c:lblOffset val="100"/>
        <c:noMultiLvlLbl val="1"/>
      </c:catAx>
      <c:valAx>
        <c:axId val="48672768"/>
        <c:scaling>
          <c:orientation val="minMax"/>
          <c:max val="16.399999999999999"/>
          <c:min val="15.85"/>
        </c:scaling>
        <c:delete val="0"/>
        <c:axPos val="l"/>
        <c:majorGridlines>
          <c:spPr>
            <a:ln w="6668">
              <a:solidFill>
                <a:srgbClr val="D7DEE8"/>
              </a:solidFill>
              <a:prstDash val="solid"/>
            </a:ln>
          </c:spPr>
        </c:majorGridlines>
        <c:numFmt formatCode="0.00" sourceLinked="1"/>
        <c:majorTickMark val="none"/>
        <c:minorTickMark val="none"/>
        <c:tickLblPos val="nextTo"/>
        <c:spPr>
          <a:ln w="9525">
            <a:solidFill>
              <a:srgbClr val="D7DEE8"/>
            </a:solidFill>
            <a:prstDash val="solid"/>
          </a:ln>
        </c:spPr>
        <c:txPr>
          <a:bodyPr anchorCtr="1"/>
          <a:lstStyle/>
          <a:p>
            <a:pPr>
              <a:defRPr sz="675">
                <a:solidFill>
                  <a:srgbClr val="334155"/>
                </a:solidFill>
              </a:defRPr>
            </a:pPr>
            <a:endParaRPr lang="zh-CN"/>
          </a:p>
        </c:txPr>
        <c:crossAx val="48650112"/>
        <c:crosses val="autoZero"/>
        <c:crossBetween val="between"/>
        <c:majorUnit val="0.1"/>
      </c:valAx>
      <c:spPr>
        <a:solidFill>
          <a:srgbClr val="FFFFFF"/>
        </a:solidFill>
        <a:ln w="0">
          <a:solidFill>
            <a:srgbClr val="FFFFFF"/>
          </a:solidFill>
          <a:prstDash val="solid"/>
        </a:ln>
      </c:spPr>
    </c:plotArea>
    <c:legend>
      <c:legendPos val="b"/>
      <c:overlay val="0"/>
      <c:txPr>
        <a:bodyPr anchorCtr="1"/>
        <a:lstStyle/>
        <a:p>
          <a:pPr>
            <a:defRPr sz="600">
              <a:solidFill>
                <a:srgbClr val="334155"/>
              </a:solidFill>
            </a:defRPr>
          </a:pPr>
          <a:endParaRPr lang="zh-CN"/>
        </a:p>
      </c:txPr>
    </c:legend>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Seed 824</c:v>
          </c:tx>
          <c:spPr>
            <a:ln w="19050">
              <a:solidFill>
                <a:srgbClr val="17365D"/>
              </a:solidFill>
              <a:prstDash val="solid"/>
            </a:ln>
          </c:spPr>
          <c:marker>
            <c:symbol val="circle"/>
            <c:size val="5"/>
            <c:spPr>
              <a:solidFill>
                <a:srgbClr val="17365D"/>
              </a:solidFill>
            </c:spPr>
          </c:marker>
          <c:cat>
            <c:strLit>
              <c:ptCount val="2"/>
              <c:pt idx="0">
                <c:v>B</c:v>
              </c:pt>
              <c:pt idx="1">
                <c:v>C</c:v>
              </c:pt>
            </c:strLit>
          </c:cat>
          <c:val>
            <c:numLit>
              <c:formatCode>0.0</c:formatCode>
              <c:ptCount val="2"/>
              <c:pt idx="0">
                <c:v>78.052999999999997</c:v>
              </c:pt>
              <c:pt idx="1">
                <c:v>77.983000000000004</c:v>
              </c:pt>
            </c:numLit>
          </c:val>
          <c:smooth val="0"/>
          <c:extLst>
            <c:ext xmlns:c16="http://schemas.microsoft.com/office/drawing/2014/chart" uri="{C3380CC4-5D6E-409C-BE32-E72D297353CC}">
              <c16:uniqueId val="{00000000-96C8-4D9B-A951-4BC2504F411A}"/>
            </c:ext>
          </c:extLst>
        </c:ser>
        <c:ser>
          <c:idx val="1"/>
          <c:order val="1"/>
          <c:tx>
            <c:v>Seed 825</c:v>
          </c:tx>
          <c:spPr>
            <a:ln w="19050">
              <a:solidFill>
                <a:srgbClr val="0F7C83"/>
              </a:solidFill>
              <a:prstDash val="solid"/>
            </a:ln>
          </c:spPr>
          <c:marker>
            <c:symbol val="diamond"/>
            <c:size val="5"/>
            <c:spPr>
              <a:solidFill>
                <a:srgbClr val="0F7C83"/>
              </a:solidFill>
            </c:spPr>
          </c:marker>
          <c:cat>
            <c:strLit>
              <c:ptCount val="2"/>
              <c:pt idx="0">
                <c:v>B</c:v>
              </c:pt>
              <c:pt idx="1">
                <c:v>C</c:v>
              </c:pt>
            </c:strLit>
          </c:cat>
          <c:val>
            <c:numLit>
              <c:formatCode>0.0</c:formatCode>
              <c:ptCount val="2"/>
              <c:pt idx="0">
                <c:v>78.403000000000006</c:v>
              </c:pt>
              <c:pt idx="1">
                <c:v>78.326999999999998</c:v>
              </c:pt>
            </c:numLit>
          </c:val>
          <c:smooth val="0"/>
          <c:extLst>
            <c:ext xmlns:c16="http://schemas.microsoft.com/office/drawing/2014/chart" uri="{C3380CC4-5D6E-409C-BE32-E72D297353CC}">
              <c16:uniqueId val="{00000001-96C8-4D9B-A951-4BC2504F411A}"/>
            </c:ext>
          </c:extLst>
        </c:ser>
        <c:ser>
          <c:idx val="2"/>
          <c:order val="2"/>
          <c:tx>
            <c:v>Seed 826</c:v>
          </c:tx>
          <c:spPr>
            <a:ln w="19050">
              <a:solidFill>
                <a:srgbClr val="C95A00"/>
              </a:solidFill>
              <a:prstDash val="solid"/>
            </a:ln>
          </c:spPr>
          <c:marker>
            <c:symbol val="square"/>
            <c:size val="5"/>
            <c:spPr>
              <a:solidFill>
                <a:srgbClr val="C95A00"/>
              </a:solidFill>
            </c:spPr>
          </c:marker>
          <c:cat>
            <c:strLit>
              <c:ptCount val="2"/>
              <c:pt idx="0">
                <c:v>B</c:v>
              </c:pt>
              <c:pt idx="1">
                <c:v>C</c:v>
              </c:pt>
            </c:strLit>
          </c:cat>
          <c:val>
            <c:numLit>
              <c:formatCode>0.0</c:formatCode>
              <c:ptCount val="2"/>
              <c:pt idx="0">
                <c:v>77.793000000000006</c:v>
              </c:pt>
              <c:pt idx="1">
                <c:v>78.087000000000003</c:v>
              </c:pt>
            </c:numLit>
          </c:val>
          <c:smooth val="0"/>
          <c:extLst>
            <c:ext xmlns:c16="http://schemas.microsoft.com/office/drawing/2014/chart" uri="{C3380CC4-5D6E-409C-BE32-E72D297353CC}">
              <c16:uniqueId val="{00000002-96C8-4D9B-A951-4BC2504F411A}"/>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7DEE8"/>
            </a:solidFill>
            <a:prstDash val="solid"/>
          </a:ln>
        </c:spPr>
        <c:txPr>
          <a:bodyPr anchorCtr="1"/>
          <a:lstStyle/>
          <a:p>
            <a:pPr>
              <a:defRPr sz="750">
                <a:solidFill>
                  <a:srgbClr val="334155"/>
                </a:solidFill>
              </a:defRPr>
            </a:pPr>
            <a:endParaRPr lang="zh-CN"/>
          </a:p>
        </c:txPr>
        <c:crossAx val="48672768"/>
        <c:crosses val="autoZero"/>
        <c:auto val="1"/>
        <c:lblAlgn val="ctr"/>
        <c:lblOffset val="100"/>
        <c:noMultiLvlLbl val="1"/>
      </c:catAx>
      <c:valAx>
        <c:axId val="48672768"/>
        <c:scaling>
          <c:orientation val="minMax"/>
          <c:max val="78.599999999999994"/>
          <c:min val="77.599999999999994"/>
        </c:scaling>
        <c:delete val="0"/>
        <c:axPos val="l"/>
        <c:majorGridlines>
          <c:spPr>
            <a:ln w="6668">
              <a:solidFill>
                <a:srgbClr val="D7DEE8"/>
              </a:solidFill>
              <a:prstDash val="solid"/>
            </a:ln>
          </c:spPr>
        </c:majorGridlines>
        <c:numFmt formatCode="0.0" sourceLinked="1"/>
        <c:majorTickMark val="none"/>
        <c:minorTickMark val="none"/>
        <c:tickLblPos val="nextTo"/>
        <c:spPr>
          <a:ln w="9525">
            <a:solidFill>
              <a:srgbClr val="D7DEE8"/>
            </a:solidFill>
            <a:prstDash val="solid"/>
          </a:ln>
        </c:spPr>
        <c:txPr>
          <a:bodyPr anchorCtr="1"/>
          <a:lstStyle/>
          <a:p>
            <a:pPr>
              <a:defRPr sz="675">
                <a:solidFill>
                  <a:srgbClr val="334155"/>
                </a:solidFill>
              </a:defRPr>
            </a:pPr>
            <a:endParaRPr lang="zh-CN"/>
          </a:p>
        </c:txPr>
        <c:crossAx val="48650112"/>
        <c:crosses val="autoZero"/>
        <c:crossBetween val="between"/>
        <c:majorUnit val="0.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v>Seed 824</c:v>
          </c:tx>
          <c:spPr>
            <a:ln w="19050">
              <a:solidFill>
                <a:srgbClr val="17365D"/>
              </a:solidFill>
              <a:prstDash val="solid"/>
            </a:ln>
          </c:spPr>
          <c:marker>
            <c:symbol val="circle"/>
            <c:size val="5"/>
            <c:spPr>
              <a:solidFill>
                <a:srgbClr val="17365D"/>
              </a:solidFill>
            </c:spPr>
          </c:marker>
          <c:cat>
            <c:strLit>
              <c:ptCount val="2"/>
              <c:pt idx="0">
                <c:v>B</c:v>
              </c:pt>
              <c:pt idx="1">
                <c:v>C</c:v>
              </c:pt>
            </c:strLit>
          </c:cat>
          <c:val>
            <c:numLit>
              <c:formatCode>0.0</c:formatCode>
              <c:ptCount val="2"/>
              <c:pt idx="0">
                <c:v>71.947000000000003</c:v>
              </c:pt>
              <c:pt idx="1">
                <c:v>71.991</c:v>
              </c:pt>
            </c:numLit>
          </c:val>
          <c:smooth val="0"/>
          <c:extLst>
            <c:ext xmlns:c16="http://schemas.microsoft.com/office/drawing/2014/chart" uri="{C3380CC4-5D6E-409C-BE32-E72D297353CC}">
              <c16:uniqueId val="{00000000-AE3F-4123-A9A8-4A3098324CA9}"/>
            </c:ext>
          </c:extLst>
        </c:ser>
        <c:ser>
          <c:idx val="1"/>
          <c:order val="1"/>
          <c:tx>
            <c:v>Seed 825</c:v>
          </c:tx>
          <c:spPr>
            <a:ln w="19050">
              <a:solidFill>
                <a:srgbClr val="0F7C83"/>
              </a:solidFill>
              <a:prstDash val="solid"/>
            </a:ln>
          </c:spPr>
          <c:marker>
            <c:symbol val="diamond"/>
            <c:size val="5"/>
            <c:spPr>
              <a:solidFill>
                <a:srgbClr val="0F7C83"/>
              </a:solidFill>
            </c:spPr>
          </c:marker>
          <c:cat>
            <c:strLit>
              <c:ptCount val="2"/>
              <c:pt idx="0">
                <c:v>B</c:v>
              </c:pt>
              <c:pt idx="1">
                <c:v>C</c:v>
              </c:pt>
            </c:strLit>
          </c:cat>
          <c:val>
            <c:numLit>
              <c:formatCode>0.0</c:formatCode>
              <c:ptCount val="2"/>
              <c:pt idx="0">
                <c:v>72.52</c:v>
              </c:pt>
              <c:pt idx="1">
                <c:v>72.5</c:v>
              </c:pt>
            </c:numLit>
          </c:val>
          <c:smooth val="0"/>
          <c:extLst>
            <c:ext xmlns:c16="http://schemas.microsoft.com/office/drawing/2014/chart" uri="{C3380CC4-5D6E-409C-BE32-E72D297353CC}">
              <c16:uniqueId val="{00000001-AE3F-4123-A9A8-4A3098324CA9}"/>
            </c:ext>
          </c:extLst>
        </c:ser>
        <c:ser>
          <c:idx val="2"/>
          <c:order val="2"/>
          <c:tx>
            <c:v>Seed 826</c:v>
          </c:tx>
          <c:spPr>
            <a:ln w="19050">
              <a:solidFill>
                <a:srgbClr val="C95A00"/>
              </a:solidFill>
              <a:prstDash val="solid"/>
            </a:ln>
          </c:spPr>
          <c:marker>
            <c:symbol val="square"/>
            <c:size val="5"/>
            <c:spPr>
              <a:solidFill>
                <a:srgbClr val="C95A00"/>
              </a:solidFill>
            </c:spPr>
          </c:marker>
          <c:cat>
            <c:strLit>
              <c:ptCount val="2"/>
              <c:pt idx="0">
                <c:v>B</c:v>
              </c:pt>
              <c:pt idx="1">
                <c:v>C</c:v>
              </c:pt>
            </c:strLit>
          </c:cat>
          <c:val>
            <c:numLit>
              <c:formatCode>0.0</c:formatCode>
              <c:ptCount val="2"/>
              <c:pt idx="0">
                <c:v>72.986000000000004</c:v>
              </c:pt>
              <c:pt idx="1">
                <c:v>72.805000000000007</c:v>
              </c:pt>
            </c:numLit>
          </c:val>
          <c:smooth val="0"/>
          <c:extLst>
            <c:ext xmlns:c16="http://schemas.microsoft.com/office/drawing/2014/chart" uri="{C3380CC4-5D6E-409C-BE32-E72D297353CC}">
              <c16:uniqueId val="{00000002-AE3F-4123-A9A8-4A3098324CA9}"/>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7DEE8"/>
            </a:solidFill>
            <a:prstDash val="solid"/>
          </a:ln>
        </c:spPr>
        <c:txPr>
          <a:bodyPr anchorCtr="1"/>
          <a:lstStyle/>
          <a:p>
            <a:pPr>
              <a:defRPr sz="750">
                <a:solidFill>
                  <a:srgbClr val="334155"/>
                </a:solidFill>
              </a:defRPr>
            </a:pPr>
            <a:endParaRPr lang="zh-CN"/>
          </a:p>
        </c:txPr>
        <c:crossAx val="48672768"/>
        <c:crosses val="autoZero"/>
        <c:auto val="1"/>
        <c:lblAlgn val="ctr"/>
        <c:lblOffset val="100"/>
        <c:noMultiLvlLbl val="1"/>
      </c:catAx>
      <c:valAx>
        <c:axId val="48672768"/>
        <c:scaling>
          <c:orientation val="minMax"/>
          <c:max val="73.099999999999994"/>
          <c:min val="71.8"/>
        </c:scaling>
        <c:delete val="0"/>
        <c:axPos val="l"/>
        <c:majorGridlines>
          <c:spPr>
            <a:ln w="6668">
              <a:solidFill>
                <a:srgbClr val="D7DEE8"/>
              </a:solidFill>
              <a:prstDash val="solid"/>
            </a:ln>
          </c:spPr>
        </c:majorGridlines>
        <c:numFmt formatCode="0.0" sourceLinked="1"/>
        <c:majorTickMark val="none"/>
        <c:minorTickMark val="none"/>
        <c:tickLblPos val="nextTo"/>
        <c:spPr>
          <a:ln w="9525">
            <a:solidFill>
              <a:srgbClr val="D7DEE8"/>
            </a:solidFill>
            <a:prstDash val="solid"/>
          </a:ln>
        </c:spPr>
        <c:txPr>
          <a:bodyPr anchorCtr="1"/>
          <a:lstStyle/>
          <a:p>
            <a:pPr>
              <a:defRPr sz="675">
                <a:solidFill>
                  <a:srgbClr val="334155"/>
                </a:solidFill>
              </a:defRPr>
            </a:pPr>
            <a:endParaRPr lang="zh-CN"/>
          </a:p>
        </c:txPr>
        <c:crossAx val="48650112"/>
        <c:crosses val="autoZero"/>
        <c:crossBetween val="between"/>
        <c:majorUnit val="0.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scatterChart>
        <c:scatterStyle val="lineMarker"/>
        <c:varyColors val="1"/>
        <c:ser>
          <c:idx val="0"/>
          <c:order val="0"/>
          <c:tx>
            <c:v>Part-colour CI</c:v>
          </c:tx>
          <c:spPr>
            <a:ln w="28575">
              <a:solidFill>
                <a:srgbClr val="C95A00"/>
              </a:solidFill>
              <a:prstDash val="solid"/>
            </a:ln>
          </c:spPr>
          <c:marker>
            <c:symbol val="circle"/>
            <c:size val="4"/>
            <c:spPr>
              <a:solidFill>
                <a:srgbClr val="C95A00"/>
              </a:solidFill>
            </c:spPr>
          </c:marker>
          <c:xVal>
            <c:numLit>
              <c:formatCode>General</c:formatCode>
              <c:ptCount val="2"/>
              <c:pt idx="0">
                <c:v>-0.14899999999999999</c:v>
              </c:pt>
              <c:pt idx="1">
                <c:v>5.3999999999999999E-2</c:v>
              </c:pt>
            </c:numLit>
          </c:xVal>
          <c:yVal>
            <c:numLit>
              <c:formatCode>General</c:formatCode>
              <c:ptCount val="2"/>
              <c:pt idx="0">
                <c:v>2</c:v>
              </c:pt>
              <c:pt idx="1">
                <c:v>2</c:v>
              </c:pt>
            </c:numLit>
          </c:yVal>
          <c:smooth val="1"/>
          <c:extLst>
            <c:ext xmlns:c16="http://schemas.microsoft.com/office/drawing/2014/chart" uri="{C3380CC4-5D6E-409C-BE32-E72D297353CC}">
              <c16:uniqueId val="{00000000-6B87-413D-9F3A-2319F4243E38}"/>
            </c:ext>
          </c:extLst>
        </c:ser>
        <c:ser>
          <c:idx val="1"/>
          <c:order val="1"/>
          <c:tx>
            <c:v>Part-colour mean</c:v>
          </c:tx>
          <c:spPr>
            <a:ln w="0">
              <a:solidFill>
                <a:srgbClr val="C95A00"/>
              </a:solidFill>
              <a:prstDash val="solid"/>
            </a:ln>
          </c:spPr>
          <c:marker>
            <c:symbol val="diamond"/>
            <c:size val="8"/>
            <c:spPr>
              <a:solidFill>
                <a:srgbClr val="C95A00"/>
              </a:solidFill>
            </c:spPr>
          </c:marker>
          <c:xVal>
            <c:numLit>
              <c:formatCode>General</c:formatCode>
              <c:ptCount val="1"/>
              <c:pt idx="0">
                <c:v>-5.1999999999999998E-2</c:v>
              </c:pt>
            </c:numLit>
          </c:xVal>
          <c:yVal>
            <c:numLit>
              <c:formatCode>General</c:formatCode>
              <c:ptCount val="1"/>
              <c:pt idx="0">
                <c:v>2</c:v>
              </c:pt>
            </c:numLit>
          </c:yVal>
          <c:smooth val="1"/>
          <c:extLst>
            <c:ext xmlns:c16="http://schemas.microsoft.com/office/drawing/2014/chart" uri="{C3380CC4-5D6E-409C-BE32-E72D297353CC}">
              <c16:uniqueId val="{00000001-6B87-413D-9F3A-2319F4243E38}"/>
            </c:ext>
          </c:extLst>
        </c:ser>
        <c:ser>
          <c:idx val="2"/>
          <c:order val="2"/>
          <c:tx>
            <c:v>R-precision CI</c:v>
          </c:tx>
          <c:spPr>
            <a:ln w="28575">
              <a:solidFill>
                <a:srgbClr val="0F7C83"/>
              </a:solidFill>
              <a:prstDash val="solid"/>
            </a:ln>
          </c:spPr>
          <c:marker>
            <c:symbol val="circle"/>
            <c:size val="4"/>
            <c:spPr>
              <a:solidFill>
                <a:srgbClr val="0F7C83"/>
              </a:solidFill>
            </c:spPr>
          </c:marker>
          <c:xVal>
            <c:numLit>
              <c:formatCode>General</c:formatCode>
              <c:ptCount val="2"/>
              <c:pt idx="0">
                <c:v>-4.9000000000000002E-2</c:v>
              </c:pt>
              <c:pt idx="1">
                <c:v>0.155</c:v>
              </c:pt>
            </c:numLit>
          </c:xVal>
          <c:yVal>
            <c:numLit>
              <c:formatCode>General</c:formatCode>
              <c:ptCount val="2"/>
              <c:pt idx="0">
                <c:v>1</c:v>
              </c:pt>
              <c:pt idx="1">
                <c:v>1</c:v>
              </c:pt>
            </c:numLit>
          </c:yVal>
          <c:smooth val="1"/>
          <c:extLst>
            <c:ext xmlns:c16="http://schemas.microsoft.com/office/drawing/2014/chart" uri="{C3380CC4-5D6E-409C-BE32-E72D297353CC}">
              <c16:uniqueId val="{00000002-6B87-413D-9F3A-2319F4243E38}"/>
            </c:ext>
          </c:extLst>
        </c:ser>
        <c:ser>
          <c:idx val="3"/>
          <c:order val="3"/>
          <c:tx>
            <c:v>R-precision mean</c:v>
          </c:tx>
          <c:spPr>
            <a:ln w="0">
              <a:solidFill>
                <a:srgbClr val="0F7C83"/>
              </a:solidFill>
              <a:prstDash val="solid"/>
            </a:ln>
          </c:spPr>
          <c:marker>
            <c:symbol val="diamond"/>
            <c:size val="8"/>
            <c:spPr>
              <a:solidFill>
                <a:srgbClr val="0F7C83"/>
              </a:solidFill>
            </c:spPr>
          </c:marker>
          <c:xVal>
            <c:numLit>
              <c:formatCode>General</c:formatCode>
              <c:ptCount val="1"/>
              <c:pt idx="0">
                <c:v>4.9000000000000002E-2</c:v>
              </c:pt>
            </c:numLit>
          </c:xVal>
          <c:yVal>
            <c:numLit>
              <c:formatCode>General</c:formatCode>
              <c:ptCount val="1"/>
              <c:pt idx="0">
                <c:v>1</c:v>
              </c:pt>
            </c:numLit>
          </c:yVal>
          <c:smooth val="1"/>
          <c:extLst>
            <c:ext xmlns:c16="http://schemas.microsoft.com/office/drawing/2014/chart" uri="{C3380CC4-5D6E-409C-BE32-E72D297353CC}">
              <c16:uniqueId val="{00000003-6B87-413D-9F3A-2319F4243E38}"/>
            </c:ext>
          </c:extLst>
        </c:ser>
        <c:ser>
          <c:idx val="4"/>
          <c:order val="4"/>
          <c:tx>
            <c:v>No effect</c:v>
          </c:tx>
          <c:spPr>
            <a:ln w="11430">
              <a:solidFill>
                <a:srgbClr val="334155"/>
              </a:solidFill>
              <a:prstDash val="dash"/>
            </a:ln>
          </c:spPr>
          <c:marker>
            <c:symbol val="none"/>
          </c:marker>
          <c:xVal>
            <c:numLit>
              <c:formatCode>General</c:formatCode>
              <c:ptCount val="2"/>
              <c:pt idx="0">
                <c:v>0</c:v>
              </c:pt>
              <c:pt idx="1">
                <c:v>0</c:v>
              </c:pt>
            </c:numLit>
          </c:xVal>
          <c:yVal>
            <c:numLit>
              <c:formatCode>General</c:formatCode>
              <c:ptCount val="2"/>
              <c:pt idx="0">
                <c:v>0.55000000000000004</c:v>
              </c:pt>
              <c:pt idx="1">
                <c:v>2.4500000000000002</c:v>
              </c:pt>
            </c:numLit>
          </c:yVal>
          <c:smooth val="1"/>
          <c:extLst>
            <c:ext xmlns:c16="http://schemas.microsoft.com/office/drawing/2014/chart" uri="{C3380CC4-5D6E-409C-BE32-E72D297353CC}">
              <c16:uniqueId val="{00000004-6B87-413D-9F3A-2319F4243E38}"/>
            </c:ext>
          </c:extLst>
        </c:ser>
        <c:dLbls>
          <c:showLegendKey val="0"/>
          <c:showVal val="0"/>
          <c:showCatName val="0"/>
          <c:showSerName val="0"/>
          <c:showPercent val="0"/>
          <c:showBubbleSize val="0"/>
        </c:dLbls>
        <c:axId val="48650112"/>
        <c:axId val="48672768"/>
      </c:scatterChart>
      <c:valAx>
        <c:axId val="48672768"/>
        <c:scaling>
          <c:orientation val="minMax"/>
          <c:max val="2.5"/>
          <c:min val="0.5"/>
        </c:scaling>
        <c:delete val="0"/>
        <c:axPos val="l"/>
        <c:numFmt formatCode="General" sourceLinked="1"/>
        <c:majorTickMark val="none"/>
        <c:minorTickMark val="none"/>
        <c:tickLblPos val="none"/>
        <c:spPr>
          <a:ln w="0">
            <a:solidFill>
              <a:srgbClr val="FFFFFF"/>
            </a:solidFill>
            <a:prstDash val="solid"/>
          </a:ln>
        </c:spPr>
        <c:txPr>
          <a:bodyPr anchorCtr="1"/>
          <a:lstStyle/>
          <a:p>
            <a:pPr>
              <a:defRPr>
                <a:solidFill>
                  <a:srgbClr val="666666"/>
                </a:solidFill>
              </a:defRPr>
            </a:pPr>
            <a:endParaRPr lang="zh-CN"/>
          </a:p>
        </c:txPr>
        <c:crossAx val="48650112"/>
        <c:crosses val="autoZero"/>
        <c:crossBetween val="midCat"/>
      </c:valAx>
      <c:valAx>
        <c:axId val="48650112"/>
        <c:scaling>
          <c:orientation val="minMax"/>
          <c:max val="0.2"/>
          <c:min val="-0.2"/>
        </c:scaling>
        <c:delete val="0"/>
        <c:axPos val="b"/>
        <c:majorGridlines>
          <c:spPr>
            <a:ln w="5715">
              <a:solidFill>
                <a:srgbClr val="D7DEE8"/>
              </a:solidFill>
              <a:prstDash val="solid"/>
            </a:ln>
          </c:spPr>
        </c:majorGridlines>
        <c:numFmt formatCode="General" sourceLinked="1"/>
        <c:majorTickMark val="none"/>
        <c:minorTickMark val="none"/>
        <c:tickLblPos val="nextTo"/>
        <c:spPr>
          <a:ln w="9525">
            <a:solidFill>
              <a:srgbClr val="D7DEE8"/>
            </a:solidFill>
            <a:prstDash val="solid"/>
          </a:ln>
        </c:spPr>
        <c:txPr>
          <a:bodyPr anchorCtr="1"/>
          <a:lstStyle/>
          <a:p>
            <a:pPr>
              <a:defRPr sz="675">
                <a:solidFill>
                  <a:srgbClr val="334155"/>
                </a:solidFill>
              </a:defRPr>
            </a:pPr>
            <a:endParaRPr lang="zh-CN"/>
          </a:p>
        </c:txPr>
        <c:crossAx val="48672768"/>
        <c:crosses val="autoZero"/>
        <c:crossBetween val="midCat"/>
        <c:majorUnit val="0.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research question and answer it immediately. The part-aware loss changed its internal attention proxy slightly, but it did not improve the output-level target metric. ‘Not demonstrated’ does not mean ‘proved impossible.’</a:t>
            </a:r>
          </a:p>
          <a:p>
            <a:r>
              <a:t>[Sources]</a:t>
            </a:r>
          </a:p>
          <a:p>
            <a:r>
              <a:t>Local final experiment: /home/zjk/Desktop/DM-GANS/artifacts/session7/ablation/report.json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rule prevents a claim based only on an optimized internal loss. The target metric needed a confidence interval above zero, global quality had to stay within the safeguards, and at least two seeds had to agree.</a:t>
            </a:r>
          </a:p>
          <a:p>
            <a:r>
              <a:t>[Sources]</a:t>
            </a:r>
          </a:p>
          <a:p>
            <a:r>
              <a:t>Decision criteria: /home/zjk/Desktop/DM-GANS/artifacts/session7/ablation/report.json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DM-GAN first creates a low-resolution image and then uses dynamic word memory at higher resolutions. Global colour can look plausible while a specific part relationship remains ambiguous. This motivates the test; it is not itself quantitative evidence.</a:t>
            </a:r>
          </a:p>
          <a:p>
            <a:r>
              <a:t>[Sources]</a:t>
            </a:r>
          </a:p>
          <a:p>
            <a:r>
              <a:t>DM-GAN paper: https://openaccess.thecvf.com/content_CVPR_2019/html/Zhu_DM-GAN_Dynamic_Memory_Generative_Adversarial_Networks_for_Text-To-Image_Synthesis_CVPR_2019_paper.html</a:t>
            </a:r>
          </a:p>
          <a:p>
            <a:r>
              <a:t>Local failure analysis: /home/zjk/Desktop/DM-GANS/docs/failure_analysis.md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official generator and DAMSM weights were evaluated through the modern code path on 30,000 fixed samples. Comparable PyTorch FID and DAMSM R-precision make the baseline reproduction credible. The short random-initialized run was only pipeline evidence.</a:t>
            </a:r>
          </a:p>
          <a:p>
            <a:r>
              <a:t>[Sources]</a:t>
            </a:r>
          </a:p>
          <a:p>
            <a:r>
              <a:t>Baseline evaluation: /home/zjk/Desktop/DM-GANS/artifacts/session6/baseline_evaluation/report.json</a:t>
            </a:r>
          </a:p>
          <a:p>
            <a:r>
              <a:t>Official performance: https://github.com/MinfengZhu/DM-GAN#performance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loss converts visible CUB landmarks into Gaussian maps, maps part-related tokens to those maps, and penalizes attention away from the target at the 128 and 256 stages. Gaussian sigma is 8% of map width. Invisible, cropped, and unassigned targets are excluded. This supervises attention, not pixels.</a:t>
            </a:r>
          </a:p>
          <a:p>
            <a:r>
              <a:t>[Sources]</a:t>
            </a:r>
          </a:p>
          <a:p>
            <a:r>
              <a:t>Implementation: /home/zjk/Desktop/DM-GANS/dmgan/part_aware.py</a:t>
            </a:r>
          </a:p>
          <a:p>
            <a:r>
              <a:t>CUB dataset: https://www.vision.caltech.edu/datasets/cub_200_2011/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Coordinate synchronization is the critical construction detail. Landmarks follow bbox crop, resize, random crop, and horizontal flip. Visibility is recomputed after cropping, and side-neutral nouns use merged left/right targets.</a:t>
            </a:r>
          </a:p>
          <a:p>
            <a:r>
              <a:t>[Sources]</a:t>
            </a:r>
          </a:p>
          <a:p>
            <a:r>
              <a:t>Dataset pipeline: /home/zjk/Desktop/DM-GANS/dmgan/data.py</a:t>
            </a:r>
          </a:p>
          <a:p>
            <a:r>
              <a:t>CUB annotation format: /home/zjk/Desktop/DM-GANS/data/birds/CUB_200_2011/README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is useful only as a reproduction reference. Comparing fine-tuned C with untouched A would mix the loss effect with continued training and discriminator adaptation. B absorbs those effects, so only C minus B is the valid experimental contrast.</a:t>
            </a:r>
          </a:p>
          <a:p>
            <a:r>
              <a:t>[Sources]</a:t>
            </a:r>
          </a:p>
          <a:p>
            <a:r>
              <a:t>Training protocol: /home/zjk/Desktop/DM-GANS/scripts/run_part_aware_ablation.py</a:t>
            </a:r>
          </a:p>
          <a:p>
            <a:r>
              <a:t>Training manifest: /home/zjk/Desktop/DM-GANS/artifacts/session7/ablation/training_manifest.json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each seed, the discriminator was warmed for 200 steps with the generator frozen. The same G, D, optimizer state, batches, caption choices, augmentations, latent noise, and RNG were used for the paired branches. Generator learning rate was 2e-5, discriminator learning rate 2e-4, batch size 10, and each branch ran 1,200 updates. EMA weights were evaluated.</a:t>
            </a:r>
          </a:p>
          <a:p>
            <a:r>
              <a:t>[Sources]</a:t>
            </a:r>
          </a:p>
          <a:p>
            <a:r>
              <a:t>Training script: /home/zjk/Desktop/DM-GANS/scripts/run_part_aware_ablation.py</a:t>
            </a:r>
          </a:p>
          <a:p>
            <a:r>
              <a:t>Seed protocol: /home/zjk/Desktop/DM-GANS/artifacts/session7/ablation/seed_20260824/training_report.json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colour-swap test keeps the part noun fixed and replaces only the colour word. The generated image should rank its correct caption above nine alternatives. FID is the realism/diversity safeguard and R-precision is the text-match safeguard. The same frozen DAMSM family scores the targeted test, so this is not independent human validation.</a:t>
            </a:r>
          </a:p>
          <a:p>
            <a:r>
              <a:t>[Sources]</a:t>
            </a:r>
          </a:p>
          <a:p>
            <a:r>
              <a:t>Evaluator: /home/zjk/Desktop/DM-GANS/scripts/evaluate_ablation.py</a:t>
            </a:r>
          </a:p>
          <a:p>
            <a:r>
              <a:t>Protocol: /home/zjk/Desktop/DM-GANS/artifacts/session7/ablation/colour_swap_protocol.json</a:t>
            </a:r>
          </a:p>
          <a:p>
            <a:r>
              <a:t>FID paper: https://proceedings.neurips.cc/paper/2017/hash/8a1d694707eb0fefe65871369074926d-Abstract.html</a:t>
            </a:r>
          </a:p>
          <a:p>
            <a:r>
              <a:t>DAMSM paper: https://openaccess.thecvf.com/content_cvpr_2018/html/Xu_AttnGAN_Fine-Grained_Text_CVPR_2018_paper.html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direction before magnitude. Part-colour improves only for seed 20260824 and falls for the other two. FID moves in the wrong direction for all three. R-precision is mixed. The changes are tiny, but the targeted effect is not consistently positive.</a:t>
            </a:r>
          </a:p>
          <a:p>
            <a:r>
              <a:t>[Sources]</a:t>
            </a:r>
          </a:p>
          <a:p>
            <a:r>
              <a:t>Per-seed results: /home/zjk/Desktop/DM-GANS/artifacts/session7/ablation/report.json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part-colour interval crosses zero, so both a tiny benefit and a tiny harm remain compatible with the data. Aggregate McNemar p-values are 0.327 for colour and 0.354 for R-precision. FID has no improvement signal. The output-level benefit was not demonstrated.</a:t>
            </a:r>
          </a:p>
          <a:p>
            <a:r>
              <a:t>[Sources]</a:t>
            </a:r>
          </a:p>
          <a:p>
            <a:r>
              <a:t>Aggregate statistics: /home/zjk/Desktop/DM-GANS/artifacts/session7/ablation/report.json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Lower attention CE confirms that gradients reached the intended mechanism, but the relative change is only about 0.05%, and support-mass movement is effectively zero. Because CE is directly optimized, it cannot by itself validate generated-image improvement.</a:t>
            </a:r>
          </a:p>
          <a:p>
            <a:r>
              <a:t>[Sources]</a:t>
            </a:r>
          </a:p>
          <a:p>
            <a:r>
              <a:t>Attention metrics: /home/zjk/Desktop/DM-GANS/artifacts/session7/ablation/report.json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complete first fixed evaluation cases for seed 20260824, not images selected after ranking quality. B is top and C is bottom. Differences are subtle and mixed. Do not infer significance from visual inspection.</a:t>
            </a:r>
          </a:p>
          <a:p>
            <a:r>
              <a:t>[Sources]</a:t>
            </a:r>
          </a:p>
          <a:p>
            <a:r>
              <a:t>Fixed seed 20260824 grid: /home/zjk/Desktop/DM-GANS/artifacts/session7/ablation/seed_20260824/evaluation_preview_baseline_top_part_bottom.png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study supports a fair controlled fine-tuning comparison and the statement that no reliable output gain was observed here. It does not establish universal failure, a full-training outcome, or generated-image keypoint accuracy. C also consumes extra landmark labels.</a:t>
            </a:r>
          </a:p>
          <a:p>
            <a:r>
              <a:t>[Sources]</a:t>
            </a:r>
          </a:p>
          <a:p>
            <a:r>
              <a:t>Limitations: /home/zjk/Desktop/DM-GANS/artifacts/session7/ablation/PART_AWARE_ABLATION.md</a:t>
            </a:r>
          </a:p>
          <a:p>
            <a:r>
              <a:t>CUB dataset: https://www.vision.caltech.edu/datasets/cub_200_2011/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in one sentence: under three paired seeds and 30,000 fixed evaluations, C did not reliably improve part-colour matching and slightly worsened FID, so superiority is not demonstrated. The next test should use an independent generated-image part detector or blinded human ratings and longer multi-seed training.</a:t>
            </a:r>
          </a:p>
          <a:p>
            <a:r>
              <a:t>[Sources]</a:t>
            </a:r>
          </a:p>
          <a:p>
            <a:r>
              <a:t>Final decision: /home/zjk/Desktop/DM-GANS/artifacts/session7/ablation/report.json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991FA01-14C4-4E3C-9A9F-F78054FADFBB}"/>
              </a:ext>
            </a:extLst>
          </p:cNvPr>
          <p:cNvSpPr>
            <a:spLocks noGrp="1"/>
          </p:cNvSpPr>
          <p:nvPr/>
        </p:nvSpPr>
        <p:spPr>
          <a:xfrm>
            <a:off x="0" y="0"/>
            <a:ext cx="9144000" cy="164592"/>
          </a:xfrm>
          <a:prstGeom prst="rect">
            <a:avLst/>
          </a:prstGeom>
          <a:solidFill>
            <a:srgbClr val="1F3864"/>
          </a:solidFill>
        </p:spPr>
        <p:txBody>
          <a:bodyPr/>
          <a:lstStyle/>
          <a:p>
            <a:endParaRPr/>
          </a:p>
        </p:txBody>
      </p:sp>
      <p:sp>
        <p:nvSpPr>
          <p:cNvPr id="3" name="Shape 1">
            <a:extLst>
              <a:ext uri="{FF2B5EF4-FFF2-40B4-BE49-F238E27FC236}">
                <a16:creationId xmlns:a16="http://schemas.microsoft.com/office/drawing/2014/main" id="{9D4A6042-3935-4819-9041-115006315508}"/>
              </a:ext>
            </a:extLst>
          </p:cNvPr>
          <p:cNvSpPr>
            <a:spLocks noGrp="1"/>
          </p:cNvSpPr>
          <p:nvPr/>
        </p:nvSpPr>
        <p:spPr>
          <a:xfrm>
            <a:off x="0" y="4983480"/>
            <a:ext cx="9144000" cy="164592"/>
          </a:xfrm>
          <a:prstGeom prst="rect">
            <a:avLst/>
          </a:prstGeom>
          <a:solidFill>
            <a:srgbClr val="1F3864"/>
          </a:solidFill>
        </p:spPr>
        <p:txBody>
          <a:bodyPr/>
          <a:lstStyle/>
          <a:p>
            <a:endParaRPr/>
          </a:p>
        </p:txBody>
      </p:sp>
      <p:sp>
        <p:nvSpPr>
          <p:cNvPr id="4" name="Text 2">
            <a:extLst>
              <a:ext uri="{FF2B5EF4-FFF2-40B4-BE49-F238E27FC236}">
                <a16:creationId xmlns:a16="http://schemas.microsoft.com/office/drawing/2014/main" id="{4CF5E0E2-8370-4934-9625-D6267189B9AB}"/>
              </a:ext>
            </a:extLst>
          </p:cNvPr>
          <p:cNvSpPr>
            <a:spLocks noGrp="1"/>
          </p:cNvSpPr>
          <p:nvPr/>
        </p:nvSpPr>
        <p:spPr>
          <a:xfrm>
            <a:off x="640080" y="685800"/>
            <a:ext cx="7863840" cy="640080"/>
          </a:xfrm>
          <a:prstGeom prst="rect">
            <a:avLst/>
          </a:prstGeom>
          <a:noFill/>
        </p:spPr>
        <p:txBody>
          <a:bodyPr wrap="square" anchor="ctr"/>
          <a:lstStyle/>
          <a:p>
            <a:pPr marL="0" indent="0" algn="ctr">
              <a:buNone/>
            </a:pPr>
            <a:r>
              <a:rPr sz="3400" b="1">
                <a:solidFill>
                  <a:srgbClr val="1F3864"/>
                </a:solidFill>
                <a:latin typeface="Arial"/>
                <a:ea typeface="Arial"/>
                <a:cs typeface="Arial"/>
              </a:rPr>
              <a:t>Is Part-Aware DM-GAN Better?</a:t>
            </a:r>
            <a:endParaRPr sz="3400"/>
          </a:p>
        </p:txBody>
      </p:sp>
      <p:sp>
        <p:nvSpPr>
          <p:cNvPr id="5" name="Text 3">
            <a:extLst>
              <a:ext uri="{FF2B5EF4-FFF2-40B4-BE49-F238E27FC236}">
                <a16:creationId xmlns:a16="http://schemas.microsoft.com/office/drawing/2014/main" id="{A7E74682-23A1-468F-9BFD-943D1215A9E0}"/>
              </a:ext>
            </a:extLst>
          </p:cNvPr>
          <p:cNvSpPr>
            <a:spLocks noGrp="1"/>
          </p:cNvSpPr>
          <p:nvPr/>
        </p:nvSpPr>
        <p:spPr>
          <a:xfrm>
            <a:off x="640080" y="1371600"/>
            <a:ext cx="7863840" cy="365760"/>
          </a:xfrm>
          <a:prstGeom prst="rect">
            <a:avLst/>
          </a:prstGeom>
          <a:noFill/>
        </p:spPr>
        <p:txBody>
          <a:bodyPr wrap="square" anchor="ctr"/>
          <a:lstStyle/>
          <a:p>
            <a:pPr marL="0" indent="0" algn="ctr">
              <a:buNone/>
            </a:pPr>
            <a:r>
              <a:rPr sz="1500">
                <a:solidFill>
                  <a:srgbClr val="1F2937"/>
                </a:solidFill>
                <a:latin typeface="Arial"/>
                <a:ea typeface="Arial"/>
                <a:cs typeface="Arial"/>
              </a:rPr>
              <a:t>Final Project · CUB-200-2011 · Group G_</a:t>
            </a:r>
            <a:endParaRPr sz="1500"/>
          </a:p>
        </p:txBody>
      </p:sp>
      <p:sp>
        <p:nvSpPr>
          <p:cNvPr id="6" name="Text 4">
            <a:extLst>
              <a:ext uri="{FF2B5EF4-FFF2-40B4-BE49-F238E27FC236}">
                <a16:creationId xmlns:a16="http://schemas.microsoft.com/office/drawing/2014/main" id="{EA000F15-279A-4C5A-93E2-18ECCB33F828}"/>
              </a:ext>
            </a:extLst>
          </p:cNvPr>
          <p:cNvSpPr>
            <a:spLocks noGrp="1"/>
          </p:cNvSpPr>
          <p:nvPr/>
        </p:nvSpPr>
        <p:spPr>
          <a:xfrm>
            <a:off x="640080" y="1755648"/>
            <a:ext cx="7863840" cy="292608"/>
          </a:xfrm>
          <a:prstGeom prst="rect">
            <a:avLst/>
          </a:prstGeom>
          <a:noFill/>
        </p:spPr>
        <p:txBody>
          <a:bodyPr wrap="square" anchor="ctr"/>
          <a:lstStyle/>
          <a:p>
            <a:pPr marL="0" indent="0" algn="ctr">
              <a:buNone/>
            </a:pPr>
            <a:r>
              <a:rPr sz="1200" i="1">
                <a:solidFill>
                  <a:srgbClr val="0E7C7B"/>
                </a:solidFill>
                <a:latin typeface="Arial"/>
                <a:ea typeface="Arial"/>
                <a:cs typeface="Arial"/>
              </a:rPr>
              <a:t>Controlled answer: superiority was not demonstrated.</a:t>
            </a:r>
            <a:endParaRPr sz="1200"/>
          </a:p>
        </p:txBody>
      </p:sp>
      <p:sp>
        <p:nvSpPr>
          <p:cNvPr id="7" name="Shape 5">
            <a:extLst>
              <a:ext uri="{FF2B5EF4-FFF2-40B4-BE49-F238E27FC236}">
                <a16:creationId xmlns:a16="http://schemas.microsoft.com/office/drawing/2014/main" id="{D5DB531F-55FB-47A9-B335-BB7E0F5BD67C}"/>
              </a:ext>
            </a:extLst>
          </p:cNvPr>
          <p:cNvSpPr>
            <a:spLocks noGrp="1"/>
          </p:cNvSpPr>
          <p:nvPr/>
        </p:nvSpPr>
        <p:spPr>
          <a:xfrm>
            <a:off x="594360" y="2377440"/>
            <a:ext cx="1828800" cy="1325880"/>
          </a:xfrm>
          <a:prstGeom prst="roundRect">
            <a:avLst>
              <a:gd name="adj" fmla="val 5517"/>
            </a:avLst>
          </a:prstGeom>
          <a:solidFill>
            <a:srgbClr val="F3F6FB"/>
          </a:solidFill>
          <a:ln w="12700">
            <a:solidFill>
              <a:srgbClr val="1F3864"/>
            </a:solidFill>
            <a:prstDash val="solid"/>
          </a:ln>
        </p:spPr>
        <p:txBody>
          <a:bodyPr/>
          <a:lstStyle/>
          <a:p>
            <a:endParaRPr/>
          </a:p>
        </p:txBody>
      </p:sp>
      <p:sp>
        <p:nvSpPr>
          <p:cNvPr id="8" name="Text 6">
            <a:extLst>
              <a:ext uri="{FF2B5EF4-FFF2-40B4-BE49-F238E27FC236}">
                <a16:creationId xmlns:a16="http://schemas.microsoft.com/office/drawing/2014/main" id="{389625CE-1F8A-4902-96D1-6FA8A8F2BB19}"/>
              </a:ext>
            </a:extLst>
          </p:cNvPr>
          <p:cNvSpPr>
            <a:spLocks noGrp="1"/>
          </p:cNvSpPr>
          <p:nvPr/>
        </p:nvSpPr>
        <p:spPr>
          <a:xfrm>
            <a:off x="594360" y="2487168"/>
            <a:ext cx="1828800" cy="274320"/>
          </a:xfrm>
          <a:prstGeom prst="rect">
            <a:avLst/>
          </a:prstGeom>
          <a:noFill/>
        </p:spPr>
        <p:txBody>
          <a:bodyPr wrap="square" anchor="ctr"/>
          <a:lstStyle/>
          <a:p>
            <a:pPr marL="0" indent="0" algn="ctr">
              <a:buNone/>
            </a:pPr>
            <a:r>
              <a:rPr sz="1100" b="1">
                <a:solidFill>
                  <a:srgbClr val="C55A11"/>
                </a:solidFill>
                <a:latin typeface="Arial"/>
                <a:ea typeface="Arial"/>
                <a:cs typeface="Arial"/>
              </a:rPr>
              <a:t>BASELINE</a:t>
            </a:r>
            <a:endParaRPr sz="1100"/>
          </a:p>
        </p:txBody>
      </p:sp>
      <p:sp>
        <p:nvSpPr>
          <p:cNvPr id="9" name="Text 7">
            <a:extLst>
              <a:ext uri="{FF2B5EF4-FFF2-40B4-BE49-F238E27FC236}">
                <a16:creationId xmlns:a16="http://schemas.microsoft.com/office/drawing/2014/main" id="{F203628C-02A3-40CA-8F9A-270A5EA53124}"/>
              </a:ext>
            </a:extLst>
          </p:cNvPr>
          <p:cNvSpPr>
            <a:spLocks noGrp="1"/>
          </p:cNvSpPr>
          <p:nvPr/>
        </p:nvSpPr>
        <p:spPr>
          <a:xfrm>
            <a:off x="594360" y="2743200"/>
            <a:ext cx="1828800" cy="310896"/>
          </a:xfrm>
          <a:prstGeom prst="rect">
            <a:avLst/>
          </a:prstGeom>
          <a:noFill/>
        </p:spPr>
        <p:txBody>
          <a:bodyPr wrap="square" anchor="ctr"/>
          <a:lstStyle/>
          <a:p>
            <a:pPr marL="0" indent="0" algn="ctr">
              <a:buNone/>
            </a:pPr>
            <a:r>
              <a:rPr sz="1500" b="1">
                <a:solidFill>
                  <a:srgbClr val="1F3864"/>
                </a:solidFill>
                <a:latin typeface="Arial"/>
                <a:ea typeface="Arial"/>
                <a:cs typeface="Arial"/>
              </a:rPr>
              <a:t>Credible</a:t>
            </a:r>
            <a:endParaRPr sz="1500"/>
          </a:p>
        </p:txBody>
      </p:sp>
      <p:sp>
        <p:nvSpPr>
          <p:cNvPr id="10" name="Text 8">
            <a:extLst>
              <a:ext uri="{FF2B5EF4-FFF2-40B4-BE49-F238E27FC236}">
                <a16:creationId xmlns:a16="http://schemas.microsoft.com/office/drawing/2014/main" id="{F2282384-D422-4283-A453-997AD8D52B2D}"/>
              </a:ext>
            </a:extLst>
          </p:cNvPr>
          <p:cNvSpPr>
            <a:spLocks noGrp="1"/>
          </p:cNvSpPr>
          <p:nvPr/>
        </p:nvSpPr>
        <p:spPr>
          <a:xfrm>
            <a:off x="594360" y="3072384"/>
            <a:ext cx="1828800" cy="502920"/>
          </a:xfrm>
          <a:prstGeom prst="rect">
            <a:avLst/>
          </a:prstGeom>
          <a:noFill/>
        </p:spPr>
        <p:txBody>
          <a:bodyPr wrap="square" anchor="ctr"/>
          <a:lstStyle/>
          <a:p>
            <a:pPr marL="0" indent="0" algn="ctr">
              <a:buNone/>
            </a:pPr>
            <a:r>
              <a:rPr sz="1000">
                <a:solidFill>
                  <a:srgbClr val="1F2937"/>
                </a:solidFill>
                <a:latin typeface="Arial"/>
                <a:ea typeface="Arial"/>
                <a:cs typeface="Arial"/>
              </a:rPr>
              <a:t>30k author-weight reproduction</a:t>
            </a:r>
            <a:endParaRPr sz="1000"/>
          </a:p>
        </p:txBody>
      </p:sp>
      <p:sp>
        <p:nvSpPr>
          <p:cNvPr id="11" name="Shape 9">
            <a:extLst>
              <a:ext uri="{FF2B5EF4-FFF2-40B4-BE49-F238E27FC236}">
                <a16:creationId xmlns:a16="http://schemas.microsoft.com/office/drawing/2014/main" id="{C141F722-7419-4C86-9589-99A1499D6DF6}"/>
              </a:ext>
            </a:extLst>
          </p:cNvPr>
          <p:cNvSpPr>
            <a:spLocks noGrp="1"/>
          </p:cNvSpPr>
          <p:nvPr/>
        </p:nvSpPr>
        <p:spPr>
          <a:xfrm>
            <a:off x="2423160" y="3035808"/>
            <a:ext cx="320040" cy="0"/>
          </a:xfrm>
          <a:prstGeom prst="line">
            <a:avLst/>
          </a:prstGeom>
          <a:noFill/>
          <a:ln w="15240">
            <a:solidFill>
              <a:srgbClr val="6B7280"/>
            </a:solidFill>
            <a:prstDash val="solid"/>
          </a:ln>
        </p:spPr>
        <p:txBody>
          <a:bodyPr/>
          <a:lstStyle/>
          <a:p>
            <a:endParaRPr/>
          </a:p>
        </p:txBody>
      </p:sp>
      <p:sp>
        <p:nvSpPr>
          <p:cNvPr id="12" name="Shape 10">
            <a:extLst>
              <a:ext uri="{FF2B5EF4-FFF2-40B4-BE49-F238E27FC236}">
                <a16:creationId xmlns:a16="http://schemas.microsoft.com/office/drawing/2014/main" id="{015FF497-7690-495A-975E-14A40707F9CF}"/>
              </a:ext>
            </a:extLst>
          </p:cNvPr>
          <p:cNvSpPr>
            <a:spLocks noGrp="1"/>
          </p:cNvSpPr>
          <p:nvPr/>
        </p:nvSpPr>
        <p:spPr>
          <a:xfrm>
            <a:off x="2743200" y="2377440"/>
            <a:ext cx="1828800" cy="1325880"/>
          </a:xfrm>
          <a:prstGeom prst="roundRect">
            <a:avLst>
              <a:gd name="adj" fmla="val 5517"/>
            </a:avLst>
          </a:prstGeom>
          <a:solidFill>
            <a:srgbClr val="F3F6FB"/>
          </a:solidFill>
          <a:ln w="12700">
            <a:solidFill>
              <a:srgbClr val="1F3864"/>
            </a:solidFill>
            <a:prstDash val="solid"/>
          </a:ln>
        </p:spPr>
        <p:txBody>
          <a:bodyPr/>
          <a:lstStyle/>
          <a:p>
            <a:endParaRPr/>
          </a:p>
        </p:txBody>
      </p:sp>
      <p:sp>
        <p:nvSpPr>
          <p:cNvPr id="13" name="Text 11">
            <a:extLst>
              <a:ext uri="{FF2B5EF4-FFF2-40B4-BE49-F238E27FC236}">
                <a16:creationId xmlns:a16="http://schemas.microsoft.com/office/drawing/2014/main" id="{7D6FE07A-4157-412B-902C-39FC888D9FDA}"/>
              </a:ext>
            </a:extLst>
          </p:cNvPr>
          <p:cNvSpPr>
            <a:spLocks noGrp="1"/>
          </p:cNvSpPr>
          <p:nvPr/>
        </p:nvSpPr>
        <p:spPr>
          <a:xfrm>
            <a:off x="2743200" y="2487168"/>
            <a:ext cx="1828800" cy="274320"/>
          </a:xfrm>
          <a:prstGeom prst="rect">
            <a:avLst/>
          </a:prstGeom>
          <a:noFill/>
        </p:spPr>
        <p:txBody>
          <a:bodyPr wrap="square" anchor="ctr"/>
          <a:lstStyle/>
          <a:p>
            <a:pPr marL="0" indent="0" algn="ctr">
              <a:buNone/>
            </a:pPr>
            <a:r>
              <a:rPr sz="1100" b="1">
                <a:solidFill>
                  <a:srgbClr val="C55A11"/>
                </a:solidFill>
                <a:latin typeface="Arial"/>
                <a:ea typeface="Arial"/>
                <a:cs typeface="Arial"/>
              </a:rPr>
              <a:t>TARGET</a:t>
            </a:r>
            <a:endParaRPr sz="1100"/>
          </a:p>
        </p:txBody>
      </p:sp>
      <p:sp>
        <p:nvSpPr>
          <p:cNvPr id="14" name="Text 12">
            <a:extLst>
              <a:ext uri="{FF2B5EF4-FFF2-40B4-BE49-F238E27FC236}">
                <a16:creationId xmlns:a16="http://schemas.microsoft.com/office/drawing/2014/main" id="{E7BE8D78-A24C-453B-A5A4-6E37B3A789E5}"/>
              </a:ext>
            </a:extLst>
          </p:cNvPr>
          <p:cNvSpPr>
            <a:spLocks noGrp="1"/>
          </p:cNvSpPr>
          <p:nvPr/>
        </p:nvSpPr>
        <p:spPr>
          <a:xfrm>
            <a:off x="2743200" y="2743200"/>
            <a:ext cx="1828800" cy="310896"/>
          </a:xfrm>
          <a:prstGeom prst="rect">
            <a:avLst/>
          </a:prstGeom>
          <a:noFill/>
        </p:spPr>
        <p:txBody>
          <a:bodyPr wrap="square" anchor="ctr"/>
          <a:lstStyle/>
          <a:p>
            <a:pPr marL="0" indent="0" algn="ctr">
              <a:buNone/>
            </a:pPr>
            <a:r>
              <a:rPr sz="1500" b="1">
                <a:solidFill>
                  <a:srgbClr val="1F3864"/>
                </a:solidFill>
                <a:latin typeface="Arial"/>
                <a:ea typeface="Arial"/>
                <a:cs typeface="Arial"/>
              </a:rPr>
              <a:t>Part–colour</a:t>
            </a:r>
            <a:endParaRPr sz="1500"/>
          </a:p>
        </p:txBody>
      </p:sp>
      <p:sp>
        <p:nvSpPr>
          <p:cNvPr id="15" name="Text 13">
            <a:extLst>
              <a:ext uri="{FF2B5EF4-FFF2-40B4-BE49-F238E27FC236}">
                <a16:creationId xmlns:a16="http://schemas.microsoft.com/office/drawing/2014/main" id="{530FCE7D-55EE-4928-80DB-65862A0030CB}"/>
              </a:ext>
            </a:extLst>
          </p:cNvPr>
          <p:cNvSpPr>
            <a:spLocks noGrp="1"/>
          </p:cNvSpPr>
          <p:nvPr/>
        </p:nvSpPr>
        <p:spPr>
          <a:xfrm>
            <a:off x="2743200" y="3072384"/>
            <a:ext cx="1828800" cy="502920"/>
          </a:xfrm>
          <a:prstGeom prst="rect">
            <a:avLst/>
          </a:prstGeom>
          <a:noFill/>
        </p:spPr>
        <p:txBody>
          <a:bodyPr wrap="square" anchor="ctr"/>
          <a:lstStyle/>
          <a:p>
            <a:pPr marL="0" indent="0" algn="ctr">
              <a:buNone/>
            </a:pPr>
            <a:r>
              <a:rPr sz="1000">
                <a:solidFill>
                  <a:srgbClr val="1F2937"/>
                </a:solidFill>
                <a:latin typeface="Arial"/>
                <a:ea typeface="Arial"/>
                <a:cs typeface="Arial"/>
              </a:rPr>
              <a:t>Output-level swap accuracy</a:t>
            </a:r>
            <a:endParaRPr sz="1000"/>
          </a:p>
        </p:txBody>
      </p:sp>
      <p:sp>
        <p:nvSpPr>
          <p:cNvPr id="16" name="Shape 14">
            <a:extLst>
              <a:ext uri="{FF2B5EF4-FFF2-40B4-BE49-F238E27FC236}">
                <a16:creationId xmlns:a16="http://schemas.microsoft.com/office/drawing/2014/main" id="{2B72E24A-B5E3-4E7E-9E2B-02BCDED6921F}"/>
              </a:ext>
            </a:extLst>
          </p:cNvPr>
          <p:cNvSpPr>
            <a:spLocks noGrp="1"/>
          </p:cNvSpPr>
          <p:nvPr/>
        </p:nvSpPr>
        <p:spPr>
          <a:xfrm>
            <a:off x="4572000" y="3035808"/>
            <a:ext cx="320040" cy="0"/>
          </a:xfrm>
          <a:prstGeom prst="line">
            <a:avLst/>
          </a:prstGeom>
          <a:noFill/>
          <a:ln w="15240">
            <a:solidFill>
              <a:srgbClr val="6B7280"/>
            </a:solidFill>
            <a:prstDash val="solid"/>
          </a:ln>
        </p:spPr>
        <p:txBody>
          <a:bodyPr/>
          <a:lstStyle/>
          <a:p>
            <a:endParaRPr/>
          </a:p>
        </p:txBody>
      </p:sp>
      <p:sp>
        <p:nvSpPr>
          <p:cNvPr id="17" name="Shape 15">
            <a:extLst>
              <a:ext uri="{FF2B5EF4-FFF2-40B4-BE49-F238E27FC236}">
                <a16:creationId xmlns:a16="http://schemas.microsoft.com/office/drawing/2014/main" id="{018EF809-41DC-4BDB-9BB5-03AA8F16850D}"/>
              </a:ext>
            </a:extLst>
          </p:cNvPr>
          <p:cNvSpPr>
            <a:spLocks noGrp="1"/>
          </p:cNvSpPr>
          <p:nvPr/>
        </p:nvSpPr>
        <p:spPr>
          <a:xfrm>
            <a:off x="4892040" y="2377440"/>
            <a:ext cx="1828800" cy="1325880"/>
          </a:xfrm>
          <a:prstGeom prst="roundRect">
            <a:avLst>
              <a:gd name="adj" fmla="val 5517"/>
            </a:avLst>
          </a:prstGeom>
          <a:solidFill>
            <a:srgbClr val="F3F6FB"/>
          </a:solidFill>
          <a:ln w="12700">
            <a:solidFill>
              <a:srgbClr val="1F3864"/>
            </a:solidFill>
            <a:prstDash val="solid"/>
          </a:ln>
        </p:spPr>
        <p:txBody>
          <a:bodyPr/>
          <a:lstStyle/>
          <a:p>
            <a:endParaRPr/>
          </a:p>
        </p:txBody>
      </p:sp>
      <p:sp>
        <p:nvSpPr>
          <p:cNvPr id="18" name="Text 16">
            <a:extLst>
              <a:ext uri="{FF2B5EF4-FFF2-40B4-BE49-F238E27FC236}">
                <a16:creationId xmlns:a16="http://schemas.microsoft.com/office/drawing/2014/main" id="{1268FCC0-6D05-41E7-BB7D-5539F5315F72}"/>
              </a:ext>
            </a:extLst>
          </p:cNvPr>
          <p:cNvSpPr>
            <a:spLocks noGrp="1"/>
          </p:cNvSpPr>
          <p:nvPr/>
        </p:nvSpPr>
        <p:spPr>
          <a:xfrm>
            <a:off x="4892040" y="2487168"/>
            <a:ext cx="1828800" cy="274320"/>
          </a:xfrm>
          <a:prstGeom prst="rect">
            <a:avLst/>
          </a:prstGeom>
          <a:noFill/>
        </p:spPr>
        <p:txBody>
          <a:bodyPr wrap="square" anchor="ctr"/>
          <a:lstStyle/>
          <a:p>
            <a:pPr marL="0" indent="0" algn="ctr">
              <a:buNone/>
            </a:pPr>
            <a:r>
              <a:rPr sz="1100" b="1">
                <a:solidFill>
                  <a:srgbClr val="C55A11"/>
                </a:solidFill>
                <a:latin typeface="Arial"/>
                <a:ea typeface="Arial"/>
                <a:cs typeface="Arial"/>
              </a:rPr>
              <a:t>DESIGN</a:t>
            </a:r>
            <a:endParaRPr sz="1100"/>
          </a:p>
        </p:txBody>
      </p:sp>
      <p:sp>
        <p:nvSpPr>
          <p:cNvPr id="19" name="Text 17">
            <a:extLst>
              <a:ext uri="{FF2B5EF4-FFF2-40B4-BE49-F238E27FC236}">
                <a16:creationId xmlns:a16="http://schemas.microsoft.com/office/drawing/2014/main" id="{BFCA3C64-06D2-4398-B3F6-AA1413F9E34B}"/>
              </a:ext>
            </a:extLst>
          </p:cNvPr>
          <p:cNvSpPr>
            <a:spLocks noGrp="1"/>
          </p:cNvSpPr>
          <p:nvPr/>
        </p:nvSpPr>
        <p:spPr>
          <a:xfrm>
            <a:off x="4892040" y="2743200"/>
            <a:ext cx="1828800" cy="310896"/>
          </a:xfrm>
          <a:prstGeom prst="rect">
            <a:avLst/>
          </a:prstGeom>
          <a:noFill/>
        </p:spPr>
        <p:txBody>
          <a:bodyPr wrap="square" anchor="ctr"/>
          <a:lstStyle/>
          <a:p>
            <a:pPr marL="0" indent="0" algn="ctr">
              <a:buNone/>
            </a:pPr>
            <a:r>
              <a:rPr sz="1500" b="1">
                <a:solidFill>
                  <a:srgbClr val="1F3864"/>
                </a:solidFill>
                <a:latin typeface="Arial"/>
                <a:ea typeface="Arial"/>
                <a:cs typeface="Arial"/>
              </a:rPr>
              <a:t>Paired</a:t>
            </a:r>
            <a:endParaRPr sz="1500"/>
          </a:p>
        </p:txBody>
      </p:sp>
      <p:sp>
        <p:nvSpPr>
          <p:cNvPr id="20" name="Text 18">
            <a:extLst>
              <a:ext uri="{FF2B5EF4-FFF2-40B4-BE49-F238E27FC236}">
                <a16:creationId xmlns:a16="http://schemas.microsoft.com/office/drawing/2014/main" id="{05EE4C2B-D184-453E-B2C4-B61C97D7C118}"/>
              </a:ext>
            </a:extLst>
          </p:cNvPr>
          <p:cNvSpPr>
            <a:spLocks noGrp="1"/>
          </p:cNvSpPr>
          <p:nvPr/>
        </p:nvSpPr>
        <p:spPr>
          <a:xfrm>
            <a:off x="4892040" y="3072384"/>
            <a:ext cx="1828800" cy="502920"/>
          </a:xfrm>
          <a:prstGeom prst="rect">
            <a:avLst/>
          </a:prstGeom>
          <a:noFill/>
        </p:spPr>
        <p:txBody>
          <a:bodyPr wrap="square" anchor="ctr"/>
          <a:lstStyle/>
          <a:p>
            <a:pPr marL="0" indent="0" algn="ctr">
              <a:buNone/>
            </a:pPr>
            <a:r>
              <a:rPr sz="1000">
                <a:solidFill>
                  <a:srgbClr val="1F2937"/>
                </a:solidFill>
                <a:latin typeface="Arial"/>
                <a:ea typeface="Arial"/>
                <a:cs typeface="Arial"/>
              </a:rPr>
              <a:t>Same start, data, noise, budget</a:t>
            </a:r>
            <a:endParaRPr sz="1000"/>
          </a:p>
        </p:txBody>
      </p:sp>
      <p:sp>
        <p:nvSpPr>
          <p:cNvPr id="21" name="Shape 19">
            <a:extLst>
              <a:ext uri="{FF2B5EF4-FFF2-40B4-BE49-F238E27FC236}">
                <a16:creationId xmlns:a16="http://schemas.microsoft.com/office/drawing/2014/main" id="{BA6B3CC8-8888-4466-BB09-7F430B0B2D2A}"/>
              </a:ext>
            </a:extLst>
          </p:cNvPr>
          <p:cNvSpPr>
            <a:spLocks noGrp="1"/>
          </p:cNvSpPr>
          <p:nvPr/>
        </p:nvSpPr>
        <p:spPr>
          <a:xfrm>
            <a:off x="6720840" y="3035808"/>
            <a:ext cx="320040" cy="0"/>
          </a:xfrm>
          <a:prstGeom prst="line">
            <a:avLst/>
          </a:prstGeom>
          <a:noFill/>
          <a:ln w="15240">
            <a:solidFill>
              <a:srgbClr val="6B7280"/>
            </a:solidFill>
            <a:prstDash val="solid"/>
          </a:ln>
        </p:spPr>
        <p:txBody>
          <a:bodyPr/>
          <a:lstStyle/>
          <a:p>
            <a:endParaRPr/>
          </a:p>
        </p:txBody>
      </p:sp>
      <p:sp>
        <p:nvSpPr>
          <p:cNvPr id="22" name="Shape 20">
            <a:extLst>
              <a:ext uri="{FF2B5EF4-FFF2-40B4-BE49-F238E27FC236}">
                <a16:creationId xmlns:a16="http://schemas.microsoft.com/office/drawing/2014/main" id="{2260540A-770C-48EB-B8F8-26FCCC872372}"/>
              </a:ext>
            </a:extLst>
          </p:cNvPr>
          <p:cNvSpPr>
            <a:spLocks noGrp="1"/>
          </p:cNvSpPr>
          <p:nvPr/>
        </p:nvSpPr>
        <p:spPr>
          <a:xfrm>
            <a:off x="7040880" y="2377440"/>
            <a:ext cx="1828800" cy="1325880"/>
          </a:xfrm>
          <a:prstGeom prst="roundRect">
            <a:avLst>
              <a:gd name="adj" fmla="val 5517"/>
            </a:avLst>
          </a:prstGeom>
          <a:solidFill>
            <a:srgbClr val="F3F6FB"/>
          </a:solidFill>
          <a:ln w="12700">
            <a:solidFill>
              <a:srgbClr val="1F3864"/>
            </a:solidFill>
            <a:prstDash val="solid"/>
          </a:ln>
        </p:spPr>
        <p:txBody>
          <a:bodyPr/>
          <a:lstStyle/>
          <a:p>
            <a:endParaRPr/>
          </a:p>
        </p:txBody>
      </p:sp>
      <p:sp>
        <p:nvSpPr>
          <p:cNvPr id="23" name="Text 21">
            <a:extLst>
              <a:ext uri="{FF2B5EF4-FFF2-40B4-BE49-F238E27FC236}">
                <a16:creationId xmlns:a16="http://schemas.microsoft.com/office/drawing/2014/main" id="{FBDEEE3C-86D3-4608-830F-4F19B4F9B0CB}"/>
              </a:ext>
            </a:extLst>
          </p:cNvPr>
          <p:cNvSpPr>
            <a:spLocks noGrp="1"/>
          </p:cNvSpPr>
          <p:nvPr/>
        </p:nvSpPr>
        <p:spPr>
          <a:xfrm>
            <a:off x="7040880" y="2487168"/>
            <a:ext cx="1828800" cy="274320"/>
          </a:xfrm>
          <a:prstGeom prst="rect">
            <a:avLst/>
          </a:prstGeom>
          <a:noFill/>
        </p:spPr>
        <p:txBody>
          <a:bodyPr wrap="square" anchor="ctr"/>
          <a:lstStyle/>
          <a:p>
            <a:pPr marL="0" indent="0" algn="ctr">
              <a:buNone/>
            </a:pPr>
            <a:r>
              <a:rPr sz="1100" b="1">
                <a:solidFill>
                  <a:srgbClr val="C55A11"/>
                </a:solidFill>
                <a:latin typeface="Arial"/>
                <a:ea typeface="Arial"/>
                <a:cs typeface="Arial"/>
              </a:rPr>
              <a:t>VERDICT</a:t>
            </a:r>
            <a:endParaRPr sz="1100"/>
          </a:p>
        </p:txBody>
      </p:sp>
      <p:sp>
        <p:nvSpPr>
          <p:cNvPr id="24" name="Text 22">
            <a:extLst>
              <a:ext uri="{FF2B5EF4-FFF2-40B4-BE49-F238E27FC236}">
                <a16:creationId xmlns:a16="http://schemas.microsoft.com/office/drawing/2014/main" id="{58F06188-AE5F-48F1-8963-C9DEF1F95492}"/>
              </a:ext>
            </a:extLst>
          </p:cNvPr>
          <p:cNvSpPr>
            <a:spLocks noGrp="1"/>
          </p:cNvSpPr>
          <p:nvPr/>
        </p:nvSpPr>
        <p:spPr>
          <a:xfrm>
            <a:off x="7040880" y="2743200"/>
            <a:ext cx="1828800" cy="310896"/>
          </a:xfrm>
          <a:prstGeom prst="rect">
            <a:avLst/>
          </a:prstGeom>
          <a:noFill/>
        </p:spPr>
        <p:txBody>
          <a:bodyPr wrap="square" anchor="ctr"/>
          <a:lstStyle/>
          <a:p>
            <a:pPr marL="0" indent="0" algn="ctr">
              <a:buNone/>
            </a:pPr>
            <a:r>
              <a:rPr sz="1500" b="1">
                <a:solidFill>
                  <a:srgbClr val="1F3864"/>
                </a:solidFill>
                <a:latin typeface="Arial"/>
                <a:ea typeface="Arial"/>
                <a:cs typeface="Arial"/>
              </a:rPr>
              <a:t>Not shown</a:t>
            </a:r>
            <a:endParaRPr sz="1500"/>
          </a:p>
        </p:txBody>
      </p:sp>
      <p:sp>
        <p:nvSpPr>
          <p:cNvPr id="25" name="Text 23">
            <a:extLst>
              <a:ext uri="{FF2B5EF4-FFF2-40B4-BE49-F238E27FC236}">
                <a16:creationId xmlns:a16="http://schemas.microsoft.com/office/drawing/2014/main" id="{8FD0AB63-4CA7-48A3-BDFD-80F687BC2E9F}"/>
              </a:ext>
            </a:extLst>
          </p:cNvPr>
          <p:cNvSpPr>
            <a:spLocks noGrp="1"/>
          </p:cNvSpPr>
          <p:nvPr/>
        </p:nvSpPr>
        <p:spPr>
          <a:xfrm>
            <a:off x="7040880" y="3072384"/>
            <a:ext cx="1828800" cy="502920"/>
          </a:xfrm>
          <a:prstGeom prst="rect">
            <a:avLst/>
          </a:prstGeom>
          <a:noFill/>
        </p:spPr>
        <p:txBody>
          <a:bodyPr wrap="square" anchor="ctr"/>
          <a:lstStyle/>
          <a:p>
            <a:pPr marL="0" indent="0" algn="ctr">
              <a:buNone/>
            </a:pPr>
            <a:r>
              <a:rPr sz="1000">
                <a:solidFill>
                  <a:srgbClr val="1F2937"/>
                </a:solidFill>
                <a:latin typeface="Arial"/>
                <a:ea typeface="Arial"/>
                <a:cs typeface="Arial"/>
              </a:rPr>
              <a:t>Proxy moved; output did not</a:t>
            </a:r>
            <a:endParaRPr sz="1000"/>
          </a:p>
        </p:txBody>
      </p:sp>
      <p:sp>
        <p:nvSpPr>
          <p:cNvPr id="26" name="Text 24">
            <a:extLst>
              <a:ext uri="{FF2B5EF4-FFF2-40B4-BE49-F238E27FC236}">
                <a16:creationId xmlns:a16="http://schemas.microsoft.com/office/drawing/2014/main" id="{BC275CC5-020D-4079-80EE-EB3B0BD14C24}"/>
              </a:ext>
            </a:extLst>
          </p:cNvPr>
          <p:cNvSpPr>
            <a:spLocks noGrp="1"/>
          </p:cNvSpPr>
          <p:nvPr/>
        </p:nvSpPr>
        <p:spPr>
          <a:xfrm>
            <a:off x="640080" y="4160520"/>
            <a:ext cx="7863840" cy="320040"/>
          </a:xfrm>
          <a:prstGeom prst="rect">
            <a:avLst/>
          </a:prstGeom>
          <a:noFill/>
        </p:spPr>
        <p:txBody>
          <a:bodyPr wrap="square" anchor="ctr"/>
          <a:lstStyle/>
          <a:p>
            <a:pPr marL="0" indent="0" algn="ctr">
              <a:buNone/>
            </a:pPr>
            <a:r>
              <a:rPr sz="1100">
                <a:solidFill>
                  <a:srgbClr val="6B7280"/>
                </a:solidFill>
                <a:latin typeface="Arial"/>
                <a:ea typeface="Arial"/>
                <a:cs typeface="Arial"/>
              </a:rPr>
              <a:t>Wenzhe Cao · Jikui Zhou · Xinyi Jiang · Zhongyu Yin</a:t>
            </a:r>
            <a:endParaRPr sz="1100"/>
          </a:p>
        </p:txBody>
      </p:sp>
      <p:sp>
        <p:nvSpPr>
          <p:cNvPr id="27" name="Text 25">
            <a:extLst>
              <a:ext uri="{FF2B5EF4-FFF2-40B4-BE49-F238E27FC236}">
                <a16:creationId xmlns:a16="http://schemas.microsoft.com/office/drawing/2014/main" id="{5030227D-D2AA-4B2F-863A-CB57EE552F2D}"/>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1 / 15</a:t>
            </a:r>
            <a:endParaRPr sz="900"/>
          </a:p>
        </p:txBody>
      </p:sp>
      <p:sp>
        <p:nvSpPr>
          <p:cNvPr id="28" name="Shape 26">
            <a:extLst>
              <a:ext uri="{FF2B5EF4-FFF2-40B4-BE49-F238E27FC236}">
                <a16:creationId xmlns:a16="http://schemas.microsoft.com/office/drawing/2014/main" id="{1C30A1FE-221D-4F09-A572-6CCD8C4BDD96}"/>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29" name="Shape 27">
            <a:extLst>
              <a:ext uri="{FF2B5EF4-FFF2-40B4-BE49-F238E27FC236}">
                <a16:creationId xmlns:a16="http://schemas.microsoft.com/office/drawing/2014/main" id="{F839551D-A15D-48BF-B1DB-33C643EC724E}"/>
              </a:ext>
            </a:extLst>
          </p:cNvPr>
          <p:cNvSpPr>
            <a:spLocks noGrp="1"/>
          </p:cNvSpPr>
          <p:nvPr/>
        </p:nvSpPr>
        <p:spPr>
          <a:xfrm>
            <a:off x="7955280" y="4864608"/>
            <a:ext cx="63305"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1779463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316E448-77A2-4532-A5B5-8E7BFD2C49C0}"/>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568A0851-900D-489A-A3AA-28E841CB8AB1}"/>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01</a:t>
            </a:r>
            <a:endParaRPr sz="1700"/>
          </a:p>
        </p:txBody>
      </p:sp>
      <p:sp>
        <p:nvSpPr>
          <p:cNvPr id="4" name="Text 2">
            <a:extLst>
              <a:ext uri="{FF2B5EF4-FFF2-40B4-BE49-F238E27FC236}">
                <a16:creationId xmlns:a16="http://schemas.microsoft.com/office/drawing/2014/main" id="{18DE5BCD-37A2-415C-AE20-B56B72E2A376}"/>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When Can C Be Called Better Than B?</a:t>
            </a:r>
            <a:endParaRPr sz="2100"/>
          </a:p>
        </p:txBody>
      </p:sp>
      <p:sp>
        <p:nvSpPr>
          <p:cNvPr id="5" name="Text 3">
            <a:extLst>
              <a:ext uri="{FF2B5EF4-FFF2-40B4-BE49-F238E27FC236}">
                <a16:creationId xmlns:a16="http://schemas.microsoft.com/office/drawing/2014/main" id="{AF219415-A7AD-4CF6-A473-52EBD8AAF743}"/>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A narrow rule set fixed before reading the results</a:t>
            </a:r>
            <a:endParaRPr sz="1150"/>
          </a:p>
        </p:txBody>
      </p:sp>
      <p:sp>
        <p:nvSpPr>
          <p:cNvPr id="6" name="Shape 4">
            <a:extLst>
              <a:ext uri="{FF2B5EF4-FFF2-40B4-BE49-F238E27FC236}">
                <a16:creationId xmlns:a16="http://schemas.microsoft.com/office/drawing/2014/main" id="{5C925AD9-8EEB-4A37-B6CA-E22C3ABFEFD7}"/>
              </a:ext>
            </a:extLst>
          </p:cNvPr>
          <p:cNvSpPr>
            <a:spLocks noGrp="1"/>
          </p:cNvSpPr>
          <p:nvPr/>
        </p:nvSpPr>
        <p:spPr>
          <a:xfrm>
            <a:off x="365760" y="1051560"/>
            <a:ext cx="5212080" cy="2788920"/>
          </a:xfrm>
          <a:prstGeom prst="roundRect">
            <a:avLst>
              <a:gd name="adj" fmla="val 1967"/>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BF09040B-9C89-4F8C-97CC-E20CB1935DEE}"/>
              </a:ext>
            </a:extLst>
          </p:cNvPr>
          <p:cNvSpPr>
            <a:spLocks noGrp="1"/>
          </p:cNvSpPr>
          <p:nvPr/>
        </p:nvSpPr>
        <p:spPr>
          <a:xfrm>
            <a:off x="365760" y="1051560"/>
            <a:ext cx="5212080" cy="411480"/>
          </a:xfrm>
          <a:prstGeom prst="roundRect">
            <a:avLst>
              <a:gd name="adj" fmla="val 13333"/>
            </a:avLst>
          </a:prstGeom>
          <a:solidFill>
            <a:srgbClr val="1F3864"/>
          </a:solidFill>
        </p:spPr>
        <p:txBody>
          <a:bodyPr/>
          <a:lstStyle/>
          <a:p>
            <a:endParaRPr/>
          </a:p>
        </p:txBody>
      </p:sp>
      <p:sp>
        <p:nvSpPr>
          <p:cNvPr id="8" name="Text 6">
            <a:extLst>
              <a:ext uri="{FF2B5EF4-FFF2-40B4-BE49-F238E27FC236}">
                <a16:creationId xmlns:a16="http://schemas.microsoft.com/office/drawing/2014/main" id="{2E23B87F-5135-4C86-875F-B91DD3F65649}"/>
              </a:ext>
            </a:extLst>
          </p:cNvPr>
          <p:cNvSpPr>
            <a:spLocks noGrp="1"/>
          </p:cNvSpPr>
          <p:nvPr/>
        </p:nvSpPr>
        <p:spPr>
          <a:xfrm>
            <a:off x="365760" y="1097280"/>
            <a:ext cx="5212080" cy="320040"/>
          </a:xfrm>
          <a:prstGeom prst="rect">
            <a:avLst/>
          </a:prstGeom>
          <a:noFill/>
        </p:spPr>
        <p:txBody>
          <a:bodyPr wrap="square" anchor="ctr"/>
          <a:lstStyle/>
          <a:p>
            <a:pPr marL="0" indent="0" algn="ctr">
              <a:buNone/>
            </a:pPr>
            <a:r>
              <a:rPr sz="1300" b="1">
                <a:solidFill>
                  <a:srgbClr val="FFFFFF"/>
                </a:solidFill>
                <a:latin typeface="Arial"/>
                <a:ea typeface="Arial"/>
                <a:cs typeface="Arial"/>
              </a:rPr>
              <a:t>Target Improvement</a:t>
            </a:r>
            <a:endParaRPr sz="1300"/>
          </a:p>
        </p:txBody>
      </p:sp>
      <p:sp>
        <p:nvSpPr>
          <p:cNvPr id="9" name="Text 7">
            <a:extLst>
              <a:ext uri="{FF2B5EF4-FFF2-40B4-BE49-F238E27FC236}">
                <a16:creationId xmlns:a16="http://schemas.microsoft.com/office/drawing/2014/main" id="{E0956879-CA6E-4016-B30D-3A6337BE2AE9}"/>
              </a:ext>
            </a:extLst>
          </p:cNvPr>
          <p:cNvSpPr>
            <a:spLocks noGrp="1"/>
          </p:cNvSpPr>
          <p:nvPr/>
        </p:nvSpPr>
        <p:spPr>
          <a:xfrm>
            <a:off x="566928" y="1600200"/>
            <a:ext cx="4809744" cy="2148840"/>
          </a:xfrm>
          <a:prstGeom prst="rect">
            <a:avLst/>
          </a:prstGeom>
          <a:noFill/>
        </p:spPr>
        <p:txBody>
          <a:bodyPr wrap="square" anchor="t"/>
          <a:lstStyle/>
          <a:p>
            <a:pPr marL="0" indent="0">
              <a:lnSpc>
                <a:spcPts val="1200"/>
              </a:lnSpc>
              <a:buNone/>
            </a:pPr>
            <a:r>
              <a:rPr sz="1400" b="1">
                <a:solidFill>
                  <a:srgbClr val="1F3864"/>
                </a:solidFill>
                <a:latin typeface="Arial"/>
                <a:ea typeface="Arial"/>
                <a:cs typeface="Arial"/>
              </a:rPr>
              <a:t>Primary metric
Part–colour swap accuracy: C − B with a cluster-bootstrap 95% CI above zero.
Consistency
Positive direction in at least 2 of 3 paired seeds.</a:t>
            </a:r>
            <a:endParaRPr sz="1400"/>
          </a:p>
        </p:txBody>
      </p:sp>
      <p:sp>
        <p:nvSpPr>
          <p:cNvPr id="10" name="Shape 8">
            <a:extLst>
              <a:ext uri="{FF2B5EF4-FFF2-40B4-BE49-F238E27FC236}">
                <a16:creationId xmlns:a16="http://schemas.microsoft.com/office/drawing/2014/main" id="{9CFD7943-F297-407F-A974-94BE2F438B9C}"/>
              </a:ext>
            </a:extLst>
          </p:cNvPr>
          <p:cNvSpPr>
            <a:spLocks noGrp="1"/>
          </p:cNvSpPr>
          <p:nvPr/>
        </p:nvSpPr>
        <p:spPr>
          <a:xfrm>
            <a:off x="5760720" y="1051560"/>
            <a:ext cx="3017520" cy="2788920"/>
          </a:xfrm>
          <a:prstGeom prst="roundRect">
            <a:avLst>
              <a:gd name="adj" fmla="val 1967"/>
            </a:avLst>
          </a:prstGeom>
          <a:solidFill>
            <a:srgbClr val="E8EEF7"/>
          </a:solidFill>
          <a:ln w="15875">
            <a:solidFill>
              <a:srgbClr val="0E7C7B"/>
            </a:solidFill>
            <a:prstDash val="solid"/>
          </a:ln>
        </p:spPr>
        <p:txBody>
          <a:bodyPr/>
          <a:lstStyle/>
          <a:p>
            <a:endParaRPr/>
          </a:p>
        </p:txBody>
      </p:sp>
      <p:sp>
        <p:nvSpPr>
          <p:cNvPr id="11" name="Shape 9">
            <a:extLst>
              <a:ext uri="{FF2B5EF4-FFF2-40B4-BE49-F238E27FC236}">
                <a16:creationId xmlns:a16="http://schemas.microsoft.com/office/drawing/2014/main" id="{F1589D3B-B08C-4B21-AC19-B5D37914F3C6}"/>
              </a:ext>
            </a:extLst>
          </p:cNvPr>
          <p:cNvSpPr>
            <a:spLocks noGrp="1"/>
          </p:cNvSpPr>
          <p:nvPr/>
        </p:nvSpPr>
        <p:spPr>
          <a:xfrm>
            <a:off x="5760720" y="1051560"/>
            <a:ext cx="3017520" cy="411480"/>
          </a:xfrm>
          <a:prstGeom prst="roundRect">
            <a:avLst>
              <a:gd name="adj" fmla="val 13333"/>
            </a:avLst>
          </a:prstGeom>
          <a:solidFill>
            <a:srgbClr val="0E7C7B"/>
          </a:solidFill>
        </p:spPr>
        <p:txBody>
          <a:bodyPr/>
          <a:lstStyle/>
          <a:p>
            <a:endParaRPr/>
          </a:p>
        </p:txBody>
      </p:sp>
      <p:sp>
        <p:nvSpPr>
          <p:cNvPr id="12" name="Text 10">
            <a:extLst>
              <a:ext uri="{FF2B5EF4-FFF2-40B4-BE49-F238E27FC236}">
                <a16:creationId xmlns:a16="http://schemas.microsoft.com/office/drawing/2014/main" id="{3A3F7E30-0EE4-46FE-AC42-CBC7716B5CA0}"/>
              </a:ext>
            </a:extLst>
          </p:cNvPr>
          <p:cNvSpPr>
            <a:spLocks noGrp="1"/>
          </p:cNvSpPr>
          <p:nvPr/>
        </p:nvSpPr>
        <p:spPr>
          <a:xfrm>
            <a:off x="5760720" y="1097280"/>
            <a:ext cx="3017520" cy="320040"/>
          </a:xfrm>
          <a:prstGeom prst="rect">
            <a:avLst/>
          </a:prstGeom>
          <a:noFill/>
        </p:spPr>
        <p:txBody>
          <a:bodyPr wrap="square" anchor="ctr"/>
          <a:lstStyle/>
          <a:p>
            <a:pPr marL="0" indent="0" algn="ctr">
              <a:buNone/>
            </a:pPr>
            <a:r>
              <a:rPr sz="1300" b="1">
                <a:solidFill>
                  <a:srgbClr val="FFFFFF"/>
                </a:solidFill>
                <a:latin typeface="Arial"/>
                <a:ea typeface="Arial"/>
                <a:cs typeface="Arial"/>
              </a:rPr>
              <a:t>Global Safeguards</a:t>
            </a:r>
            <a:endParaRPr sz="1300"/>
          </a:p>
        </p:txBody>
      </p:sp>
      <p:sp>
        <p:nvSpPr>
          <p:cNvPr id="13" name="Text 11">
            <a:extLst>
              <a:ext uri="{FF2B5EF4-FFF2-40B4-BE49-F238E27FC236}">
                <a16:creationId xmlns:a16="http://schemas.microsoft.com/office/drawing/2014/main" id="{A8D82350-20FA-4946-ADBE-5355A6367928}"/>
              </a:ext>
            </a:extLst>
          </p:cNvPr>
          <p:cNvSpPr>
            <a:spLocks noGrp="1"/>
          </p:cNvSpPr>
          <p:nvPr/>
        </p:nvSpPr>
        <p:spPr>
          <a:xfrm>
            <a:off x="5943600" y="1600200"/>
            <a:ext cx="2651760" cy="2148840"/>
          </a:xfrm>
          <a:prstGeom prst="rect">
            <a:avLst/>
          </a:prstGeom>
          <a:noFill/>
        </p:spPr>
        <p:txBody>
          <a:bodyPr wrap="square" anchor="t"/>
          <a:lstStyle/>
          <a:p>
            <a:pPr marL="0" indent="0">
              <a:lnSpc>
                <a:spcPts val="1200"/>
              </a:lnSpc>
              <a:buNone/>
            </a:pPr>
            <a:r>
              <a:rPr sz="1300" b="1">
                <a:solidFill>
                  <a:srgbClr val="1F3864"/>
                </a:solidFill>
                <a:latin typeface="Arial"/>
                <a:ea typeface="Arial"/>
                <a:cs typeface="Arial"/>
              </a:rPr>
              <a:t>FID
Regression no worse than +1.0.
R-precision
Loss no worse than −1.0 percentage point.
Observed verdict
NOT DEMONSTRATED</a:t>
            </a:r>
            <a:endParaRPr sz="1300"/>
          </a:p>
        </p:txBody>
      </p:sp>
      <p:sp>
        <p:nvSpPr>
          <p:cNvPr id="14" name="Text 12">
            <a:extLst>
              <a:ext uri="{FF2B5EF4-FFF2-40B4-BE49-F238E27FC236}">
                <a16:creationId xmlns:a16="http://schemas.microsoft.com/office/drawing/2014/main" id="{B1B04A99-9C85-4974-9538-69B19D927EF4}"/>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2 / 15</a:t>
            </a:r>
            <a:endParaRPr sz="900"/>
          </a:p>
        </p:txBody>
      </p:sp>
      <p:sp>
        <p:nvSpPr>
          <p:cNvPr id="15" name="Shape 13">
            <a:extLst>
              <a:ext uri="{FF2B5EF4-FFF2-40B4-BE49-F238E27FC236}">
                <a16:creationId xmlns:a16="http://schemas.microsoft.com/office/drawing/2014/main" id="{0509EB95-EFA9-4977-A8C6-B4B5BB0A7FE1}"/>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16" name="Shape 14">
            <a:extLst>
              <a:ext uri="{FF2B5EF4-FFF2-40B4-BE49-F238E27FC236}">
                <a16:creationId xmlns:a16="http://schemas.microsoft.com/office/drawing/2014/main" id="{7FB9E004-941E-4E34-B3F2-85E798F4C2DA}"/>
              </a:ext>
            </a:extLst>
          </p:cNvPr>
          <p:cNvSpPr>
            <a:spLocks noGrp="1"/>
          </p:cNvSpPr>
          <p:nvPr/>
        </p:nvSpPr>
        <p:spPr>
          <a:xfrm>
            <a:off x="7955280" y="4864608"/>
            <a:ext cx="126609"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1448090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D7AD54B-1A68-4B5C-9E4D-557F2BCE6B7E}"/>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00543F4F-C12C-401A-82E2-36746A76FF09}"/>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02</a:t>
            </a:r>
            <a:endParaRPr sz="1700"/>
          </a:p>
        </p:txBody>
      </p:sp>
      <p:sp>
        <p:nvSpPr>
          <p:cNvPr id="4" name="Text 2">
            <a:extLst>
              <a:ext uri="{FF2B5EF4-FFF2-40B4-BE49-F238E27FC236}">
                <a16:creationId xmlns:a16="http://schemas.microsoft.com/office/drawing/2014/main" id="{4F1BB9FA-3763-4B22-8540-05EDC6DAB087}"/>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DM-GAN Is Strong Globally—but Parts Can Drift</a:t>
            </a:r>
            <a:endParaRPr sz="2100"/>
          </a:p>
        </p:txBody>
      </p:sp>
      <p:sp>
        <p:nvSpPr>
          <p:cNvPr id="5" name="Text 3">
            <a:extLst>
              <a:ext uri="{FF2B5EF4-FFF2-40B4-BE49-F238E27FC236}">
                <a16:creationId xmlns:a16="http://schemas.microsoft.com/office/drawing/2014/main" id="{D5A9A135-9852-42A1-8354-FA8F4C7F86B9}"/>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Dynamic memory refines a weak first image with word features</a:t>
            </a:r>
            <a:endParaRPr sz="1150"/>
          </a:p>
        </p:txBody>
      </p:sp>
      <p:sp>
        <p:nvSpPr>
          <p:cNvPr id="6" name="Shape 4">
            <a:extLst>
              <a:ext uri="{FF2B5EF4-FFF2-40B4-BE49-F238E27FC236}">
                <a16:creationId xmlns:a16="http://schemas.microsoft.com/office/drawing/2014/main" id="{5A7D9342-D1CF-4DBE-8058-ADA91F358961}"/>
              </a:ext>
            </a:extLst>
          </p:cNvPr>
          <p:cNvSpPr>
            <a:spLocks noGrp="1"/>
          </p:cNvSpPr>
          <p:nvPr/>
        </p:nvSpPr>
        <p:spPr>
          <a:xfrm>
            <a:off x="365760" y="1051560"/>
            <a:ext cx="5029200" cy="1417320"/>
          </a:xfrm>
          <a:prstGeom prst="roundRect">
            <a:avLst>
              <a:gd name="adj" fmla="val 3871"/>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3FD97F0C-3B9F-450B-A56F-417E934193E4}"/>
              </a:ext>
            </a:extLst>
          </p:cNvPr>
          <p:cNvSpPr>
            <a:spLocks noGrp="1"/>
          </p:cNvSpPr>
          <p:nvPr/>
        </p:nvSpPr>
        <p:spPr>
          <a:xfrm>
            <a:off x="365760" y="1051560"/>
            <a:ext cx="5029200" cy="384048"/>
          </a:xfrm>
          <a:prstGeom prst="roundRect">
            <a:avLst>
              <a:gd name="adj" fmla="val 14286"/>
            </a:avLst>
          </a:prstGeom>
          <a:solidFill>
            <a:srgbClr val="1F3864"/>
          </a:solidFill>
        </p:spPr>
        <p:txBody>
          <a:bodyPr/>
          <a:lstStyle/>
          <a:p>
            <a:endParaRPr/>
          </a:p>
        </p:txBody>
      </p:sp>
      <p:sp>
        <p:nvSpPr>
          <p:cNvPr id="8" name="Text 6">
            <a:extLst>
              <a:ext uri="{FF2B5EF4-FFF2-40B4-BE49-F238E27FC236}">
                <a16:creationId xmlns:a16="http://schemas.microsoft.com/office/drawing/2014/main" id="{3E93EEE2-5403-4834-B895-3625B1055CB3}"/>
              </a:ext>
            </a:extLst>
          </p:cNvPr>
          <p:cNvSpPr>
            <a:spLocks noGrp="1"/>
          </p:cNvSpPr>
          <p:nvPr/>
        </p:nvSpPr>
        <p:spPr>
          <a:xfrm>
            <a:off x="365760" y="1097280"/>
            <a:ext cx="502920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Core Pipeline</a:t>
            </a:r>
            <a:endParaRPr sz="1250"/>
          </a:p>
        </p:txBody>
      </p:sp>
      <p:sp>
        <p:nvSpPr>
          <p:cNvPr id="9" name="Shape 7">
            <a:extLst>
              <a:ext uri="{FF2B5EF4-FFF2-40B4-BE49-F238E27FC236}">
                <a16:creationId xmlns:a16="http://schemas.microsoft.com/office/drawing/2014/main" id="{2912AF36-7805-4782-8BE8-1F6E2550D8D9}"/>
              </a:ext>
            </a:extLst>
          </p:cNvPr>
          <p:cNvSpPr>
            <a:spLocks noGrp="1"/>
          </p:cNvSpPr>
          <p:nvPr/>
        </p:nvSpPr>
        <p:spPr>
          <a:xfrm>
            <a:off x="566928" y="1572768"/>
            <a:ext cx="1417320" cy="566928"/>
          </a:xfrm>
          <a:prstGeom prst="roundRect">
            <a:avLst>
              <a:gd name="adj" fmla="val 12903"/>
            </a:avLst>
          </a:prstGeom>
          <a:solidFill>
            <a:srgbClr val="FFFFFF"/>
          </a:solidFill>
          <a:ln w="12700">
            <a:solidFill>
              <a:srgbClr val="1F3864"/>
            </a:solidFill>
            <a:prstDash val="solid"/>
          </a:ln>
        </p:spPr>
        <p:txBody>
          <a:bodyPr/>
          <a:lstStyle/>
          <a:p>
            <a:endParaRPr/>
          </a:p>
        </p:txBody>
      </p:sp>
      <p:sp>
        <p:nvSpPr>
          <p:cNvPr id="10" name="Text 8">
            <a:extLst>
              <a:ext uri="{FF2B5EF4-FFF2-40B4-BE49-F238E27FC236}">
                <a16:creationId xmlns:a16="http://schemas.microsoft.com/office/drawing/2014/main" id="{E55D60EC-94C7-489F-AFA8-524C90798E93}"/>
              </a:ext>
            </a:extLst>
          </p:cNvPr>
          <p:cNvSpPr>
            <a:spLocks noGrp="1"/>
          </p:cNvSpPr>
          <p:nvPr/>
        </p:nvSpPr>
        <p:spPr>
          <a:xfrm>
            <a:off x="566928" y="1572768"/>
            <a:ext cx="1417320" cy="566928"/>
          </a:xfrm>
          <a:prstGeom prst="rect">
            <a:avLst/>
          </a:prstGeom>
          <a:noFill/>
        </p:spPr>
        <p:txBody>
          <a:bodyPr wrap="square" anchor="ctr"/>
          <a:lstStyle/>
          <a:p>
            <a:pPr marL="0" indent="0" algn="ctr">
              <a:buNone/>
            </a:pPr>
            <a:r>
              <a:rPr sz="1050">
                <a:solidFill>
                  <a:srgbClr val="1F2937"/>
                </a:solidFill>
                <a:latin typeface="Arial"/>
                <a:ea typeface="Arial"/>
                <a:cs typeface="Arial"/>
              </a:rPr>
              <a:t>Caption + z</a:t>
            </a:r>
            <a:endParaRPr sz="1050"/>
          </a:p>
        </p:txBody>
      </p:sp>
      <p:sp>
        <p:nvSpPr>
          <p:cNvPr id="11" name="Text 9">
            <a:extLst>
              <a:ext uri="{FF2B5EF4-FFF2-40B4-BE49-F238E27FC236}">
                <a16:creationId xmlns:a16="http://schemas.microsoft.com/office/drawing/2014/main" id="{0A8A389F-279B-4380-92C1-C6E714840852}"/>
              </a:ext>
            </a:extLst>
          </p:cNvPr>
          <p:cNvSpPr>
            <a:spLocks noGrp="1"/>
          </p:cNvSpPr>
          <p:nvPr/>
        </p:nvSpPr>
        <p:spPr>
          <a:xfrm>
            <a:off x="1938528" y="1572768"/>
            <a:ext cx="274320" cy="566928"/>
          </a:xfrm>
          <a:prstGeom prst="rect">
            <a:avLst/>
          </a:prstGeom>
          <a:noFill/>
        </p:spPr>
        <p:txBody>
          <a:bodyPr wrap="square" anchor="ctr"/>
          <a:lstStyle/>
          <a:p>
            <a:pPr marL="0" indent="0" algn="ctr">
              <a:buNone/>
            </a:pPr>
            <a:r>
              <a:rPr sz="1400" b="1">
                <a:solidFill>
                  <a:srgbClr val="6B7280"/>
                </a:solidFill>
              </a:rPr>
              <a:t>→</a:t>
            </a:r>
            <a:endParaRPr sz="1400"/>
          </a:p>
        </p:txBody>
      </p:sp>
      <p:sp>
        <p:nvSpPr>
          <p:cNvPr id="12" name="Shape 10">
            <a:extLst>
              <a:ext uri="{FF2B5EF4-FFF2-40B4-BE49-F238E27FC236}">
                <a16:creationId xmlns:a16="http://schemas.microsoft.com/office/drawing/2014/main" id="{9FE13017-4B74-4C9C-B091-724FEB3A5527}"/>
              </a:ext>
            </a:extLst>
          </p:cNvPr>
          <p:cNvSpPr>
            <a:spLocks noGrp="1"/>
          </p:cNvSpPr>
          <p:nvPr/>
        </p:nvSpPr>
        <p:spPr>
          <a:xfrm>
            <a:off x="2148840" y="1572768"/>
            <a:ext cx="1417320" cy="566928"/>
          </a:xfrm>
          <a:prstGeom prst="roundRect">
            <a:avLst>
              <a:gd name="adj" fmla="val 12903"/>
            </a:avLst>
          </a:prstGeom>
          <a:solidFill>
            <a:srgbClr val="FFFFFF"/>
          </a:solidFill>
          <a:ln w="12700">
            <a:solidFill>
              <a:srgbClr val="1F3864"/>
            </a:solidFill>
            <a:prstDash val="solid"/>
          </a:ln>
        </p:spPr>
        <p:txBody>
          <a:bodyPr/>
          <a:lstStyle/>
          <a:p>
            <a:endParaRPr/>
          </a:p>
        </p:txBody>
      </p:sp>
      <p:sp>
        <p:nvSpPr>
          <p:cNvPr id="13" name="Text 11">
            <a:extLst>
              <a:ext uri="{FF2B5EF4-FFF2-40B4-BE49-F238E27FC236}">
                <a16:creationId xmlns:a16="http://schemas.microsoft.com/office/drawing/2014/main" id="{5D341EB2-D8C8-4730-A78C-BAAD3B61FD3C}"/>
              </a:ext>
            </a:extLst>
          </p:cNvPr>
          <p:cNvSpPr>
            <a:spLocks noGrp="1"/>
          </p:cNvSpPr>
          <p:nvPr/>
        </p:nvSpPr>
        <p:spPr>
          <a:xfrm>
            <a:off x="2148840" y="1572768"/>
            <a:ext cx="1417320" cy="566928"/>
          </a:xfrm>
          <a:prstGeom prst="rect">
            <a:avLst/>
          </a:prstGeom>
          <a:noFill/>
        </p:spPr>
        <p:txBody>
          <a:bodyPr wrap="square" anchor="ctr"/>
          <a:lstStyle/>
          <a:p>
            <a:pPr marL="0" indent="0" algn="ctr">
              <a:buNone/>
            </a:pPr>
            <a:r>
              <a:rPr sz="1050">
                <a:solidFill>
                  <a:srgbClr val="1F2937"/>
                </a:solidFill>
                <a:latin typeface="Arial"/>
                <a:ea typeface="Arial"/>
                <a:cs typeface="Arial"/>
              </a:rPr>
              <a:t>64×64 sketch</a:t>
            </a:r>
            <a:endParaRPr sz="1050"/>
          </a:p>
        </p:txBody>
      </p:sp>
      <p:sp>
        <p:nvSpPr>
          <p:cNvPr id="14" name="Text 12">
            <a:extLst>
              <a:ext uri="{FF2B5EF4-FFF2-40B4-BE49-F238E27FC236}">
                <a16:creationId xmlns:a16="http://schemas.microsoft.com/office/drawing/2014/main" id="{F2CF9EAB-2156-46E0-A6D3-5CFEBC1DEBDE}"/>
              </a:ext>
            </a:extLst>
          </p:cNvPr>
          <p:cNvSpPr>
            <a:spLocks noGrp="1"/>
          </p:cNvSpPr>
          <p:nvPr/>
        </p:nvSpPr>
        <p:spPr>
          <a:xfrm>
            <a:off x="3520440" y="1572768"/>
            <a:ext cx="274320" cy="566928"/>
          </a:xfrm>
          <a:prstGeom prst="rect">
            <a:avLst/>
          </a:prstGeom>
          <a:noFill/>
        </p:spPr>
        <p:txBody>
          <a:bodyPr wrap="square" anchor="ctr"/>
          <a:lstStyle/>
          <a:p>
            <a:pPr marL="0" indent="0" algn="ctr">
              <a:buNone/>
            </a:pPr>
            <a:r>
              <a:rPr sz="1400" b="1">
                <a:solidFill>
                  <a:srgbClr val="6B7280"/>
                </a:solidFill>
              </a:rPr>
              <a:t>→</a:t>
            </a:r>
            <a:endParaRPr sz="1400"/>
          </a:p>
        </p:txBody>
      </p:sp>
      <p:sp>
        <p:nvSpPr>
          <p:cNvPr id="15" name="Shape 13">
            <a:extLst>
              <a:ext uri="{FF2B5EF4-FFF2-40B4-BE49-F238E27FC236}">
                <a16:creationId xmlns:a16="http://schemas.microsoft.com/office/drawing/2014/main" id="{0192756A-9468-499E-BD63-BCE8F653C24A}"/>
              </a:ext>
            </a:extLst>
          </p:cNvPr>
          <p:cNvSpPr>
            <a:spLocks noGrp="1"/>
          </p:cNvSpPr>
          <p:nvPr/>
        </p:nvSpPr>
        <p:spPr>
          <a:xfrm>
            <a:off x="3703320" y="1572768"/>
            <a:ext cx="1417320" cy="566928"/>
          </a:xfrm>
          <a:prstGeom prst="roundRect">
            <a:avLst>
              <a:gd name="adj" fmla="val 12903"/>
            </a:avLst>
          </a:prstGeom>
          <a:solidFill>
            <a:srgbClr val="0E7C7B"/>
          </a:solidFill>
          <a:ln w="12700">
            <a:solidFill>
              <a:srgbClr val="1F3864"/>
            </a:solidFill>
            <a:prstDash val="solid"/>
          </a:ln>
        </p:spPr>
        <p:txBody>
          <a:bodyPr/>
          <a:lstStyle/>
          <a:p>
            <a:endParaRPr/>
          </a:p>
        </p:txBody>
      </p:sp>
      <p:sp>
        <p:nvSpPr>
          <p:cNvPr id="16" name="Text 14">
            <a:extLst>
              <a:ext uri="{FF2B5EF4-FFF2-40B4-BE49-F238E27FC236}">
                <a16:creationId xmlns:a16="http://schemas.microsoft.com/office/drawing/2014/main" id="{D462C9EF-9F8F-4E3D-A86B-55A4183A75D7}"/>
              </a:ext>
            </a:extLst>
          </p:cNvPr>
          <p:cNvSpPr>
            <a:spLocks noGrp="1"/>
          </p:cNvSpPr>
          <p:nvPr/>
        </p:nvSpPr>
        <p:spPr>
          <a:xfrm>
            <a:off x="3703320" y="1572768"/>
            <a:ext cx="1417320" cy="566928"/>
          </a:xfrm>
          <a:prstGeom prst="rect">
            <a:avLst/>
          </a:prstGeom>
          <a:noFill/>
        </p:spPr>
        <p:txBody>
          <a:bodyPr wrap="square" anchor="ctr"/>
          <a:lstStyle/>
          <a:p>
            <a:pPr marL="0" indent="0" algn="ctr">
              <a:buNone/>
            </a:pPr>
            <a:r>
              <a:rPr sz="1050" b="1">
                <a:solidFill>
                  <a:srgbClr val="FFFFFF"/>
                </a:solidFill>
                <a:latin typeface="Arial"/>
                <a:ea typeface="Arial"/>
                <a:cs typeface="Arial"/>
              </a:rPr>
              <a:t>Memory-guided
128×128 / 256×256</a:t>
            </a:r>
            <a:endParaRPr sz="1050"/>
          </a:p>
        </p:txBody>
      </p:sp>
      <p:sp>
        <p:nvSpPr>
          <p:cNvPr id="17" name="Text 15">
            <a:extLst>
              <a:ext uri="{FF2B5EF4-FFF2-40B4-BE49-F238E27FC236}">
                <a16:creationId xmlns:a16="http://schemas.microsoft.com/office/drawing/2014/main" id="{7C44D0D5-59DB-4438-857A-C76C115A7E72}"/>
              </a:ext>
            </a:extLst>
          </p:cNvPr>
          <p:cNvSpPr>
            <a:spLocks noGrp="1"/>
          </p:cNvSpPr>
          <p:nvPr/>
        </p:nvSpPr>
        <p:spPr>
          <a:xfrm>
            <a:off x="530352" y="2212848"/>
            <a:ext cx="4700016" cy="502920"/>
          </a:xfrm>
          <a:prstGeom prst="rect">
            <a:avLst/>
          </a:prstGeom>
          <a:noFill/>
        </p:spPr>
        <p:txBody>
          <a:bodyPr wrap="square" anchor="ctr"/>
          <a:lstStyle/>
          <a:p>
            <a:pPr marL="0" indent="0">
              <a:lnSpc>
                <a:spcPts val="1200"/>
              </a:lnSpc>
              <a:buNone/>
            </a:pPr>
            <a:r>
              <a:rPr sz="1050">
                <a:solidFill>
                  <a:srgbClr val="1F2937"/>
                </a:solidFill>
                <a:latin typeface="Arial"/>
                <a:ea typeface="Arial"/>
                <a:cs typeface="Arial"/>
              </a:rPr>
              <a:t>At each refinement scale, current image features query a rewritten word memory.</a:t>
            </a:r>
            <a:endParaRPr sz="1050"/>
          </a:p>
        </p:txBody>
      </p:sp>
      <p:sp>
        <p:nvSpPr>
          <p:cNvPr id="18" name="Shape 16">
            <a:extLst>
              <a:ext uri="{FF2B5EF4-FFF2-40B4-BE49-F238E27FC236}">
                <a16:creationId xmlns:a16="http://schemas.microsoft.com/office/drawing/2014/main" id="{48D5CD8E-94DF-43E8-A8BC-B0C8DD3D1D1D}"/>
              </a:ext>
            </a:extLst>
          </p:cNvPr>
          <p:cNvSpPr>
            <a:spLocks noGrp="1"/>
          </p:cNvSpPr>
          <p:nvPr/>
        </p:nvSpPr>
        <p:spPr>
          <a:xfrm>
            <a:off x="5623560" y="1051560"/>
            <a:ext cx="3154680" cy="1417320"/>
          </a:xfrm>
          <a:prstGeom prst="roundRect">
            <a:avLst>
              <a:gd name="adj" fmla="val 3871"/>
            </a:avLst>
          </a:prstGeom>
          <a:solidFill>
            <a:srgbClr val="F3F6FB"/>
          </a:solidFill>
          <a:ln w="12700">
            <a:solidFill>
              <a:srgbClr val="E8EEF7"/>
            </a:solidFill>
            <a:prstDash val="solid"/>
          </a:ln>
        </p:spPr>
        <p:txBody>
          <a:bodyPr/>
          <a:lstStyle/>
          <a:p>
            <a:endParaRPr/>
          </a:p>
        </p:txBody>
      </p:sp>
      <p:sp>
        <p:nvSpPr>
          <p:cNvPr id="19" name="Shape 17">
            <a:extLst>
              <a:ext uri="{FF2B5EF4-FFF2-40B4-BE49-F238E27FC236}">
                <a16:creationId xmlns:a16="http://schemas.microsoft.com/office/drawing/2014/main" id="{D0456374-7918-407D-8BE7-A515EFAFF032}"/>
              </a:ext>
            </a:extLst>
          </p:cNvPr>
          <p:cNvSpPr>
            <a:spLocks noGrp="1"/>
          </p:cNvSpPr>
          <p:nvPr/>
        </p:nvSpPr>
        <p:spPr>
          <a:xfrm>
            <a:off x="5623560" y="1051560"/>
            <a:ext cx="3154680" cy="384048"/>
          </a:xfrm>
          <a:prstGeom prst="roundRect">
            <a:avLst>
              <a:gd name="adj" fmla="val 14286"/>
            </a:avLst>
          </a:prstGeom>
          <a:solidFill>
            <a:srgbClr val="0E7C7B"/>
          </a:solidFill>
        </p:spPr>
        <p:txBody>
          <a:bodyPr/>
          <a:lstStyle/>
          <a:p>
            <a:endParaRPr/>
          </a:p>
        </p:txBody>
      </p:sp>
      <p:sp>
        <p:nvSpPr>
          <p:cNvPr id="20" name="Text 18">
            <a:extLst>
              <a:ext uri="{FF2B5EF4-FFF2-40B4-BE49-F238E27FC236}">
                <a16:creationId xmlns:a16="http://schemas.microsoft.com/office/drawing/2014/main" id="{0E1C2751-3B89-4273-8B54-0B19093DA12C}"/>
              </a:ext>
            </a:extLst>
          </p:cNvPr>
          <p:cNvSpPr>
            <a:spLocks noGrp="1"/>
          </p:cNvSpPr>
          <p:nvPr/>
        </p:nvSpPr>
        <p:spPr>
          <a:xfrm>
            <a:off x="5623560" y="1097280"/>
            <a:ext cx="3154680" cy="292608"/>
          </a:xfrm>
          <a:prstGeom prst="rect">
            <a:avLst/>
          </a:prstGeom>
          <a:noFill/>
        </p:spPr>
        <p:txBody>
          <a:bodyPr wrap="square" anchor="ctr"/>
          <a:lstStyle/>
          <a:p>
            <a:pPr marL="0" indent="0" algn="ctr">
              <a:buNone/>
            </a:pPr>
            <a:r>
              <a:rPr sz="1150" b="1">
                <a:solidFill>
                  <a:srgbClr val="FFFFFF"/>
                </a:solidFill>
                <a:latin typeface="Arial"/>
                <a:ea typeface="Arial"/>
                <a:cs typeface="Arial"/>
              </a:rPr>
              <a:t>Key Tension</a:t>
            </a:r>
            <a:endParaRPr sz="1150"/>
          </a:p>
        </p:txBody>
      </p:sp>
      <p:sp>
        <p:nvSpPr>
          <p:cNvPr id="21" name="Text 19">
            <a:extLst>
              <a:ext uri="{FF2B5EF4-FFF2-40B4-BE49-F238E27FC236}">
                <a16:creationId xmlns:a16="http://schemas.microsoft.com/office/drawing/2014/main" id="{0CC5FE9F-1E30-4D6C-9473-BCF4271666E5}"/>
              </a:ext>
            </a:extLst>
          </p:cNvPr>
          <p:cNvSpPr>
            <a:spLocks noGrp="1"/>
          </p:cNvSpPr>
          <p:nvPr/>
        </p:nvSpPr>
        <p:spPr>
          <a:xfrm>
            <a:off x="5788152" y="1517904"/>
            <a:ext cx="2834640" cy="896112"/>
          </a:xfrm>
          <a:prstGeom prst="rect">
            <a:avLst/>
          </a:prstGeom>
          <a:noFill/>
        </p:spPr>
        <p:txBody>
          <a:bodyPr wrap="square" anchor="t"/>
          <a:lstStyle/>
          <a:p>
            <a:pPr marL="0" indent="0">
              <a:lnSpc>
                <a:spcPts val="1100"/>
              </a:lnSpc>
              <a:buNone/>
            </a:pPr>
            <a:r>
              <a:rPr sz="1050" b="1">
                <a:solidFill>
                  <a:srgbClr val="C55A11"/>
                </a:solidFill>
                <a:latin typeface="Arial"/>
                <a:ea typeface="Arial"/>
                <a:cs typeface="Arial"/>
              </a:rPr>
              <a:t>The model can capture overall bird colour while placing eye, crown, wing, belly, or beak attributes ambiguously.</a:t>
            </a:r>
            <a:endParaRPr sz="1050"/>
          </a:p>
        </p:txBody>
      </p:sp>
      <p:sp>
        <p:nvSpPr>
          <p:cNvPr id="22" name="Shape 20">
            <a:extLst>
              <a:ext uri="{FF2B5EF4-FFF2-40B4-BE49-F238E27FC236}">
                <a16:creationId xmlns:a16="http://schemas.microsoft.com/office/drawing/2014/main" id="{34CA2A4E-FC44-4CA4-8F4F-95C6A9F5455E}"/>
              </a:ext>
            </a:extLst>
          </p:cNvPr>
          <p:cNvSpPr>
            <a:spLocks noGrp="1"/>
          </p:cNvSpPr>
          <p:nvPr/>
        </p:nvSpPr>
        <p:spPr>
          <a:xfrm>
            <a:off x="365760" y="2697480"/>
            <a:ext cx="8412480" cy="1554480"/>
          </a:xfrm>
          <a:prstGeom prst="roundRect">
            <a:avLst>
              <a:gd name="adj" fmla="val 3529"/>
            </a:avLst>
          </a:prstGeom>
          <a:solidFill>
            <a:srgbClr val="E8EEF7"/>
          </a:solidFill>
          <a:ln w="12700">
            <a:solidFill>
              <a:srgbClr val="C55A11"/>
            </a:solidFill>
            <a:prstDash val="solid"/>
          </a:ln>
        </p:spPr>
        <p:txBody>
          <a:bodyPr/>
          <a:lstStyle/>
          <a:p>
            <a:endParaRPr/>
          </a:p>
        </p:txBody>
      </p:sp>
      <p:sp>
        <p:nvSpPr>
          <p:cNvPr id="23" name="Text 21">
            <a:extLst>
              <a:ext uri="{FF2B5EF4-FFF2-40B4-BE49-F238E27FC236}">
                <a16:creationId xmlns:a16="http://schemas.microsoft.com/office/drawing/2014/main" id="{BC60732A-2617-4773-A606-1EE52D54010C}"/>
              </a:ext>
            </a:extLst>
          </p:cNvPr>
          <p:cNvSpPr>
            <a:spLocks noGrp="1"/>
          </p:cNvSpPr>
          <p:nvPr/>
        </p:nvSpPr>
        <p:spPr>
          <a:xfrm>
            <a:off x="548640" y="2816352"/>
            <a:ext cx="8046720" cy="320040"/>
          </a:xfrm>
          <a:prstGeom prst="rect">
            <a:avLst/>
          </a:prstGeom>
          <a:noFill/>
        </p:spPr>
        <p:txBody>
          <a:bodyPr wrap="square" anchor="ctr"/>
          <a:lstStyle/>
          <a:p>
            <a:pPr marL="0" indent="0">
              <a:buNone/>
            </a:pPr>
            <a:r>
              <a:rPr sz="1300" b="1">
                <a:solidFill>
                  <a:srgbClr val="1F3864"/>
                </a:solidFill>
                <a:latin typeface="Arial"/>
                <a:ea typeface="Arial"/>
                <a:cs typeface="Arial"/>
              </a:rPr>
              <a:t>Why Test Part Awareness</a:t>
            </a:r>
            <a:endParaRPr sz="1300"/>
          </a:p>
        </p:txBody>
      </p:sp>
      <p:sp>
        <p:nvSpPr>
          <p:cNvPr id="24" name="Text 22">
            <a:extLst>
              <a:ext uri="{FF2B5EF4-FFF2-40B4-BE49-F238E27FC236}">
                <a16:creationId xmlns:a16="http://schemas.microsoft.com/office/drawing/2014/main" id="{F7479C1B-DE28-456C-9440-F4C95D7E67F6}"/>
              </a:ext>
            </a:extLst>
          </p:cNvPr>
          <p:cNvSpPr>
            <a:spLocks noGrp="1"/>
          </p:cNvSpPr>
          <p:nvPr/>
        </p:nvSpPr>
        <p:spPr>
          <a:xfrm>
            <a:off x="548640" y="3154680"/>
            <a:ext cx="8046720" cy="1005840"/>
          </a:xfrm>
          <a:prstGeom prst="rect">
            <a:avLst/>
          </a:prstGeom>
          <a:noFill/>
        </p:spPr>
        <p:txBody>
          <a:bodyPr wrap="square" anchor="ctr"/>
          <a:lstStyle/>
          <a:p>
            <a:pPr marL="0" indent="0">
              <a:lnSpc>
                <a:spcPts val="1200"/>
              </a:lnSpc>
              <a:buNone/>
            </a:pPr>
            <a:r>
              <a:rPr sz="1150">
                <a:solidFill>
                  <a:srgbClr val="1F2937"/>
                </a:solidFill>
                <a:latin typeface="Arial"/>
                <a:ea typeface="Arial"/>
                <a:cs typeface="Arial"/>
              </a:rPr>
              <a:t>Global realism and text match do not guarantee correct part placement. The proposed loss targets internal attention, so output evidence is still required.</a:t>
            </a:r>
            <a:endParaRPr sz="1150"/>
          </a:p>
        </p:txBody>
      </p:sp>
      <p:sp>
        <p:nvSpPr>
          <p:cNvPr id="25" name="Text 23">
            <a:extLst>
              <a:ext uri="{FF2B5EF4-FFF2-40B4-BE49-F238E27FC236}">
                <a16:creationId xmlns:a16="http://schemas.microsoft.com/office/drawing/2014/main" id="{C27FC237-9ABF-48D1-BDA3-7C1D0D7E9F86}"/>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3 / 15</a:t>
            </a:r>
            <a:endParaRPr sz="900"/>
          </a:p>
        </p:txBody>
      </p:sp>
      <p:sp>
        <p:nvSpPr>
          <p:cNvPr id="26" name="Shape 24">
            <a:extLst>
              <a:ext uri="{FF2B5EF4-FFF2-40B4-BE49-F238E27FC236}">
                <a16:creationId xmlns:a16="http://schemas.microsoft.com/office/drawing/2014/main" id="{05EB0E09-3FA6-40AE-B1E6-D05BB75F3D62}"/>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27" name="Shape 25">
            <a:extLst>
              <a:ext uri="{FF2B5EF4-FFF2-40B4-BE49-F238E27FC236}">
                <a16:creationId xmlns:a16="http://schemas.microsoft.com/office/drawing/2014/main" id="{7C8C7A2E-928C-49FF-8B22-E21A1A9D331C}"/>
              </a:ext>
            </a:extLst>
          </p:cNvPr>
          <p:cNvSpPr>
            <a:spLocks noGrp="1"/>
          </p:cNvSpPr>
          <p:nvPr/>
        </p:nvSpPr>
        <p:spPr>
          <a:xfrm>
            <a:off x="7955280" y="4864608"/>
            <a:ext cx="316523"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2113936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42033E0-293F-4760-8E1C-D2576A14587B}"/>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6A874BC9-8EFB-4448-A052-0AB338EBCE98}"/>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03</a:t>
            </a:r>
            <a:endParaRPr sz="1700"/>
          </a:p>
        </p:txBody>
      </p:sp>
      <p:sp>
        <p:nvSpPr>
          <p:cNvPr id="4" name="Text 2">
            <a:extLst>
              <a:ext uri="{FF2B5EF4-FFF2-40B4-BE49-F238E27FC236}">
                <a16:creationId xmlns:a16="http://schemas.microsoft.com/office/drawing/2014/main" id="{86D787F5-27C6-4D8E-ACE0-FFD74F8C0EE0}"/>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The Reproduced Baseline Is Credible</a:t>
            </a:r>
            <a:endParaRPr sz="2100"/>
          </a:p>
        </p:txBody>
      </p:sp>
      <p:sp>
        <p:nvSpPr>
          <p:cNvPr id="5" name="Text 3">
            <a:extLst>
              <a:ext uri="{FF2B5EF4-FFF2-40B4-BE49-F238E27FC236}">
                <a16:creationId xmlns:a16="http://schemas.microsoft.com/office/drawing/2014/main" id="{39D0C23C-94A5-4CC5-849F-7898B2DE9D92}"/>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Author weights · modern inference/evaluation path · 30,000 fixed samples</a:t>
            </a:r>
            <a:endParaRPr sz="1150"/>
          </a:p>
        </p:txBody>
      </p:sp>
      <p:sp>
        <p:nvSpPr>
          <p:cNvPr id="6" name="Shape 4">
            <a:extLst>
              <a:ext uri="{FF2B5EF4-FFF2-40B4-BE49-F238E27FC236}">
                <a16:creationId xmlns:a16="http://schemas.microsoft.com/office/drawing/2014/main" id="{D15478CA-B10D-4A4E-9B4D-975E1D55453C}"/>
              </a:ext>
            </a:extLst>
          </p:cNvPr>
          <p:cNvSpPr>
            <a:spLocks noGrp="1"/>
          </p:cNvSpPr>
          <p:nvPr/>
        </p:nvSpPr>
        <p:spPr>
          <a:xfrm>
            <a:off x="365760" y="987552"/>
            <a:ext cx="2514600" cy="914400"/>
          </a:xfrm>
          <a:prstGeom prst="roundRect">
            <a:avLst>
              <a:gd name="adj" fmla="val 8000"/>
            </a:avLst>
          </a:prstGeom>
          <a:solidFill>
            <a:srgbClr val="F3F6FB"/>
          </a:solidFill>
          <a:ln w="12700">
            <a:solidFill>
              <a:srgbClr val="E8EEF7"/>
            </a:solidFill>
            <a:prstDash val="solid"/>
          </a:ln>
        </p:spPr>
        <p:txBody>
          <a:bodyPr/>
          <a:lstStyle/>
          <a:p>
            <a:endParaRPr/>
          </a:p>
        </p:txBody>
      </p:sp>
      <p:sp>
        <p:nvSpPr>
          <p:cNvPr id="7" name="Text 5">
            <a:extLst>
              <a:ext uri="{FF2B5EF4-FFF2-40B4-BE49-F238E27FC236}">
                <a16:creationId xmlns:a16="http://schemas.microsoft.com/office/drawing/2014/main" id="{2F1412B1-D18A-4C74-B451-E4C956308978}"/>
              </a:ext>
            </a:extLst>
          </p:cNvPr>
          <p:cNvSpPr>
            <a:spLocks noGrp="1"/>
          </p:cNvSpPr>
          <p:nvPr/>
        </p:nvSpPr>
        <p:spPr>
          <a:xfrm>
            <a:off x="365760" y="1042416"/>
            <a:ext cx="2514600" cy="237744"/>
          </a:xfrm>
          <a:prstGeom prst="rect">
            <a:avLst/>
          </a:prstGeom>
          <a:noFill/>
        </p:spPr>
        <p:txBody>
          <a:bodyPr wrap="square" anchor="ctr"/>
          <a:lstStyle/>
          <a:p>
            <a:pPr marL="0" indent="0" algn="ctr">
              <a:buNone/>
            </a:pPr>
            <a:r>
              <a:rPr sz="1100" b="1">
                <a:solidFill>
                  <a:srgbClr val="1F3864"/>
                </a:solidFill>
                <a:latin typeface="Arial"/>
                <a:ea typeface="Arial"/>
                <a:cs typeface="Arial"/>
              </a:rPr>
              <a:t>EVAL · SCALE</a:t>
            </a:r>
            <a:endParaRPr sz="1100"/>
          </a:p>
        </p:txBody>
      </p:sp>
      <p:sp>
        <p:nvSpPr>
          <p:cNvPr id="8" name="Text 6">
            <a:extLst>
              <a:ext uri="{FF2B5EF4-FFF2-40B4-BE49-F238E27FC236}">
                <a16:creationId xmlns:a16="http://schemas.microsoft.com/office/drawing/2014/main" id="{450C30DB-4C19-47DD-A9B6-627BB661C0C2}"/>
              </a:ext>
            </a:extLst>
          </p:cNvPr>
          <p:cNvSpPr>
            <a:spLocks noGrp="1"/>
          </p:cNvSpPr>
          <p:nvPr/>
        </p:nvSpPr>
        <p:spPr>
          <a:xfrm>
            <a:off x="365760" y="1298448"/>
            <a:ext cx="2514600" cy="310896"/>
          </a:xfrm>
          <a:prstGeom prst="rect">
            <a:avLst/>
          </a:prstGeom>
          <a:noFill/>
        </p:spPr>
        <p:txBody>
          <a:bodyPr wrap="square" anchor="ctr"/>
          <a:lstStyle/>
          <a:p>
            <a:pPr marL="0" indent="0" algn="ctr">
              <a:buNone/>
            </a:pPr>
            <a:r>
              <a:rPr sz="1300" b="1">
                <a:solidFill>
                  <a:srgbClr val="0E7C7B"/>
                </a:solidFill>
                <a:latin typeface="Arial"/>
                <a:ea typeface="Arial"/>
                <a:cs typeface="Arial"/>
              </a:rPr>
              <a:t>30,000</a:t>
            </a:r>
            <a:endParaRPr sz="1300"/>
          </a:p>
        </p:txBody>
      </p:sp>
      <p:sp>
        <p:nvSpPr>
          <p:cNvPr id="9" name="Text 7">
            <a:extLst>
              <a:ext uri="{FF2B5EF4-FFF2-40B4-BE49-F238E27FC236}">
                <a16:creationId xmlns:a16="http://schemas.microsoft.com/office/drawing/2014/main" id="{D45201ED-BD42-4442-9A18-3502312799D2}"/>
              </a:ext>
            </a:extLst>
          </p:cNvPr>
          <p:cNvSpPr>
            <a:spLocks noGrp="1"/>
          </p:cNvSpPr>
          <p:nvPr/>
        </p:nvSpPr>
        <p:spPr>
          <a:xfrm>
            <a:off x="365760" y="1609344"/>
            <a:ext cx="2514600" cy="219456"/>
          </a:xfrm>
          <a:prstGeom prst="rect">
            <a:avLst/>
          </a:prstGeom>
          <a:noFill/>
        </p:spPr>
        <p:txBody>
          <a:bodyPr wrap="square" anchor="ctr"/>
          <a:lstStyle/>
          <a:p>
            <a:pPr marL="0" indent="0" algn="ctr">
              <a:buNone/>
            </a:pPr>
            <a:r>
              <a:rPr sz="1000">
                <a:solidFill>
                  <a:srgbClr val="6B7280"/>
                </a:solidFill>
                <a:latin typeface="Arial"/>
                <a:ea typeface="Arial"/>
                <a:cs typeface="Arial"/>
              </a:rPr>
              <a:t>fixed test samples</a:t>
            </a:r>
            <a:endParaRPr sz="1000"/>
          </a:p>
        </p:txBody>
      </p:sp>
      <p:sp>
        <p:nvSpPr>
          <p:cNvPr id="10" name="Shape 8">
            <a:extLst>
              <a:ext uri="{FF2B5EF4-FFF2-40B4-BE49-F238E27FC236}">
                <a16:creationId xmlns:a16="http://schemas.microsoft.com/office/drawing/2014/main" id="{209427D6-8BED-4B02-BF85-E9B86B9A6013}"/>
              </a:ext>
            </a:extLst>
          </p:cNvPr>
          <p:cNvSpPr>
            <a:spLocks noGrp="1"/>
          </p:cNvSpPr>
          <p:nvPr/>
        </p:nvSpPr>
        <p:spPr>
          <a:xfrm>
            <a:off x="3017520" y="987552"/>
            <a:ext cx="2514600" cy="914400"/>
          </a:xfrm>
          <a:prstGeom prst="roundRect">
            <a:avLst>
              <a:gd name="adj" fmla="val 8000"/>
            </a:avLst>
          </a:prstGeom>
          <a:solidFill>
            <a:srgbClr val="F3F6FB"/>
          </a:solidFill>
          <a:ln w="12700">
            <a:solidFill>
              <a:srgbClr val="E8EEF7"/>
            </a:solidFill>
            <a:prstDash val="solid"/>
          </a:ln>
        </p:spPr>
        <p:txBody>
          <a:bodyPr/>
          <a:lstStyle/>
          <a:p>
            <a:endParaRPr/>
          </a:p>
        </p:txBody>
      </p:sp>
      <p:sp>
        <p:nvSpPr>
          <p:cNvPr id="11" name="Text 9">
            <a:extLst>
              <a:ext uri="{FF2B5EF4-FFF2-40B4-BE49-F238E27FC236}">
                <a16:creationId xmlns:a16="http://schemas.microsoft.com/office/drawing/2014/main" id="{F059D79F-1F88-402D-AF58-1A0DFAC31073}"/>
              </a:ext>
            </a:extLst>
          </p:cNvPr>
          <p:cNvSpPr>
            <a:spLocks noGrp="1"/>
          </p:cNvSpPr>
          <p:nvPr/>
        </p:nvSpPr>
        <p:spPr>
          <a:xfrm>
            <a:off x="3017520" y="1042416"/>
            <a:ext cx="2514600" cy="237744"/>
          </a:xfrm>
          <a:prstGeom prst="rect">
            <a:avLst/>
          </a:prstGeom>
          <a:noFill/>
        </p:spPr>
        <p:txBody>
          <a:bodyPr wrap="square" anchor="ctr"/>
          <a:lstStyle/>
          <a:p>
            <a:pPr marL="0" indent="0" algn="ctr">
              <a:buNone/>
            </a:pPr>
            <a:r>
              <a:rPr sz="1100" b="1">
                <a:solidFill>
                  <a:srgbClr val="1F3864"/>
                </a:solidFill>
                <a:latin typeface="Arial"/>
                <a:ea typeface="Arial"/>
                <a:cs typeface="Arial"/>
              </a:rPr>
              <a:t>FID · LOWER</a:t>
            </a:r>
            <a:endParaRPr sz="1100"/>
          </a:p>
        </p:txBody>
      </p:sp>
      <p:sp>
        <p:nvSpPr>
          <p:cNvPr id="12" name="Text 10">
            <a:extLst>
              <a:ext uri="{FF2B5EF4-FFF2-40B4-BE49-F238E27FC236}">
                <a16:creationId xmlns:a16="http://schemas.microsoft.com/office/drawing/2014/main" id="{15125CF9-E64E-413D-A9C9-58D7CBA467DE}"/>
              </a:ext>
            </a:extLst>
          </p:cNvPr>
          <p:cNvSpPr>
            <a:spLocks noGrp="1"/>
          </p:cNvSpPr>
          <p:nvPr/>
        </p:nvSpPr>
        <p:spPr>
          <a:xfrm>
            <a:off x="3017520" y="1298448"/>
            <a:ext cx="2514600" cy="310896"/>
          </a:xfrm>
          <a:prstGeom prst="rect">
            <a:avLst/>
          </a:prstGeom>
          <a:noFill/>
        </p:spPr>
        <p:txBody>
          <a:bodyPr wrap="square" anchor="ctr"/>
          <a:lstStyle/>
          <a:p>
            <a:pPr marL="0" indent="0" algn="ctr">
              <a:buNone/>
            </a:pPr>
            <a:r>
              <a:rPr sz="1300" b="1">
                <a:solidFill>
                  <a:srgbClr val="0E7C7B"/>
                </a:solidFill>
                <a:latin typeface="Arial"/>
                <a:ea typeface="Arial"/>
                <a:cs typeface="Arial"/>
              </a:rPr>
              <a:t>15.76</a:t>
            </a:r>
            <a:endParaRPr sz="1300"/>
          </a:p>
        </p:txBody>
      </p:sp>
      <p:sp>
        <p:nvSpPr>
          <p:cNvPr id="13" name="Text 11">
            <a:extLst>
              <a:ext uri="{FF2B5EF4-FFF2-40B4-BE49-F238E27FC236}">
                <a16:creationId xmlns:a16="http://schemas.microsoft.com/office/drawing/2014/main" id="{4B12CA28-EAC6-424E-977F-0D256A193A66}"/>
              </a:ext>
            </a:extLst>
          </p:cNvPr>
          <p:cNvSpPr>
            <a:spLocks noGrp="1"/>
          </p:cNvSpPr>
          <p:nvPr/>
        </p:nvSpPr>
        <p:spPr>
          <a:xfrm>
            <a:off x="3017520" y="1609344"/>
            <a:ext cx="2514600" cy="219456"/>
          </a:xfrm>
          <a:prstGeom prst="rect">
            <a:avLst/>
          </a:prstGeom>
          <a:noFill/>
        </p:spPr>
        <p:txBody>
          <a:bodyPr wrap="square" anchor="ctr"/>
          <a:lstStyle/>
          <a:p>
            <a:pPr marL="0" indent="0" algn="ctr">
              <a:buNone/>
            </a:pPr>
            <a:r>
              <a:rPr sz="1000">
                <a:solidFill>
                  <a:srgbClr val="0E7C7B"/>
                </a:solidFill>
                <a:latin typeface="Arial"/>
                <a:ea typeface="Arial"/>
                <a:cs typeface="Arial"/>
              </a:rPr>
              <a:t>released ref. 15.34</a:t>
            </a:r>
            <a:endParaRPr sz="1000"/>
          </a:p>
        </p:txBody>
      </p:sp>
      <p:sp>
        <p:nvSpPr>
          <p:cNvPr id="14" name="Shape 12">
            <a:extLst>
              <a:ext uri="{FF2B5EF4-FFF2-40B4-BE49-F238E27FC236}">
                <a16:creationId xmlns:a16="http://schemas.microsoft.com/office/drawing/2014/main" id="{61B995AB-4B5D-4C87-AC92-116DE5001761}"/>
              </a:ext>
            </a:extLst>
          </p:cNvPr>
          <p:cNvSpPr>
            <a:spLocks noGrp="1"/>
          </p:cNvSpPr>
          <p:nvPr/>
        </p:nvSpPr>
        <p:spPr>
          <a:xfrm>
            <a:off x="5669280" y="987552"/>
            <a:ext cx="2514600" cy="914400"/>
          </a:xfrm>
          <a:prstGeom prst="roundRect">
            <a:avLst>
              <a:gd name="adj" fmla="val 8000"/>
            </a:avLst>
          </a:prstGeom>
          <a:solidFill>
            <a:srgbClr val="F3F6FB"/>
          </a:solidFill>
          <a:ln w="12700">
            <a:solidFill>
              <a:srgbClr val="E8EEF7"/>
            </a:solidFill>
            <a:prstDash val="solid"/>
          </a:ln>
        </p:spPr>
        <p:txBody>
          <a:bodyPr/>
          <a:lstStyle/>
          <a:p>
            <a:endParaRPr/>
          </a:p>
        </p:txBody>
      </p:sp>
      <p:sp>
        <p:nvSpPr>
          <p:cNvPr id="15" name="Text 13">
            <a:extLst>
              <a:ext uri="{FF2B5EF4-FFF2-40B4-BE49-F238E27FC236}">
                <a16:creationId xmlns:a16="http://schemas.microsoft.com/office/drawing/2014/main" id="{C2FC38CE-E5D7-4A53-BAE4-636F6B557FE0}"/>
              </a:ext>
            </a:extLst>
          </p:cNvPr>
          <p:cNvSpPr>
            <a:spLocks noGrp="1"/>
          </p:cNvSpPr>
          <p:nvPr/>
        </p:nvSpPr>
        <p:spPr>
          <a:xfrm>
            <a:off x="5669280" y="1042416"/>
            <a:ext cx="2514600" cy="237744"/>
          </a:xfrm>
          <a:prstGeom prst="rect">
            <a:avLst/>
          </a:prstGeom>
          <a:noFill/>
        </p:spPr>
        <p:txBody>
          <a:bodyPr wrap="square" anchor="ctr"/>
          <a:lstStyle/>
          <a:p>
            <a:pPr marL="0" indent="0" algn="ctr">
              <a:buNone/>
            </a:pPr>
            <a:r>
              <a:rPr sz="1100" b="1">
                <a:solidFill>
                  <a:srgbClr val="1F3864"/>
                </a:solidFill>
                <a:latin typeface="Arial"/>
                <a:ea typeface="Arial"/>
                <a:cs typeface="Arial"/>
              </a:rPr>
              <a:t>R-PRECISION · HIGHER</a:t>
            </a:r>
            <a:endParaRPr sz="1100"/>
          </a:p>
        </p:txBody>
      </p:sp>
      <p:sp>
        <p:nvSpPr>
          <p:cNvPr id="16" name="Text 14">
            <a:extLst>
              <a:ext uri="{FF2B5EF4-FFF2-40B4-BE49-F238E27FC236}">
                <a16:creationId xmlns:a16="http://schemas.microsoft.com/office/drawing/2014/main" id="{6B3E4E52-3D7B-4F97-90B9-ADE4D1A41E6B}"/>
              </a:ext>
            </a:extLst>
          </p:cNvPr>
          <p:cNvSpPr>
            <a:spLocks noGrp="1"/>
          </p:cNvSpPr>
          <p:nvPr/>
        </p:nvSpPr>
        <p:spPr>
          <a:xfrm>
            <a:off x="5669280" y="1298448"/>
            <a:ext cx="2514600" cy="310896"/>
          </a:xfrm>
          <a:prstGeom prst="rect">
            <a:avLst/>
          </a:prstGeom>
          <a:noFill/>
        </p:spPr>
        <p:txBody>
          <a:bodyPr wrap="square" anchor="ctr"/>
          <a:lstStyle/>
          <a:p>
            <a:pPr marL="0" indent="0" algn="ctr">
              <a:buNone/>
            </a:pPr>
            <a:r>
              <a:rPr sz="1300" b="1">
                <a:solidFill>
                  <a:srgbClr val="0E7C7B"/>
                </a:solidFill>
                <a:latin typeface="Arial"/>
                <a:ea typeface="Arial"/>
                <a:cs typeface="Arial"/>
              </a:rPr>
              <a:t>76.67%</a:t>
            </a:r>
            <a:endParaRPr sz="1300"/>
          </a:p>
        </p:txBody>
      </p:sp>
      <p:sp>
        <p:nvSpPr>
          <p:cNvPr id="17" name="Text 15">
            <a:extLst>
              <a:ext uri="{FF2B5EF4-FFF2-40B4-BE49-F238E27FC236}">
                <a16:creationId xmlns:a16="http://schemas.microsoft.com/office/drawing/2014/main" id="{EA77FA44-1544-44E5-B687-C97481632849}"/>
              </a:ext>
            </a:extLst>
          </p:cNvPr>
          <p:cNvSpPr>
            <a:spLocks noGrp="1"/>
          </p:cNvSpPr>
          <p:nvPr/>
        </p:nvSpPr>
        <p:spPr>
          <a:xfrm>
            <a:off x="5669280" y="1609344"/>
            <a:ext cx="2514600" cy="219456"/>
          </a:xfrm>
          <a:prstGeom prst="rect">
            <a:avLst/>
          </a:prstGeom>
          <a:noFill/>
        </p:spPr>
        <p:txBody>
          <a:bodyPr wrap="square" anchor="ctr"/>
          <a:lstStyle/>
          <a:p>
            <a:pPr marL="0" indent="0" algn="ctr">
              <a:buNone/>
            </a:pPr>
            <a:r>
              <a:rPr sz="1000">
                <a:solidFill>
                  <a:srgbClr val="0E7C7B"/>
                </a:solidFill>
                <a:latin typeface="Arial"/>
                <a:ea typeface="Arial"/>
                <a:cs typeface="Arial"/>
              </a:rPr>
              <a:t>released ref. 76.58%</a:t>
            </a:r>
            <a:endParaRPr sz="1000"/>
          </a:p>
        </p:txBody>
      </p:sp>
      <p:sp>
        <p:nvSpPr>
          <p:cNvPr id="18" name="Shape 16">
            <a:extLst>
              <a:ext uri="{FF2B5EF4-FFF2-40B4-BE49-F238E27FC236}">
                <a16:creationId xmlns:a16="http://schemas.microsoft.com/office/drawing/2014/main" id="{910A018D-25F0-484E-9797-F482C798C4EE}"/>
              </a:ext>
            </a:extLst>
          </p:cNvPr>
          <p:cNvSpPr>
            <a:spLocks noGrp="1"/>
          </p:cNvSpPr>
          <p:nvPr/>
        </p:nvSpPr>
        <p:spPr>
          <a:xfrm>
            <a:off x="365760" y="2057400"/>
            <a:ext cx="3200400" cy="2514600"/>
          </a:xfrm>
          <a:prstGeom prst="roundRect">
            <a:avLst>
              <a:gd name="adj" fmla="val 2182"/>
            </a:avLst>
          </a:prstGeom>
          <a:solidFill>
            <a:srgbClr val="FFFFFF"/>
          </a:solidFill>
          <a:ln w="12700">
            <a:solidFill>
              <a:srgbClr val="E8EEF7"/>
            </a:solidFill>
            <a:prstDash val="solid"/>
          </a:ln>
        </p:spPr>
        <p:txBody>
          <a:bodyPr/>
          <a:lstStyle/>
          <a:p>
            <a:endParaRPr/>
          </a:p>
        </p:txBody>
      </p:sp>
      <p:sp>
        <p:nvSpPr>
          <p:cNvPr id="19" name="Text 17">
            <a:extLst>
              <a:ext uri="{FF2B5EF4-FFF2-40B4-BE49-F238E27FC236}">
                <a16:creationId xmlns:a16="http://schemas.microsoft.com/office/drawing/2014/main" id="{18E5DF4F-F942-4CAE-90A4-6E447A46583B}"/>
              </a:ext>
            </a:extLst>
          </p:cNvPr>
          <p:cNvSpPr>
            <a:spLocks noGrp="1"/>
          </p:cNvSpPr>
          <p:nvPr/>
        </p:nvSpPr>
        <p:spPr>
          <a:xfrm>
            <a:off x="365760" y="2167128"/>
            <a:ext cx="3200400" cy="219456"/>
          </a:xfrm>
          <a:prstGeom prst="rect">
            <a:avLst/>
          </a:prstGeom>
          <a:noFill/>
        </p:spPr>
        <p:txBody>
          <a:bodyPr wrap="square" anchor="ctr"/>
          <a:lstStyle/>
          <a:p>
            <a:pPr marL="0" indent="0" algn="ctr">
              <a:buNone/>
            </a:pPr>
            <a:r>
              <a:rPr sz="950" b="1">
                <a:solidFill>
                  <a:srgbClr val="1F3864"/>
                </a:solidFill>
                <a:latin typeface="Arial"/>
                <a:ea typeface="Arial"/>
                <a:cs typeface="Arial"/>
              </a:rPr>
              <a:t>Official checkpoint · local inference</a:t>
            </a:r>
            <a:endParaRPr sz="950"/>
          </a:p>
        </p:txBody>
      </p:sp>
      <p:pic>
        <p:nvPicPr>
          <p:cNvPr id="64" name="Image 0"/>
          <p:cNvPicPr>
            <a:picLocks noChangeAspect="1"/>
          </p:cNvPicPr>
          <p:nvPr/>
        </p:nvPicPr>
        <p:blipFill>
          <a:blip r:embed="rId3"/>
          <a:srcRect/>
          <a:stretch/>
        </p:blipFill>
        <p:spPr>
          <a:xfrm>
            <a:off x="457200" y="2377440"/>
            <a:ext cx="3017520" cy="1920240"/>
          </a:xfrm>
          <a:prstGeom prst="rect">
            <a:avLst/>
          </a:prstGeom>
        </p:spPr>
      </p:pic>
      <p:sp>
        <p:nvSpPr>
          <p:cNvPr id="21" name="Shape 18">
            <a:extLst>
              <a:ext uri="{FF2B5EF4-FFF2-40B4-BE49-F238E27FC236}">
                <a16:creationId xmlns:a16="http://schemas.microsoft.com/office/drawing/2014/main" id="{04E22412-51DD-4D36-A2B7-3F4ED713CD3D}"/>
              </a:ext>
            </a:extLst>
          </p:cNvPr>
          <p:cNvSpPr>
            <a:spLocks noGrp="1"/>
          </p:cNvSpPr>
          <p:nvPr/>
        </p:nvSpPr>
        <p:spPr>
          <a:xfrm>
            <a:off x="3749040" y="2057400"/>
            <a:ext cx="2606040" cy="2514600"/>
          </a:xfrm>
          <a:prstGeom prst="roundRect">
            <a:avLst>
              <a:gd name="adj" fmla="val 2182"/>
            </a:avLst>
          </a:prstGeom>
          <a:solidFill>
            <a:srgbClr val="F3F6FB"/>
          </a:solidFill>
          <a:ln w="12700">
            <a:solidFill>
              <a:srgbClr val="E8EEF7"/>
            </a:solidFill>
            <a:prstDash val="solid"/>
          </a:ln>
        </p:spPr>
        <p:txBody>
          <a:bodyPr/>
          <a:lstStyle/>
          <a:p>
            <a:endParaRPr/>
          </a:p>
        </p:txBody>
      </p:sp>
      <p:sp>
        <p:nvSpPr>
          <p:cNvPr id="22" name="Shape 19">
            <a:extLst>
              <a:ext uri="{FF2B5EF4-FFF2-40B4-BE49-F238E27FC236}">
                <a16:creationId xmlns:a16="http://schemas.microsoft.com/office/drawing/2014/main" id="{A7E5B67C-75C7-450D-8B0A-31AFFD832C09}"/>
              </a:ext>
            </a:extLst>
          </p:cNvPr>
          <p:cNvSpPr>
            <a:spLocks noGrp="1"/>
          </p:cNvSpPr>
          <p:nvPr/>
        </p:nvSpPr>
        <p:spPr>
          <a:xfrm>
            <a:off x="3749040" y="2057400"/>
            <a:ext cx="2606040" cy="384048"/>
          </a:xfrm>
          <a:prstGeom prst="roundRect">
            <a:avLst>
              <a:gd name="adj" fmla="val 14286"/>
            </a:avLst>
          </a:prstGeom>
          <a:solidFill>
            <a:srgbClr val="0E7C7B"/>
          </a:solidFill>
        </p:spPr>
        <p:txBody>
          <a:bodyPr/>
          <a:lstStyle/>
          <a:p>
            <a:endParaRPr/>
          </a:p>
        </p:txBody>
      </p:sp>
      <p:sp>
        <p:nvSpPr>
          <p:cNvPr id="23" name="Text 20">
            <a:extLst>
              <a:ext uri="{FF2B5EF4-FFF2-40B4-BE49-F238E27FC236}">
                <a16:creationId xmlns:a16="http://schemas.microsoft.com/office/drawing/2014/main" id="{8C8735C6-9915-4A8C-83CE-1C6FE22E0C0B}"/>
              </a:ext>
            </a:extLst>
          </p:cNvPr>
          <p:cNvSpPr>
            <a:spLocks noGrp="1"/>
          </p:cNvSpPr>
          <p:nvPr/>
        </p:nvSpPr>
        <p:spPr>
          <a:xfrm>
            <a:off x="3749040" y="2103120"/>
            <a:ext cx="2606040" cy="292608"/>
          </a:xfrm>
          <a:prstGeom prst="rect">
            <a:avLst/>
          </a:prstGeom>
          <a:noFill/>
        </p:spPr>
        <p:txBody>
          <a:bodyPr wrap="square" anchor="ctr"/>
          <a:lstStyle/>
          <a:p>
            <a:pPr marL="0" indent="0" algn="ctr">
              <a:buNone/>
            </a:pPr>
            <a:r>
              <a:rPr sz="1200" b="1">
                <a:solidFill>
                  <a:srgbClr val="FFFFFF"/>
                </a:solidFill>
                <a:latin typeface="Arial"/>
                <a:ea typeface="Arial"/>
                <a:cs typeface="Arial"/>
              </a:rPr>
              <a:t>Released and Local Results</a:t>
            </a:r>
            <a:endParaRPr sz="1200"/>
          </a:p>
        </p:txBody>
      </p:sp>
      <p:sp>
        <p:nvSpPr>
          <p:cNvPr id="24" name="Shape 21">
            <a:extLst>
              <a:ext uri="{FF2B5EF4-FFF2-40B4-BE49-F238E27FC236}">
                <a16:creationId xmlns:a16="http://schemas.microsoft.com/office/drawing/2014/main" id="{15E9028B-B096-4ADD-B8AF-350CF8E727A4}"/>
              </a:ext>
            </a:extLst>
          </p:cNvPr>
          <p:cNvSpPr>
            <a:spLocks noGrp="1"/>
          </p:cNvSpPr>
          <p:nvPr/>
        </p:nvSpPr>
        <p:spPr>
          <a:xfrm>
            <a:off x="3886200" y="2542032"/>
            <a:ext cx="1417320" cy="256032"/>
          </a:xfrm>
          <a:prstGeom prst="rect">
            <a:avLst/>
          </a:prstGeom>
          <a:solidFill>
            <a:srgbClr val="FFFFFF"/>
          </a:solidFill>
        </p:spPr>
        <p:txBody>
          <a:bodyPr/>
          <a:lstStyle/>
          <a:p>
            <a:endParaRPr/>
          </a:p>
        </p:txBody>
      </p:sp>
      <p:sp>
        <p:nvSpPr>
          <p:cNvPr id="25" name="Text 22">
            <a:extLst>
              <a:ext uri="{FF2B5EF4-FFF2-40B4-BE49-F238E27FC236}">
                <a16:creationId xmlns:a16="http://schemas.microsoft.com/office/drawing/2014/main" id="{E282EB35-AED1-4DA1-AA9D-719232572F0A}"/>
              </a:ext>
            </a:extLst>
          </p:cNvPr>
          <p:cNvSpPr>
            <a:spLocks noGrp="1"/>
          </p:cNvSpPr>
          <p:nvPr/>
        </p:nvSpPr>
        <p:spPr>
          <a:xfrm>
            <a:off x="3886200" y="2542032"/>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Released R-precision</a:t>
            </a:r>
            <a:endParaRPr sz="1000"/>
          </a:p>
        </p:txBody>
      </p:sp>
      <p:sp>
        <p:nvSpPr>
          <p:cNvPr id="26" name="Shape 23">
            <a:extLst>
              <a:ext uri="{FF2B5EF4-FFF2-40B4-BE49-F238E27FC236}">
                <a16:creationId xmlns:a16="http://schemas.microsoft.com/office/drawing/2014/main" id="{D2D95AA9-7624-492A-826E-C084DE221374}"/>
              </a:ext>
            </a:extLst>
          </p:cNvPr>
          <p:cNvSpPr>
            <a:spLocks noGrp="1"/>
          </p:cNvSpPr>
          <p:nvPr/>
        </p:nvSpPr>
        <p:spPr>
          <a:xfrm>
            <a:off x="5349240" y="2542032"/>
            <a:ext cx="868680" cy="256032"/>
          </a:xfrm>
          <a:prstGeom prst="rect">
            <a:avLst/>
          </a:prstGeom>
          <a:solidFill>
            <a:srgbClr val="FFFFFF"/>
          </a:solidFill>
        </p:spPr>
        <p:txBody>
          <a:bodyPr/>
          <a:lstStyle/>
          <a:p>
            <a:endParaRPr/>
          </a:p>
        </p:txBody>
      </p:sp>
      <p:sp>
        <p:nvSpPr>
          <p:cNvPr id="27" name="Text 24">
            <a:extLst>
              <a:ext uri="{FF2B5EF4-FFF2-40B4-BE49-F238E27FC236}">
                <a16:creationId xmlns:a16="http://schemas.microsoft.com/office/drawing/2014/main" id="{78983770-A30C-4C42-9252-16C7F9D1D2BF}"/>
              </a:ext>
            </a:extLst>
          </p:cNvPr>
          <p:cNvSpPr>
            <a:spLocks noGrp="1"/>
          </p:cNvSpPr>
          <p:nvPr/>
        </p:nvSpPr>
        <p:spPr>
          <a:xfrm>
            <a:off x="5349240" y="2542032"/>
            <a:ext cx="868680" cy="256032"/>
          </a:xfrm>
          <a:prstGeom prst="rect">
            <a:avLst/>
          </a:prstGeom>
          <a:noFill/>
        </p:spPr>
        <p:txBody>
          <a:bodyPr wrap="square" anchor="ctr"/>
          <a:lstStyle/>
          <a:p>
            <a:pPr marL="0" indent="0" algn="r">
              <a:buNone/>
            </a:pPr>
            <a:r>
              <a:rPr sz="1000">
                <a:solidFill>
                  <a:srgbClr val="1F2937"/>
                </a:solidFill>
                <a:latin typeface="Arial"/>
                <a:ea typeface="Arial"/>
                <a:cs typeface="Arial"/>
              </a:rPr>
              <a:t>76.58% ±0.53</a:t>
            </a:r>
            <a:endParaRPr sz="1000"/>
          </a:p>
        </p:txBody>
      </p:sp>
      <p:sp>
        <p:nvSpPr>
          <p:cNvPr id="28" name="Shape 25">
            <a:extLst>
              <a:ext uri="{FF2B5EF4-FFF2-40B4-BE49-F238E27FC236}">
                <a16:creationId xmlns:a16="http://schemas.microsoft.com/office/drawing/2014/main" id="{14E75BCC-EC34-4828-9BCD-5AAFBED7E29F}"/>
              </a:ext>
            </a:extLst>
          </p:cNvPr>
          <p:cNvSpPr>
            <a:spLocks noGrp="1"/>
          </p:cNvSpPr>
          <p:nvPr/>
        </p:nvSpPr>
        <p:spPr>
          <a:xfrm>
            <a:off x="3886200" y="2834640"/>
            <a:ext cx="1417320" cy="256032"/>
          </a:xfrm>
          <a:prstGeom prst="rect">
            <a:avLst/>
          </a:prstGeom>
          <a:solidFill>
            <a:srgbClr val="FFFFFF"/>
          </a:solidFill>
        </p:spPr>
        <p:txBody>
          <a:bodyPr/>
          <a:lstStyle/>
          <a:p>
            <a:endParaRPr/>
          </a:p>
        </p:txBody>
      </p:sp>
      <p:sp>
        <p:nvSpPr>
          <p:cNvPr id="29" name="Text 26">
            <a:extLst>
              <a:ext uri="{FF2B5EF4-FFF2-40B4-BE49-F238E27FC236}">
                <a16:creationId xmlns:a16="http://schemas.microsoft.com/office/drawing/2014/main" id="{FC02901C-5B15-47B1-88AD-9933EB867698}"/>
              </a:ext>
            </a:extLst>
          </p:cNvPr>
          <p:cNvSpPr>
            <a:spLocks noGrp="1"/>
          </p:cNvSpPr>
          <p:nvPr/>
        </p:nvSpPr>
        <p:spPr>
          <a:xfrm>
            <a:off x="3886200" y="2834640"/>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Released PyTorch FID</a:t>
            </a:r>
            <a:endParaRPr sz="1000"/>
          </a:p>
        </p:txBody>
      </p:sp>
      <p:sp>
        <p:nvSpPr>
          <p:cNvPr id="30" name="Shape 27">
            <a:extLst>
              <a:ext uri="{FF2B5EF4-FFF2-40B4-BE49-F238E27FC236}">
                <a16:creationId xmlns:a16="http://schemas.microsoft.com/office/drawing/2014/main" id="{3EFD5C0F-3F25-43C5-8280-4213299E0C08}"/>
              </a:ext>
            </a:extLst>
          </p:cNvPr>
          <p:cNvSpPr>
            <a:spLocks noGrp="1"/>
          </p:cNvSpPr>
          <p:nvPr/>
        </p:nvSpPr>
        <p:spPr>
          <a:xfrm>
            <a:off x="5349240" y="2834640"/>
            <a:ext cx="868680" cy="256032"/>
          </a:xfrm>
          <a:prstGeom prst="rect">
            <a:avLst/>
          </a:prstGeom>
          <a:solidFill>
            <a:srgbClr val="FFFFFF"/>
          </a:solidFill>
        </p:spPr>
        <p:txBody>
          <a:bodyPr/>
          <a:lstStyle/>
          <a:p>
            <a:endParaRPr/>
          </a:p>
        </p:txBody>
      </p:sp>
      <p:sp>
        <p:nvSpPr>
          <p:cNvPr id="31" name="Text 28">
            <a:extLst>
              <a:ext uri="{FF2B5EF4-FFF2-40B4-BE49-F238E27FC236}">
                <a16:creationId xmlns:a16="http://schemas.microsoft.com/office/drawing/2014/main" id="{C9E8CA0C-7248-49EE-A680-8870F4D411AB}"/>
              </a:ext>
            </a:extLst>
          </p:cNvPr>
          <p:cNvSpPr>
            <a:spLocks noGrp="1"/>
          </p:cNvSpPr>
          <p:nvPr/>
        </p:nvSpPr>
        <p:spPr>
          <a:xfrm>
            <a:off x="5349240" y="2834640"/>
            <a:ext cx="868680" cy="256032"/>
          </a:xfrm>
          <a:prstGeom prst="rect">
            <a:avLst/>
          </a:prstGeom>
          <a:noFill/>
        </p:spPr>
        <p:txBody>
          <a:bodyPr wrap="square" anchor="ctr"/>
          <a:lstStyle/>
          <a:p>
            <a:pPr marL="0" indent="0" algn="r">
              <a:buNone/>
            </a:pPr>
            <a:r>
              <a:rPr sz="1000">
                <a:solidFill>
                  <a:srgbClr val="1F2937"/>
                </a:solidFill>
                <a:latin typeface="Arial"/>
                <a:ea typeface="Arial"/>
                <a:cs typeface="Arial"/>
              </a:rPr>
              <a:t>15.34</a:t>
            </a:r>
            <a:endParaRPr sz="1000"/>
          </a:p>
        </p:txBody>
      </p:sp>
      <p:sp>
        <p:nvSpPr>
          <p:cNvPr id="32" name="Shape 29">
            <a:extLst>
              <a:ext uri="{FF2B5EF4-FFF2-40B4-BE49-F238E27FC236}">
                <a16:creationId xmlns:a16="http://schemas.microsoft.com/office/drawing/2014/main" id="{1FBFCD48-BAEE-46B8-B315-48F867BF3CDC}"/>
              </a:ext>
            </a:extLst>
          </p:cNvPr>
          <p:cNvSpPr>
            <a:spLocks noGrp="1"/>
          </p:cNvSpPr>
          <p:nvPr/>
        </p:nvSpPr>
        <p:spPr>
          <a:xfrm>
            <a:off x="3886200" y="3127248"/>
            <a:ext cx="1417320" cy="256032"/>
          </a:xfrm>
          <a:prstGeom prst="rect">
            <a:avLst/>
          </a:prstGeom>
          <a:solidFill>
            <a:srgbClr val="FFFFFF"/>
          </a:solidFill>
        </p:spPr>
        <p:txBody>
          <a:bodyPr/>
          <a:lstStyle/>
          <a:p>
            <a:endParaRPr/>
          </a:p>
        </p:txBody>
      </p:sp>
      <p:sp>
        <p:nvSpPr>
          <p:cNvPr id="33" name="Text 30">
            <a:extLst>
              <a:ext uri="{FF2B5EF4-FFF2-40B4-BE49-F238E27FC236}">
                <a16:creationId xmlns:a16="http://schemas.microsoft.com/office/drawing/2014/main" id="{FAE2B877-07C5-4EC7-87BE-6283B17D6FDE}"/>
              </a:ext>
            </a:extLst>
          </p:cNvPr>
          <p:cNvSpPr>
            <a:spLocks noGrp="1"/>
          </p:cNvSpPr>
          <p:nvPr/>
        </p:nvSpPr>
        <p:spPr>
          <a:xfrm>
            <a:off x="3886200" y="3127248"/>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Local R-precision</a:t>
            </a:r>
            <a:endParaRPr sz="1000"/>
          </a:p>
        </p:txBody>
      </p:sp>
      <p:sp>
        <p:nvSpPr>
          <p:cNvPr id="34" name="Shape 31">
            <a:extLst>
              <a:ext uri="{FF2B5EF4-FFF2-40B4-BE49-F238E27FC236}">
                <a16:creationId xmlns:a16="http://schemas.microsoft.com/office/drawing/2014/main" id="{94B2B480-F874-4AB5-8005-3873B839307F}"/>
              </a:ext>
            </a:extLst>
          </p:cNvPr>
          <p:cNvSpPr>
            <a:spLocks noGrp="1"/>
          </p:cNvSpPr>
          <p:nvPr/>
        </p:nvSpPr>
        <p:spPr>
          <a:xfrm>
            <a:off x="5349240" y="3127248"/>
            <a:ext cx="868680" cy="256032"/>
          </a:xfrm>
          <a:prstGeom prst="rect">
            <a:avLst/>
          </a:prstGeom>
          <a:solidFill>
            <a:srgbClr val="FFFFFF"/>
          </a:solidFill>
        </p:spPr>
        <p:txBody>
          <a:bodyPr/>
          <a:lstStyle/>
          <a:p>
            <a:endParaRPr/>
          </a:p>
        </p:txBody>
      </p:sp>
      <p:sp>
        <p:nvSpPr>
          <p:cNvPr id="35" name="Text 32">
            <a:extLst>
              <a:ext uri="{FF2B5EF4-FFF2-40B4-BE49-F238E27FC236}">
                <a16:creationId xmlns:a16="http://schemas.microsoft.com/office/drawing/2014/main" id="{3B2DDE6F-2829-48E1-878C-B68392D47D00}"/>
              </a:ext>
            </a:extLst>
          </p:cNvPr>
          <p:cNvSpPr>
            <a:spLocks noGrp="1"/>
          </p:cNvSpPr>
          <p:nvPr/>
        </p:nvSpPr>
        <p:spPr>
          <a:xfrm>
            <a:off x="5349240" y="3127248"/>
            <a:ext cx="868680" cy="256032"/>
          </a:xfrm>
          <a:prstGeom prst="rect">
            <a:avLst/>
          </a:prstGeom>
          <a:noFill/>
        </p:spPr>
        <p:txBody>
          <a:bodyPr wrap="square" anchor="ctr"/>
          <a:lstStyle/>
          <a:p>
            <a:pPr marL="0" indent="0" algn="r">
              <a:buNone/>
            </a:pPr>
            <a:r>
              <a:rPr sz="1000">
                <a:solidFill>
                  <a:srgbClr val="1F2937"/>
                </a:solidFill>
                <a:latin typeface="Arial"/>
                <a:ea typeface="Arial"/>
                <a:cs typeface="Arial"/>
              </a:rPr>
              <a:t>76.67% ±0.83</a:t>
            </a:r>
            <a:endParaRPr sz="1000"/>
          </a:p>
        </p:txBody>
      </p:sp>
      <p:sp>
        <p:nvSpPr>
          <p:cNvPr id="36" name="Shape 33">
            <a:extLst>
              <a:ext uri="{FF2B5EF4-FFF2-40B4-BE49-F238E27FC236}">
                <a16:creationId xmlns:a16="http://schemas.microsoft.com/office/drawing/2014/main" id="{484B58E1-96B3-4CCC-992D-A7238D012D05}"/>
              </a:ext>
            </a:extLst>
          </p:cNvPr>
          <p:cNvSpPr>
            <a:spLocks noGrp="1"/>
          </p:cNvSpPr>
          <p:nvPr/>
        </p:nvSpPr>
        <p:spPr>
          <a:xfrm>
            <a:off x="3886200" y="3419856"/>
            <a:ext cx="1417320" cy="256032"/>
          </a:xfrm>
          <a:prstGeom prst="rect">
            <a:avLst/>
          </a:prstGeom>
          <a:solidFill>
            <a:srgbClr val="FFFFFF"/>
          </a:solidFill>
        </p:spPr>
        <p:txBody>
          <a:bodyPr/>
          <a:lstStyle/>
          <a:p>
            <a:endParaRPr/>
          </a:p>
        </p:txBody>
      </p:sp>
      <p:sp>
        <p:nvSpPr>
          <p:cNvPr id="37" name="Text 34">
            <a:extLst>
              <a:ext uri="{FF2B5EF4-FFF2-40B4-BE49-F238E27FC236}">
                <a16:creationId xmlns:a16="http://schemas.microsoft.com/office/drawing/2014/main" id="{396891A0-A658-4543-B466-F6630CB9694C}"/>
              </a:ext>
            </a:extLst>
          </p:cNvPr>
          <p:cNvSpPr>
            <a:spLocks noGrp="1"/>
          </p:cNvSpPr>
          <p:nvPr/>
        </p:nvSpPr>
        <p:spPr>
          <a:xfrm>
            <a:off x="3886200" y="3419856"/>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Local PyTorch FID</a:t>
            </a:r>
            <a:endParaRPr sz="1000"/>
          </a:p>
        </p:txBody>
      </p:sp>
      <p:sp>
        <p:nvSpPr>
          <p:cNvPr id="38" name="Shape 35">
            <a:extLst>
              <a:ext uri="{FF2B5EF4-FFF2-40B4-BE49-F238E27FC236}">
                <a16:creationId xmlns:a16="http://schemas.microsoft.com/office/drawing/2014/main" id="{1DD621A3-6695-4789-A97D-6D6BB7805A02}"/>
              </a:ext>
            </a:extLst>
          </p:cNvPr>
          <p:cNvSpPr>
            <a:spLocks noGrp="1"/>
          </p:cNvSpPr>
          <p:nvPr/>
        </p:nvSpPr>
        <p:spPr>
          <a:xfrm>
            <a:off x="5349240" y="3419856"/>
            <a:ext cx="868680" cy="256032"/>
          </a:xfrm>
          <a:prstGeom prst="rect">
            <a:avLst/>
          </a:prstGeom>
          <a:solidFill>
            <a:srgbClr val="FFFFFF"/>
          </a:solidFill>
        </p:spPr>
        <p:txBody>
          <a:bodyPr/>
          <a:lstStyle/>
          <a:p>
            <a:endParaRPr/>
          </a:p>
        </p:txBody>
      </p:sp>
      <p:sp>
        <p:nvSpPr>
          <p:cNvPr id="39" name="Text 36">
            <a:extLst>
              <a:ext uri="{FF2B5EF4-FFF2-40B4-BE49-F238E27FC236}">
                <a16:creationId xmlns:a16="http://schemas.microsoft.com/office/drawing/2014/main" id="{F9D4D6D4-A3AF-4B00-84D5-ABFF0C59ED89}"/>
              </a:ext>
            </a:extLst>
          </p:cNvPr>
          <p:cNvSpPr>
            <a:spLocks noGrp="1"/>
          </p:cNvSpPr>
          <p:nvPr/>
        </p:nvSpPr>
        <p:spPr>
          <a:xfrm>
            <a:off x="5349240" y="3419856"/>
            <a:ext cx="868680" cy="256032"/>
          </a:xfrm>
          <a:prstGeom prst="rect">
            <a:avLst/>
          </a:prstGeom>
          <a:noFill/>
        </p:spPr>
        <p:txBody>
          <a:bodyPr wrap="square" anchor="ctr"/>
          <a:lstStyle/>
          <a:p>
            <a:pPr marL="0" indent="0" algn="r">
              <a:buNone/>
            </a:pPr>
            <a:r>
              <a:rPr sz="1000" b="1">
                <a:solidFill>
                  <a:srgbClr val="0E7C7B"/>
                </a:solidFill>
                <a:latin typeface="Arial"/>
                <a:ea typeface="Arial"/>
                <a:cs typeface="Arial"/>
              </a:rPr>
              <a:t>15.76</a:t>
            </a:r>
            <a:endParaRPr sz="1000"/>
          </a:p>
        </p:txBody>
      </p:sp>
      <p:sp>
        <p:nvSpPr>
          <p:cNvPr id="40" name="Shape 37">
            <a:extLst>
              <a:ext uri="{FF2B5EF4-FFF2-40B4-BE49-F238E27FC236}">
                <a16:creationId xmlns:a16="http://schemas.microsoft.com/office/drawing/2014/main" id="{27BEF71D-C0CA-4059-8A5F-EBFB23CB90DA}"/>
              </a:ext>
            </a:extLst>
          </p:cNvPr>
          <p:cNvSpPr>
            <a:spLocks noGrp="1"/>
          </p:cNvSpPr>
          <p:nvPr/>
        </p:nvSpPr>
        <p:spPr>
          <a:xfrm>
            <a:off x="6537960" y="2057400"/>
            <a:ext cx="2240280" cy="2514600"/>
          </a:xfrm>
          <a:prstGeom prst="roundRect">
            <a:avLst>
              <a:gd name="adj" fmla="val 2449"/>
            </a:avLst>
          </a:prstGeom>
          <a:solidFill>
            <a:srgbClr val="E8EEF7"/>
          </a:solidFill>
          <a:ln w="12700">
            <a:solidFill>
              <a:srgbClr val="1F3864"/>
            </a:solidFill>
            <a:prstDash val="solid"/>
          </a:ln>
        </p:spPr>
        <p:txBody>
          <a:bodyPr/>
          <a:lstStyle/>
          <a:p>
            <a:endParaRPr/>
          </a:p>
        </p:txBody>
      </p:sp>
      <p:sp>
        <p:nvSpPr>
          <p:cNvPr id="41" name="Text 38">
            <a:extLst>
              <a:ext uri="{FF2B5EF4-FFF2-40B4-BE49-F238E27FC236}">
                <a16:creationId xmlns:a16="http://schemas.microsoft.com/office/drawing/2014/main" id="{15E5423D-1610-4AF9-80A2-0E7DE6164A39}"/>
              </a:ext>
            </a:extLst>
          </p:cNvPr>
          <p:cNvSpPr>
            <a:spLocks noGrp="1"/>
          </p:cNvSpPr>
          <p:nvPr/>
        </p:nvSpPr>
        <p:spPr>
          <a:xfrm>
            <a:off x="6675120" y="2286000"/>
            <a:ext cx="1965960" cy="2103120"/>
          </a:xfrm>
          <a:prstGeom prst="rect">
            <a:avLst/>
          </a:prstGeom>
          <a:noFill/>
        </p:spPr>
        <p:txBody>
          <a:bodyPr wrap="square" anchor="t"/>
          <a:lstStyle/>
          <a:p>
            <a:pPr marL="0" indent="0">
              <a:lnSpc>
                <a:spcPts val="1200"/>
              </a:lnSpc>
              <a:buNone/>
            </a:pPr>
            <a:r>
              <a:rPr sz="1050" b="1">
                <a:solidFill>
                  <a:srgbClr val="0E7C7B"/>
                </a:solidFill>
                <a:latin typeface="Arial"/>
                <a:ea typeface="Arial"/>
                <a:cs typeface="Arial"/>
              </a:rPr>
              <a:t>PASS
Comparable FID and R-precision validate checkpoint compatibility, generation, and evaluation.
This does not prove that the 200-step random-init run converged.</a:t>
            </a:r>
            <a:endParaRPr sz="1050"/>
          </a:p>
        </p:txBody>
      </p:sp>
      <p:sp>
        <p:nvSpPr>
          <p:cNvPr id="42" name="Text 39">
            <a:extLst>
              <a:ext uri="{FF2B5EF4-FFF2-40B4-BE49-F238E27FC236}">
                <a16:creationId xmlns:a16="http://schemas.microsoft.com/office/drawing/2014/main" id="{C9FDAE8B-3432-48F3-888E-12DA1A71A5EF}"/>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4 / 15</a:t>
            </a:r>
            <a:endParaRPr sz="900"/>
          </a:p>
        </p:txBody>
      </p:sp>
      <p:sp>
        <p:nvSpPr>
          <p:cNvPr id="43" name="Shape 40">
            <a:extLst>
              <a:ext uri="{FF2B5EF4-FFF2-40B4-BE49-F238E27FC236}">
                <a16:creationId xmlns:a16="http://schemas.microsoft.com/office/drawing/2014/main" id="{DCA28C56-AA96-4580-87E6-BB3388540693}"/>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44" name="Shape 41">
            <a:extLst>
              <a:ext uri="{FF2B5EF4-FFF2-40B4-BE49-F238E27FC236}">
                <a16:creationId xmlns:a16="http://schemas.microsoft.com/office/drawing/2014/main" id="{E098D422-8079-448A-A059-BA1D79E04C9A}"/>
              </a:ext>
            </a:extLst>
          </p:cNvPr>
          <p:cNvSpPr>
            <a:spLocks noGrp="1"/>
          </p:cNvSpPr>
          <p:nvPr/>
        </p:nvSpPr>
        <p:spPr>
          <a:xfrm>
            <a:off x="7955280" y="4864608"/>
            <a:ext cx="759655"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1967216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CF48FBC-5516-46E8-B1B3-4422E39ABF29}"/>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3935D704-B055-41E6-A77E-B865147F474F}"/>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04</a:t>
            </a:r>
            <a:endParaRPr sz="1700"/>
          </a:p>
        </p:txBody>
      </p:sp>
      <p:sp>
        <p:nvSpPr>
          <p:cNvPr id="4" name="Text 2">
            <a:extLst>
              <a:ext uri="{FF2B5EF4-FFF2-40B4-BE49-F238E27FC236}">
                <a16:creationId xmlns:a16="http://schemas.microsoft.com/office/drawing/2014/main" id="{B17940FC-87FD-4A32-A243-064BB3F757A9}"/>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Part-Aware Loss Guides Attention Toward Landmarks</a:t>
            </a:r>
            <a:endParaRPr sz="2100"/>
          </a:p>
        </p:txBody>
      </p:sp>
      <p:sp>
        <p:nvSpPr>
          <p:cNvPr id="5" name="Text 3">
            <a:extLst>
              <a:ext uri="{FF2B5EF4-FFF2-40B4-BE49-F238E27FC236}">
                <a16:creationId xmlns:a16="http://schemas.microsoft.com/office/drawing/2014/main" id="{292556EE-53A4-4EE5-B725-48E2FF45ADA1}"/>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Extra CUB supervision is added only to branch C</a:t>
            </a:r>
            <a:endParaRPr sz="1150"/>
          </a:p>
        </p:txBody>
      </p:sp>
      <p:sp>
        <p:nvSpPr>
          <p:cNvPr id="6" name="Shape 4">
            <a:extLst>
              <a:ext uri="{FF2B5EF4-FFF2-40B4-BE49-F238E27FC236}">
                <a16:creationId xmlns:a16="http://schemas.microsoft.com/office/drawing/2014/main" id="{EE1C6AEA-F400-482A-8C22-74E93EF3E8E1}"/>
              </a:ext>
            </a:extLst>
          </p:cNvPr>
          <p:cNvSpPr>
            <a:spLocks noGrp="1"/>
          </p:cNvSpPr>
          <p:nvPr/>
        </p:nvSpPr>
        <p:spPr>
          <a:xfrm>
            <a:off x="365760" y="1051560"/>
            <a:ext cx="4114800" cy="1965960"/>
          </a:xfrm>
          <a:prstGeom prst="roundRect">
            <a:avLst>
              <a:gd name="adj" fmla="val 2791"/>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40A6FFFA-C25D-4F23-9DDA-7579C5B30542}"/>
              </a:ext>
            </a:extLst>
          </p:cNvPr>
          <p:cNvSpPr>
            <a:spLocks noGrp="1"/>
          </p:cNvSpPr>
          <p:nvPr/>
        </p:nvSpPr>
        <p:spPr>
          <a:xfrm>
            <a:off x="365760" y="1051560"/>
            <a:ext cx="4114800" cy="384048"/>
          </a:xfrm>
          <a:prstGeom prst="roundRect">
            <a:avLst>
              <a:gd name="adj" fmla="val 14286"/>
            </a:avLst>
          </a:prstGeom>
          <a:solidFill>
            <a:srgbClr val="0E7C7B"/>
          </a:solidFill>
        </p:spPr>
        <p:txBody>
          <a:bodyPr/>
          <a:lstStyle/>
          <a:p>
            <a:endParaRPr/>
          </a:p>
        </p:txBody>
      </p:sp>
      <p:sp>
        <p:nvSpPr>
          <p:cNvPr id="8" name="Text 6">
            <a:extLst>
              <a:ext uri="{FF2B5EF4-FFF2-40B4-BE49-F238E27FC236}">
                <a16:creationId xmlns:a16="http://schemas.microsoft.com/office/drawing/2014/main" id="{45E21CAE-E99E-4449-9483-ABFCB6C9837A}"/>
              </a:ext>
            </a:extLst>
          </p:cNvPr>
          <p:cNvSpPr>
            <a:spLocks noGrp="1"/>
          </p:cNvSpPr>
          <p:nvPr/>
        </p:nvSpPr>
        <p:spPr>
          <a:xfrm>
            <a:off x="365760" y="1097280"/>
            <a:ext cx="411480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Build Supervision</a:t>
            </a:r>
            <a:endParaRPr sz="1250"/>
          </a:p>
        </p:txBody>
      </p:sp>
      <p:sp>
        <p:nvSpPr>
          <p:cNvPr id="9" name="Text 7">
            <a:extLst>
              <a:ext uri="{FF2B5EF4-FFF2-40B4-BE49-F238E27FC236}">
                <a16:creationId xmlns:a16="http://schemas.microsoft.com/office/drawing/2014/main" id="{F219D6E4-CED7-414C-BEEA-1FE492CA9AE8}"/>
              </a:ext>
            </a:extLst>
          </p:cNvPr>
          <p:cNvSpPr>
            <a:spLocks noGrp="1"/>
          </p:cNvSpPr>
          <p:nvPr/>
        </p:nvSpPr>
        <p:spPr>
          <a:xfrm>
            <a:off x="530352" y="1536192"/>
            <a:ext cx="3785616" cy="1371600"/>
          </a:xfrm>
          <a:prstGeom prst="rect">
            <a:avLst/>
          </a:prstGeom>
          <a:noFill/>
        </p:spPr>
        <p:txBody>
          <a:bodyPr wrap="square" anchor="t"/>
          <a:lstStyle/>
          <a:p>
            <a:pPr marL="0" indent="0">
              <a:lnSpc>
                <a:spcPts val="1300"/>
              </a:lnSpc>
              <a:buNone/>
            </a:pPr>
            <a:r>
              <a:rPr sz="1150" b="1">
                <a:solidFill>
                  <a:srgbClr val="0E7C7B"/>
                </a:solidFill>
                <a:latin typeface="Arial"/>
                <a:ea typeface="Arial"/>
                <a:cs typeface="Arial"/>
              </a:rPr>
              <a:t>1. Transform 15 visible landmarks with the image
2. Merge left/right eye, wing and leg when side-neutral
3. Convert target parts to Gaussian heatmaps</a:t>
            </a:r>
            <a:endParaRPr sz="1150"/>
          </a:p>
        </p:txBody>
      </p:sp>
      <p:sp>
        <p:nvSpPr>
          <p:cNvPr id="10" name="Shape 8">
            <a:extLst>
              <a:ext uri="{FF2B5EF4-FFF2-40B4-BE49-F238E27FC236}">
                <a16:creationId xmlns:a16="http://schemas.microsoft.com/office/drawing/2014/main" id="{C5B43479-84BF-450A-8CB1-E203678106B3}"/>
              </a:ext>
            </a:extLst>
          </p:cNvPr>
          <p:cNvSpPr>
            <a:spLocks noGrp="1"/>
          </p:cNvSpPr>
          <p:nvPr/>
        </p:nvSpPr>
        <p:spPr>
          <a:xfrm>
            <a:off x="4663440" y="1051560"/>
            <a:ext cx="4114800" cy="1965960"/>
          </a:xfrm>
          <a:prstGeom prst="roundRect">
            <a:avLst>
              <a:gd name="adj" fmla="val 2791"/>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50A67230-E38C-4078-B9C1-8232B31DF0B7}"/>
              </a:ext>
            </a:extLst>
          </p:cNvPr>
          <p:cNvSpPr>
            <a:spLocks noGrp="1"/>
          </p:cNvSpPr>
          <p:nvPr/>
        </p:nvSpPr>
        <p:spPr>
          <a:xfrm>
            <a:off x="4663440" y="1051560"/>
            <a:ext cx="4114800" cy="384048"/>
          </a:xfrm>
          <a:prstGeom prst="roundRect">
            <a:avLst>
              <a:gd name="adj" fmla="val 14286"/>
            </a:avLst>
          </a:prstGeom>
          <a:solidFill>
            <a:srgbClr val="C55A11"/>
          </a:solidFill>
        </p:spPr>
        <p:txBody>
          <a:bodyPr/>
          <a:lstStyle/>
          <a:p>
            <a:endParaRPr/>
          </a:p>
        </p:txBody>
      </p:sp>
      <p:sp>
        <p:nvSpPr>
          <p:cNvPr id="12" name="Text 10">
            <a:extLst>
              <a:ext uri="{FF2B5EF4-FFF2-40B4-BE49-F238E27FC236}">
                <a16:creationId xmlns:a16="http://schemas.microsoft.com/office/drawing/2014/main" id="{593DBB63-AFBF-404D-B369-0B07A2371ADD}"/>
              </a:ext>
            </a:extLst>
          </p:cNvPr>
          <p:cNvSpPr>
            <a:spLocks noGrp="1"/>
          </p:cNvSpPr>
          <p:nvPr/>
        </p:nvSpPr>
        <p:spPr>
          <a:xfrm>
            <a:off x="4663440" y="1097280"/>
            <a:ext cx="411480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Align Attention</a:t>
            </a:r>
            <a:endParaRPr sz="1250"/>
          </a:p>
        </p:txBody>
      </p:sp>
      <p:sp>
        <p:nvSpPr>
          <p:cNvPr id="13" name="Text 11">
            <a:extLst>
              <a:ext uri="{FF2B5EF4-FFF2-40B4-BE49-F238E27FC236}">
                <a16:creationId xmlns:a16="http://schemas.microsoft.com/office/drawing/2014/main" id="{9A136CF3-5921-4AA1-8C00-40146DBD2329}"/>
              </a:ext>
            </a:extLst>
          </p:cNvPr>
          <p:cNvSpPr>
            <a:spLocks noGrp="1"/>
          </p:cNvSpPr>
          <p:nvPr/>
        </p:nvSpPr>
        <p:spPr>
          <a:xfrm>
            <a:off x="4828032" y="1536192"/>
            <a:ext cx="3785616" cy="1371600"/>
          </a:xfrm>
          <a:prstGeom prst="rect">
            <a:avLst/>
          </a:prstGeom>
          <a:noFill/>
        </p:spPr>
        <p:txBody>
          <a:bodyPr wrap="square" anchor="ctr"/>
          <a:lstStyle/>
          <a:p>
            <a:pPr marL="0" indent="0">
              <a:lnSpc>
                <a:spcPts val="1300"/>
              </a:lnSpc>
              <a:buNone/>
            </a:pPr>
            <a:r>
              <a:rPr sz="1150">
                <a:solidFill>
                  <a:srgbClr val="1F2937"/>
                </a:solidFill>
                <a:latin typeface="Arial"/>
                <a:ea typeface="Arial"/>
                <a:cs typeface="Arial"/>
              </a:rPr>
              <a:t>Map part nouns and nearby colour words to targets
Compute cross-entropy at 128 and 256
Ltotal = LDM-GAN + 0.05 Lpart</a:t>
            </a:r>
            <a:endParaRPr sz="1150"/>
          </a:p>
        </p:txBody>
      </p:sp>
      <p:sp>
        <p:nvSpPr>
          <p:cNvPr id="14" name="Shape 12">
            <a:extLst>
              <a:ext uri="{FF2B5EF4-FFF2-40B4-BE49-F238E27FC236}">
                <a16:creationId xmlns:a16="http://schemas.microsoft.com/office/drawing/2014/main" id="{698F6D3F-65A2-4063-970C-672547457398}"/>
              </a:ext>
            </a:extLst>
          </p:cNvPr>
          <p:cNvSpPr>
            <a:spLocks noGrp="1"/>
          </p:cNvSpPr>
          <p:nvPr/>
        </p:nvSpPr>
        <p:spPr>
          <a:xfrm>
            <a:off x="365760" y="3200400"/>
            <a:ext cx="8412480" cy="1051560"/>
          </a:xfrm>
          <a:prstGeom prst="roundRect">
            <a:avLst>
              <a:gd name="adj" fmla="val 5217"/>
            </a:avLst>
          </a:prstGeom>
          <a:solidFill>
            <a:srgbClr val="E8EEF7"/>
          </a:solidFill>
          <a:ln w="12700">
            <a:solidFill>
              <a:srgbClr val="1F3864"/>
            </a:solidFill>
            <a:prstDash val="solid"/>
          </a:ln>
        </p:spPr>
        <p:txBody>
          <a:bodyPr/>
          <a:lstStyle/>
          <a:p>
            <a:endParaRPr/>
          </a:p>
        </p:txBody>
      </p:sp>
      <p:sp>
        <p:nvSpPr>
          <p:cNvPr id="15" name="Text 13">
            <a:extLst>
              <a:ext uri="{FF2B5EF4-FFF2-40B4-BE49-F238E27FC236}">
                <a16:creationId xmlns:a16="http://schemas.microsoft.com/office/drawing/2014/main" id="{3B7523DB-1162-4458-A8C5-9F39F60753E3}"/>
              </a:ext>
            </a:extLst>
          </p:cNvPr>
          <p:cNvSpPr>
            <a:spLocks noGrp="1"/>
          </p:cNvSpPr>
          <p:nvPr/>
        </p:nvSpPr>
        <p:spPr>
          <a:xfrm>
            <a:off x="548640" y="3310128"/>
            <a:ext cx="8046720" cy="292608"/>
          </a:xfrm>
          <a:prstGeom prst="rect">
            <a:avLst/>
          </a:prstGeom>
          <a:noFill/>
        </p:spPr>
        <p:txBody>
          <a:bodyPr wrap="square" anchor="ctr"/>
          <a:lstStyle/>
          <a:p>
            <a:pPr marL="0" indent="0">
              <a:buNone/>
            </a:pPr>
            <a:r>
              <a:rPr sz="1250" b="1">
                <a:solidFill>
                  <a:srgbClr val="1F3864"/>
                </a:solidFill>
                <a:latin typeface="Arial"/>
                <a:ea typeface="Arial"/>
                <a:cs typeface="Arial"/>
              </a:rPr>
              <a:t>Important Boundary</a:t>
            </a:r>
            <a:endParaRPr sz="1250"/>
          </a:p>
        </p:txBody>
      </p:sp>
      <p:sp>
        <p:nvSpPr>
          <p:cNvPr id="16" name="Text 14">
            <a:extLst>
              <a:ext uri="{FF2B5EF4-FFF2-40B4-BE49-F238E27FC236}">
                <a16:creationId xmlns:a16="http://schemas.microsoft.com/office/drawing/2014/main" id="{19B8858B-0D95-4C89-8B99-F82B974E1D2A}"/>
              </a:ext>
            </a:extLst>
          </p:cNvPr>
          <p:cNvSpPr>
            <a:spLocks noGrp="1"/>
          </p:cNvSpPr>
          <p:nvPr/>
        </p:nvSpPr>
        <p:spPr>
          <a:xfrm>
            <a:off x="548640" y="3630168"/>
            <a:ext cx="8046720" cy="548640"/>
          </a:xfrm>
          <a:prstGeom prst="rect">
            <a:avLst/>
          </a:prstGeom>
          <a:noFill/>
        </p:spPr>
        <p:txBody>
          <a:bodyPr wrap="square" anchor="ctr"/>
          <a:lstStyle/>
          <a:p>
            <a:pPr marL="0" indent="0">
              <a:lnSpc>
                <a:spcPts val="1200"/>
              </a:lnSpc>
              <a:buNone/>
            </a:pPr>
            <a:r>
              <a:rPr sz="1150">
                <a:solidFill>
                  <a:srgbClr val="1F2937"/>
                </a:solidFill>
                <a:latin typeface="Arial"/>
                <a:ea typeface="Arial"/>
                <a:cs typeface="Arial"/>
              </a:rPr>
              <a:t>The loss supervises internal word attention—not final pixels. Output-level evaluation must still decide whether the image is better.</a:t>
            </a:r>
            <a:endParaRPr sz="1150"/>
          </a:p>
        </p:txBody>
      </p:sp>
      <p:sp>
        <p:nvSpPr>
          <p:cNvPr id="17" name="Text 15">
            <a:extLst>
              <a:ext uri="{FF2B5EF4-FFF2-40B4-BE49-F238E27FC236}">
                <a16:creationId xmlns:a16="http://schemas.microsoft.com/office/drawing/2014/main" id="{2EC6DB93-7D28-4417-98CD-8923EF138480}"/>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5 / 15</a:t>
            </a:r>
            <a:endParaRPr sz="900"/>
          </a:p>
        </p:txBody>
      </p:sp>
      <p:sp>
        <p:nvSpPr>
          <p:cNvPr id="18" name="Shape 16">
            <a:extLst>
              <a:ext uri="{FF2B5EF4-FFF2-40B4-BE49-F238E27FC236}">
                <a16:creationId xmlns:a16="http://schemas.microsoft.com/office/drawing/2014/main" id="{84555E5B-078E-493D-AD28-7D2608621E18}"/>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19" name="Shape 17">
            <a:extLst>
              <a:ext uri="{FF2B5EF4-FFF2-40B4-BE49-F238E27FC236}">
                <a16:creationId xmlns:a16="http://schemas.microsoft.com/office/drawing/2014/main" id="{55C9039F-C1CA-4D5F-AB9B-8D239443A79A}"/>
              </a:ext>
            </a:extLst>
          </p:cNvPr>
          <p:cNvSpPr>
            <a:spLocks noGrp="1"/>
          </p:cNvSpPr>
          <p:nvPr/>
        </p:nvSpPr>
        <p:spPr>
          <a:xfrm>
            <a:off x="7955280" y="4864608"/>
            <a:ext cx="506437"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1036377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639511C-5B6F-4B5C-8C9E-237273EE5AE9}"/>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631E3D59-CFDC-42BD-9395-A4A599DCC861}"/>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05</a:t>
            </a:r>
            <a:endParaRPr sz="1700"/>
          </a:p>
        </p:txBody>
      </p:sp>
      <p:sp>
        <p:nvSpPr>
          <p:cNvPr id="4" name="Text 2">
            <a:extLst>
              <a:ext uri="{FF2B5EF4-FFF2-40B4-BE49-F238E27FC236}">
                <a16:creationId xmlns:a16="http://schemas.microsoft.com/office/drawing/2014/main" id="{2276DBEF-B4E4-4A81-AC74-D4BB749F42E7}"/>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Landmarks Must Follow Every Image Transform</a:t>
            </a:r>
            <a:endParaRPr sz="2100"/>
          </a:p>
        </p:txBody>
      </p:sp>
      <p:sp>
        <p:nvSpPr>
          <p:cNvPr id="5" name="Text 3">
            <a:extLst>
              <a:ext uri="{FF2B5EF4-FFF2-40B4-BE49-F238E27FC236}">
                <a16:creationId xmlns:a16="http://schemas.microsoft.com/office/drawing/2014/main" id="{4791F405-8E2B-491D-925D-174C016F9363}"/>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A coordinate mismatch would invalidate the supervision</a:t>
            </a:r>
            <a:endParaRPr sz="1150"/>
          </a:p>
        </p:txBody>
      </p:sp>
      <p:sp>
        <p:nvSpPr>
          <p:cNvPr id="6" name="Shape 4">
            <a:extLst>
              <a:ext uri="{FF2B5EF4-FFF2-40B4-BE49-F238E27FC236}">
                <a16:creationId xmlns:a16="http://schemas.microsoft.com/office/drawing/2014/main" id="{1D4114AC-47E0-4C37-95DE-023EDEC135E8}"/>
              </a:ext>
            </a:extLst>
          </p:cNvPr>
          <p:cNvSpPr>
            <a:spLocks noGrp="1"/>
          </p:cNvSpPr>
          <p:nvPr/>
        </p:nvSpPr>
        <p:spPr>
          <a:xfrm>
            <a:off x="365760" y="1051560"/>
            <a:ext cx="4114800" cy="2651760"/>
          </a:xfrm>
          <a:prstGeom prst="roundRect">
            <a:avLst>
              <a:gd name="adj" fmla="val 2069"/>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FD8E62DA-4EF1-4261-ABE4-D07EA931288C}"/>
              </a:ext>
            </a:extLst>
          </p:cNvPr>
          <p:cNvSpPr>
            <a:spLocks noGrp="1"/>
          </p:cNvSpPr>
          <p:nvPr/>
        </p:nvSpPr>
        <p:spPr>
          <a:xfrm>
            <a:off x="365760" y="1051560"/>
            <a:ext cx="4114800" cy="411480"/>
          </a:xfrm>
          <a:prstGeom prst="roundRect">
            <a:avLst>
              <a:gd name="adj" fmla="val 13333"/>
            </a:avLst>
          </a:prstGeom>
          <a:solidFill>
            <a:srgbClr val="0E7C7B"/>
          </a:solidFill>
        </p:spPr>
        <p:txBody>
          <a:bodyPr/>
          <a:lstStyle/>
          <a:p>
            <a:endParaRPr/>
          </a:p>
        </p:txBody>
      </p:sp>
      <p:sp>
        <p:nvSpPr>
          <p:cNvPr id="8" name="Text 6">
            <a:extLst>
              <a:ext uri="{FF2B5EF4-FFF2-40B4-BE49-F238E27FC236}">
                <a16:creationId xmlns:a16="http://schemas.microsoft.com/office/drawing/2014/main" id="{5986DF36-3424-4419-BE2F-9C3890A02AED}"/>
              </a:ext>
            </a:extLst>
          </p:cNvPr>
          <p:cNvSpPr>
            <a:spLocks noGrp="1"/>
          </p:cNvSpPr>
          <p:nvPr/>
        </p:nvSpPr>
        <p:spPr>
          <a:xfrm>
            <a:off x="365760" y="1097280"/>
            <a:ext cx="4114800" cy="320040"/>
          </a:xfrm>
          <a:prstGeom prst="rect">
            <a:avLst/>
          </a:prstGeom>
          <a:noFill/>
        </p:spPr>
        <p:txBody>
          <a:bodyPr wrap="square" anchor="ctr"/>
          <a:lstStyle/>
          <a:p>
            <a:pPr marL="0" indent="0" algn="ctr">
              <a:buNone/>
            </a:pPr>
            <a:r>
              <a:rPr sz="1250" b="1">
                <a:solidFill>
                  <a:srgbClr val="FFFFFF"/>
                </a:solidFill>
                <a:latin typeface="Arial"/>
                <a:ea typeface="Arial"/>
                <a:cs typeface="Arial"/>
              </a:rPr>
              <a:t>Synchronized Path</a:t>
            </a:r>
            <a:endParaRPr sz="1250"/>
          </a:p>
        </p:txBody>
      </p:sp>
      <p:sp>
        <p:nvSpPr>
          <p:cNvPr id="9" name="Text 7">
            <a:extLst>
              <a:ext uri="{FF2B5EF4-FFF2-40B4-BE49-F238E27FC236}">
                <a16:creationId xmlns:a16="http://schemas.microsoft.com/office/drawing/2014/main" id="{974181A9-58A3-485E-B1F7-C4DF2002FAB2}"/>
              </a:ext>
            </a:extLst>
          </p:cNvPr>
          <p:cNvSpPr>
            <a:spLocks noGrp="1"/>
          </p:cNvSpPr>
          <p:nvPr/>
        </p:nvSpPr>
        <p:spPr>
          <a:xfrm>
            <a:off x="566928" y="1600200"/>
            <a:ext cx="3712464" cy="2011680"/>
          </a:xfrm>
          <a:prstGeom prst="rect">
            <a:avLst/>
          </a:prstGeom>
          <a:noFill/>
        </p:spPr>
        <p:txBody>
          <a:bodyPr wrap="square" anchor="t"/>
          <a:lstStyle/>
          <a:p>
            <a:pPr marL="0" indent="0">
              <a:lnSpc>
                <a:spcPts val="1400"/>
              </a:lnSpc>
              <a:buNone/>
            </a:pPr>
            <a:r>
              <a:rPr sz="1200" b="1">
                <a:solidFill>
                  <a:srgbClr val="1F2937"/>
                </a:solidFill>
                <a:latin typeface="Arial"/>
                <a:ea typeface="Arial"/>
                <a:cs typeface="Arial"/>
              </a:rPr>
              <a:t>bbox crop
→ resize
→ random crop
→ horizontal flip
→ attention grid</a:t>
            </a:r>
            <a:endParaRPr sz="1200"/>
          </a:p>
        </p:txBody>
      </p:sp>
      <p:sp>
        <p:nvSpPr>
          <p:cNvPr id="10" name="Shape 8">
            <a:extLst>
              <a:ext uri="{FF2B5EF4-FFF2-40B4-BE49-F238E27FC236}">
                <a16:creationId xmlns:a16="http://schemas.microsoft.com/office/drawing/2014/main" id="{4B42BC8D-DB7A-4F24-9079-0E8FA6B87209}"/>
              </a:ext>
            </a:extLst>
          </p:cNvPr>
          <p:cNvSpPr>
            <a:spLocks noGrp="1"/>
          </p:cNvSpPr>
          <p:nvPr/>
        </p:nvSpPr>
        <p:spPr>
          <a:xfrm>
            <a:off x="4663440" y="1051560"/>
            <a:ext cx="4114800" cy="2651760"/>
          </a:xfrm>
          <a:prstGeom prst="roundRect">
            <a:avLst>
              <a:gd name="adj" fmla="val 2069"/>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0176C03E-0E56-45FE-8E6C-9AA2C5D1DE7E}"/>
              </a:ext>
            </a:extLst>
          </p:cNvPr>
          <p:cNvSpPr>
            <a:spLocks noGrp="1"/>
          </p:cNvSpPr>
          <p:nvPr/>
        </p:nvSpPr>
        <p:spPr>
          <a:xfrm>
            <a:off x="4663440" y="1051560"/>
            <a:ext cx="4114800" cy="411480"/>
          </a:xfrm>
          <a:prstGeom prst="roundRect">
            <a:avLst>
              <a:gd name="adj" fmla="val 13333"/>
            </a:avLst>
          </a:prstGeom>
          <a:solidFill>
            <a:srgbClr val="C55A11"/>
          </a:solidFill>
        </p:spPr>
        <p:txBody>
          <a:bodyPr/>
          <a:lstStyle/>
          <a:p>
            <a:endParaRPr/>
          </a:p>
        </p:txBody>
      </p:sp>
      <p:sp>
        <p:nvSpPr>
          <p:cNvPr id="12" name="Text 10">
            <a:extLst>
              <a:ext uri="{FF2B5EF4-FFF2-40B4-BE49-F238E27FC236}">
                <a16:creationId xmlns:a16="http://schemas.microsoft.com/office/drawing/2014/main" id="{5132B374-D2CF-414E-B63F-146716357448}"/>
              </a:ext>
            </a:extLst>
          </p:cNvPr>
          <p:cNvSpPr>
            <a:spLocks noGrp="1"/>
          </p:cNvSpPr>
          <p:nvPr/>
        </p:nvSpPr>
        <p:spPr>
          <a:xfrm>
            <a:off x="4663440" y="1097280"/>
            <a:ext cx="4114800" cy="320040"/>
          </a:xfrm>
          <a:prstGeom prst="rect">
            <a:avLst/>
          </a:prstGeom>
          <a:noFill/>
        </p:spPr>
        <p:txBody>
          <a:bodyPr wrap="square" anchor="ctr"/>
          <a:lstStyle/>
          <a:p>
            <a:pPr marL="0" indent="0" algn="ctr">
              <a:buNone/>
            </a:pPr>
            <a:r>
              <a:rPr sz="1250" b="1">
                <a:solidFill>
                  <a:srgbClr val="FFFFFF"/>
                </a:solidFill>
                <a:latin typeface="Arial"/>
                <a:ea typeface="Arial"/>
                <a:cs typeface="Arial"/>
              </a:rPr>
              <a:t>Validity Rules</a:t>
            </a:r>
            <a:endParaRPr sz="1250"/>
          </a:p>
        </p:txBody>
      </p:sp>
      <p:sp>
        <p:nvSpPr>
          <p:cNvPr id="13" name="Text 11">
            <a:extLst>
              <a:ext uri="{FF2B5EF4-FFF2-40B4-BE49-F238E27FC236}">
                <a16:creationId xmlns:a16="http://schemas.microsoft.com/office/drawing/2014/main" id="{1C5CFB3A-F3E0-485B-9781-7CA15F7AB928}"/>
              </a:ext>
            </a:extLst>
          </p:cNvPr>
          <p:cNvSpPr>
            <a:spLocks noGrp="1"/>
          </p:cNvSpPr>
          <p:nvPr/>
        </p:nvSpPr>
        <p:spPr>
          <a:xfrm>
            <a:off x="4864608" y="1600200"/>
            <a:ext cx="3712464" cy="2011680"/>
          </a:xfrm>
          <a:prstGeom prst="rect">
            <a:avLst/>
          </a:prstGeom>
          <a:noFill/>
        </p:spPr>
        <p:txBody>
          <a:bodyPr wrap="square" anchor="t"/>
          <a:lstStyle/>
          <a:p>
            <a:pPr marL="0" indent="0">
              <a:lnSpc>
                <a:spcPts val="1400"/>
              </a:lnSpc>
              <a:buNone/>
            </a:pPr>
            <a:r>
              <a:rPr sz="1200" b="1">
                <a:solidFill>
                  <a:srgbClr val="1F2937"/>
                </a:solidFill>
                <a:latin typeface="Arial"/>
                <a:ea typeface="Arial"/>
                <a:cs typeface="Arial"/>
              </a:rPr>
              <a:t>Mask invisible or cropped points
Flip x-coordinates with the image
Merge left/right heatmaps for side-neutral words</a:t>
            </a:r>
            <a:endParaRPr sz="1200"/>
          </a:p>
        </p:txBody>
      </p:sp>
      <p:sp>
        <p:nvSpPr>
          <p:cNvPr id="14" name="Shape 12">
            <a:extLst>
              <a:ext uri="{FF2B5EF4-FFF2-40B4-BE49-F238E27FC236}">
                <a16:creationId xmlns:a16="http://schemas.microsoft.com/office/drawing/2014/main" id="{ECDE9A43-8C94-4036-885E-32A1C557CAEE}"/>
              </a:ext>
            </a:extLst>
          </p:cNvPr>
          <p:cNvSpPr>
            <a:spLocks noGrp="1"/>
          </p:cNvSpPr>
          <p:nvPr/>
        </p:nvSpPr>
        <p:spPr>
          <a:xfrm>
            <a:off x="365760" y="3886200"/>
            <a:ext cx="8412480" cy="685800"/>
          </a:xfrm>
          <a:prstGeom prst="roundRect">
            <a:avLst>
              <a:gd name="adj" fmla="val 8000"/>
            </a:avLst>
          </a:prstGeom>
          <a:solidFill>
            <a:srgbClr val="E8EEF7"/>
          </a:solidFill>
          <a:ln w="12700">
            <a:solidFill>
              <a:srgbClr val="1F3864"/>
            </a:solidFill>
            <a:prstDash val="solid"/>
          </a:ln>
        </p:spPr>
        <p:txBody>
          <a:bodyPr/>
          <a:lstStyle/>
          <a:p>
            <a:endParaRPr/>
          </a:p>
        </p:txBody>
      </p:sp>
      <p:sp>
        <p:nvSpPr>
          <p:cNvPr id="15" name="Text 13">
            <a:extLst>
              <a:ext uri="{FF2B5EF4-FFF2-40B4-BE49-F238E27FC236}">
                <a16:creationId xmlns:a16="http://schemas.microsoft.com/office/drawing/2014/main" id="{2C7A6E72-5876-425C-8BCA-DA6ED02BD201}"/>
              </a:ext>
            </a:extLst>
          </p:cNvPr>
          <p:cNvSpPr>
            <a:spLocks noGrp="1"/>
          </p:cNvSpPr>
          <p:nvPr/>
        </p:nvSpPr>
        <p:spPr>
          <a:xfrm>
            <a:off x="548640" y="3931920"/>
            <a:ext cx="8046720" cy="594360"/>
          </a:xfrm>
          <a:prstGeom prst="rect">
            <a:avLst/>
          </a:prstGeom>
          <a:noFill/>
        </p:spPr>
        <p:txBody>
          <a:bodyPr wrap="square" anchor="ctr"/>
          <a:lstStyle/>
          <a:p>
            <a:pPr marL="0" indent="0">
              <a:buNone/>
            </a:pPr>
            <a:r>
              <a:rPr sz="1250" b="1">
                <a:solidFill>
                  <a:srgbClr val="1F3864"/>
                </a:solidFill>
                <a:latin typeface="Arial"/>
                <a:ea typeface="Arial"/>
                <a:cs typeface="Arial"/>
              </a:rPr>
              <a:t>If image and landmark transforms diverge, the loss rewards attention at the wrong location. This was the critical data-pipeline change.</a:t>
            </a:r>
            <a:endParaRPr sz="1250"/>
          </a:p>
        </p:txBody>
      </p:sp>
      <p:sp>
        <p:nvSpPr>
          <p:cNvPr id="16" name="Text 14">
            <a:extLst>
              <a:ext uri="{FF2B5EF4-FFF2-40B4-BE49-F238E27FC236}">
                <a16:creationId xmlns:a16="http://schemas.microsoft.com/office/drawing/2014/main" id="{31B54E14-8014-4E02-B347-67BDB21F6E56}"/>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6 / 15</a:t>
            </a:r>
            <a:endParaRPr sz="900"/>
          </a:p>
        </p:txBody>
      </p:sp>
      <p:sp>
        <p:nvSpPr>
          <p:cNvPr id="17" name="Shape 15">
            <a:extLst>
              <a:ext uri="{FF2B5EF4-FFF2-40B4-BE49-F238E27FC236}">
                <a16:creationId xmlns:a16="http://schemas.microsoft.com/office/drawing/2014/main" id="{B71834C7-C7CD-40C8-87AA-37DC85217288}"/>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18" name="Shape 16">
            <a:extLst>
              <a:ext uri="{FF2B5EF4-FFF2-40B4-BE49-F238E27FC236}">
                <a16:creationId xmlns:a16="http://schemas.microsoft.com/office/drawing/2014/main" id="{7A3F5AA0-0A47-4CB6-B45B-6F8ABB5CFA0B}"/>
              </a:ext>
            </a:extLst>
          </p:cNvPr>
          <p:cNvSpPr>
            <a:spLocks noGrp="1"/>
          </p:cNvSpPr>
          <p:nvPr/>
        </p:nvSpPr>
        <p:spPr>
          <a:xfrm>
            <a:off x="7955280" y="4864608"/>
            <a:ext cx="189914"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392966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4DB82D0-6891-4AB5-BE2E-438155B74737}"/>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FFC4E628-D939-4507-9B6A-668DDDB4B5BF}"/>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06</a:t>
            </a:r>
            <a:endParaRPr sz="1700"/>
          </a:p>
        </p:txBody>
      </p:sp>
      <p:sp>
        <p:nvSpPr>
          <p:cNvPr id="4" name="Text 2">
            <a:extLst>
              <a:ext uri="{FF2B5EF4-FFF2-40B4-BE49-F238E27FC236}">
                <a16:creationId xmlns:a16="http://schemas.microsoft.com/office/drawing/2014/main" id="{179CECD0-2166-4B08-959D-7B0B0360D36F}"/>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A Is Reference; B versus C Is the Experiment</a:t>
            </a:r>
            <a:endParaRPr sz="2100"/>
          </a:p>
        </p:txBody>
      </p:sp>
      <p:sp>
        <p:nvSpPr>
          <p:cNvPr id="5" name="Text 3">
            <a:extLst>
              <a:ext uri="{FF2B5EF4-FFF2-40B4-BE49-F238E27FC236}">
                <a16:creationId xmlns:a16="http://schemas.microsoft.com/office/drawing/2014/main" id="{A6CF5A49-AF1A-4581-8402-0F52FBFF43F4}"/>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Only the paired branches isolate the added loss</a:t>
            </a:r>
            <a:endParaRPr sz="1150"/>
          </a:p>
        </p:txBody>
      </p:sp>
      <p:sp>
        <p:nvSpPr>
          <p:cNvPr id="6" name="Shape 4">
            <a:extLst>
              <a:ext uri="{FF2B5EF4-FFF2-40B4-BE49-F238E27FC236}">
                <a16:creationId xmlns:a16="http://schemas.microsoft.com/office/drawing/2014/main" id="{BC9C9B7E-A265-4729-A100-EA080980B1C5}"/>
              </a:ext>
            </a:extLst>
          </p:cNvPr>
          <p:cNvSpPr>
            <a:spLocks noGrp="1"/>
          </p:cNvSpPr>
          <p:nvPr/>
        </p:nvSpPr>
        <p:spPr>
          <a:xfrm>
            <a:off x="365760" y="960120"/>
            <a:ext cx="3931920" cy="1508760"/>
          </a:xfrm>
          <a:prstGeom prst="roundRect">
            <a:avLst>
              <a:gd name="adj" fmla="val 3636"/>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B9D2AA30-56F9-448C-AFD5-1F95E3F1FFA1}"/>
              </a:ext>
            </a:extLst>
          </p:cNvPr>
          <p:cNvSpPr>
            <a:spLocks noGrp="1"/>
          </p:cNvSpPr>
          <p:nvPr/>
        </p:nvSpPr>
        <p:spPr>
          <a:xfrm>
            <a:off x="365760" y="960120"/>
            <a:ext cx="1737360" cy="1508760"/>
          </a:xfrm>
          <a:prstGeom prst="roundRect">
            <a:avLst>
              <a:gd name="adj" fmla="val 3636"/>
            </a:avLst>
          </a:prstGeom>
          <a:solidFill>
            <a:srgbClr val="C55A11"/>
          </a:solidFill>
        </p:spPr>
        <p:txBody>
          <a:bodyPr/>
          <a:lstStyle/>
          <a:p>
            <a:endParaRPr/>
          </a:p>
        </p:txBody>
      </p:sp>
      <p:sp>
        <p:nvSpPr>
          <p:cNvPr id="8" name="Text 6">
            <a:extLst>
              <a:ext uri="{FF2B5EF4-FFF2-40B4-BE49-F238E27FC236}">
                <a16:creationId xmlns:a16="http://schemas.microsoft.com/office/drawing/2014/main" id="{D5F6D85D-5B02-4185-94F1-0C9BD65FE2A5}"/>
              </a:ext>
            </a:extLst>
          </p:cNvPr>
          <p:cNvSpPr>
            <a:spLocks noGrp="1"/>
          </p:cNvSpPr>
          <p:nvPr/>
        </p:nvSpPr>
        <p:spPr>
          <a:xfrm>
            <a:off x="365760" y="960120"/>
            <a:ext cx="1737360" cy="1508760"/>
          </a:xfrm>
          <a:prstGeom prst="rect">
            <a:avLst/>
          </a:prstGeom>
          <a:noFill/>
        </p:spPr>
        <p:txBody>
          <a:bodyPr wrap="square" anchor="ctr"/>
          <a:lstStyle/>
          <a:p>
            <a:pPr marL="0" indent="0" algn="ctr">
              <a:buNone/>
            </a:pPr>
            <a:r>
              <a:rPr sz="1150" b="1">
                <a:solidFill>
                  <a:srgbClr val="FFFFFF"/>
                </a:solidFill>
                <a:latin typeface="Arial"/>
                <a:ea typeface="Arial"/>
                <a:cs typeface="Arial"/>
              </a:rPr>
              <a:t>Three Roles</a:t>
            </a:r>
            <a:endParaRPr sz="1150"/>
          </a:p>
        </p:txBody>
      </p:sp>
      <p:sp>
        <p:nvSpPr>
          <p:cNvPr id="9" name="Text 7">
            <a:extLst>
              <a:ext uri="{FF2B5EF4-FFF2-40B4-BE49-F238E27FC236}">
                <a16:creationId xmlns:a16="http://schemas.microsoft.com/office/drawing/2014/main" id="{2A7F4981-980E-4F27-827B-164B6BD09FE3}"/>
              </a:ext>
            </a:extLst>
          </p:cNvPr>
          <p:cNvSpPr>
            <a:spLocks noGrp="1"/>
          </p:cNvSpPr>
          <p:nvPr/>
        </p:nvSpPr>
        <p:spPr>
          <a:xfrm>
            <a:off x="2240280" y="1024128"/>
            <a:ext cx="2011680" cy="1371600"/>
          </a:xfrm>
          <a:prstGeom prst="rect">
            <a:avLst/>
          </a:prstGeom>
          <a:noFill/>
        </p:spPr>
        <p:txBody>
          <a:bodyPr wrap="square" anchor="ctr"/>
          <a:lstStyle/>
          <a:p>
            <a:pPr marL="0" indent="0">
              <a:lnSpc>
                <a:spcPts val="1100"/>
              </a:lnSpc>
              <a:buNone/>
            </a:pPr>
            <a:r>
              <a:rPr sz="1050" b="1">
                <a:solidFill>
                  <a:srgbClr val="1F2937"/>
                </a:solidFill>
                <a:latin typeface="Arial"/>
                <a:ea typeface="Arial"/>
                <a:cs typeface="Arial"/>
              </a:rPr>
              <a:t>A · Reference only
Untouched released generator
B · Baseline control
Equal-budget fine-tuning, λpart = 0
C · Part-aware variant
Same start and budget, λpart = 0.05</a:t>
            </a:r>
            <a:endParaRPr sz="1050"/>
          </a:p>
        </p:txBody>
      </p:sp>
      <p:sp>
        <p:nvSpPr>
          <p:cNvPr id="10" name="Shape 8">
            <a:extLst>
              <a:ext uri="{FF2B5EF4-FFF2-40B4-BE49-F238E27FC236}">
                <a16:creationId xmlns:a16="http://schemas.microsoft.com/office/drawing/2014/main" id="{2F2A0D9B-2481-40F7-8E4D-32FA1D3F5C56}"/>
              </a:ext>
            </a:extLst>
          </p:cNvPr>
          <p:cNvSpPr>
            <a:spLocks noGrp="1"/>
          </p:cNvSpPr>
          <p:nvPr/>
        </p:nvSpPr>
        <p:spPr>
          <a:xfrm>
            <a:off x="4617720" y="960120"/>
            <a:ext cx="4160520" cy="2331720"/>
          </a:xfrm>
          <a:prstGeom prst="roundRect">
            <a:avLst>
              <a:gd name="adj" fmla="val 2353"/>
            </a:avLst>
          </a:prstGeom>
          <a:solidFill>
            <a:srgbClr val="FFFFFF"/>
          </a:solidFill>
          <a:ln w="12700">
            <a:solidFill>
              <a:srgbClr val="E8EEF7"/>
            </a:solidFill>
            <a:prstDash val="solid"/>
          </a:ln>
        </p:spPr>
        <p:txBody>
          <a:bodyPr/>
          <a:lstStyle/>
          <a:p>
            <a:endParaRPr/>
          </a:p>
        </p:txBody>
      </p:sp>
      <p:sp>
        <p:nvSpPr>
          <p:cNvPr id="12" name="Shape 9">
            <a:extLst>
              <a:ext uri="{FF2B5EF4-FFF2-40B4-BE49-F238E27FC236}">
                <a16:creationId xmlns:a16="http://schemas.microsoft.com/office/drawing/2014/main" id="{E71F0BD6-95FD-47E4-A7D6-A4F8B8BDC67B}"/>
              </a:ext>
            </a:extLst>
          </p:cNvPr>
          <p:cNvSpPr>
            <a:spLocks noGrp="1"/>
          </p:cNvSpPr>
          <p:nvPr/>
        </p:nvSpPr>
        <p:spPr>
          <a:xfrm>
            <a:off x="365760" y="2606040"/>
            <a:ext cx="3931920" cy="1691640"/>
          </a:xfrm>
          <a:prstGeom prst="roundRect">
            <a:avLst>
              <a:gd name="adj" fmla="val 3243"/>
            </a:avLst>
          </a:prstGeom>
          <a:solidFill>
            <a:srgbClr val="E8EEF7"/>
          </a:solidFill>
          <a:ln w="12700">
            <a:solidFill>
              <a:srgbClr val="1F3864"/>
            </a:solidFill>
            <a:prstDash val="solid"/>
          </a:ln>
        </p:spPr>
        <p:txBody>
          <a:bodyPr/>
          <a:lstStyle/>
          <a:p>
            <a:endParaRPr/>
          </a:p>
        </p:txBody>
      </p:sp>
      <p:sp>
        <p:nvSpPr>
          <p:cNvPr id="13" name="Text 10">
            <a:extLst>
              <a:ext uri="{FF2B5EF4-FFF2-40B4-BE49-F238E27FC236}">
                <a16:creationId xmlns:a16="http://schemas.microsoft.com/office/drawing/2014/main" id="{6A7B28F2-968F-408C-8F74-9032CA47A4B8}"/>
              </a:ext>
            </a:extLst>
          </p:cNvPr>
          <p:cNvSpPr>
            <a:spLocks noGrp="1"/>
          </p:cNvSpPr>
          <p:nvPr/>
        </p:nvSpPr>
        <p:spPr>
          <a:xfrm>
            <a:off x="502920" y="2697480"/>
            <a:ext cx="3703320" cy="292608"/>
          </a:xfrm>
          <a:prstGeom prst="rect">
            <a:avLst/>
          </a:prstGeom>
          <a:noFill/>
        </p:spPr>
        <p:txBody>
          <a:bodyPr wrap="square" anchor="ctr"/>
          <a:lstStyle/>
          <a:p>
            <a:pPr marL="0" indent="0">
              <a:buNone/>
            </a:pPr>
            <a:r>
              <a:rPr sz="1200" b="1">
                <a:solidFill>
                  <a:srgbClr val="1F3864"/>
                </a:solidFill>
                <a:latin typeface="Arial"/>
                <a:ea typeface="Arial"/>
                <a:cs typeface="Arial"/>
              </a:rPr>
              <a:t>Valid Contrast</a:t>
            </a:r>
            <a:endParaRPr sz="1200"/>
          </a:p>
        </p:txBody>
      </p:sp>
      <p:sp>
        <p:nvSpPr>
          <p:cNvPr id="14" name="Text 11">
            <a:extLst>
              <a:ext uri="{FF2B5EF4-FFF2-40B4-BE49-F238E27FC236}">
                <a16:creationId xmlns:a16="http://schemas.microsoft.com/office/drawing/2014/main" id="{735485C1-8A36-4D2F-A3F4-EF52DE506B71}"/>
              </a:ext>
            </a:extLst>
          </p:cNvPr>
          <p:cNvSpPr>
            <a:spLocks noGrp="1"/>
          </p:cNvSpPr>
          <p:nvPr/>
        </p:nvSpPr>
        <p:spPr>
          <a:xfrm>
            <a:off x="502920" y="3035808"/>
            <a:ext cx="3703320" cy="1188720"/>
          </a:xfrm>
          <a:prstGeom prst="rect">
            <a:avLst/>
          </a:prstGeom>
          <a:noFill/>
        </p:spPr>
        <p:txBody>
          <a:bodyPr wrap="square" anchor="t"/>
          <a:lstStyle/>
          <a:p>
            <a:pPr marL="0" indent="0">
              <a:lnSpc>
                <a:spcPts val="1200"/>
              </a:lnSpc>
              <a:buNone/>
            </a:pPr>
            <a:r>
              <a:rPr sz="1100" b="1">
                <a:solidFill>
                  <a:srgbClr val="1F3864"/>
                </a:solidFill>
                <a:latin typeface="Arial"/>
                <a:ea typeface="Arial"/>
                <a:cs typeface="Arial"/>
              </a:rPr>
              <a:t>A gives context. B absorbs continued training, the fresh discriminator, and optimizer updates. Only C − B estimates the effect of Lpart.</a:t>
            </a:r>
            <a:endParaRPr sz="1100"/>
          </a:p>
        </p:txBody>
      </p:sp>
      <p:sp>
        <p:nvSpPr>
          <p:cNvPr id="15" name="Shape 12">
            <a:extLst>
              <a:ext uri="{FF2B5EF4-FFF2-40B4-BE49-F238E27FC236}">
                <a16:creationId xmlns:a16="http://schemas.microsoft.com/office/drawing/2014/main" id="{CC991CC7-EF31-4C13-9803-71A1294255E5}"/>
              </a:ext>
            </a:extLst>
          </p:cNvPr>
          <p:cNvSpPr>
            <a:spLocks noGrp="1"/>
          </p:cNvSpPr>
          <p:nvPr/>
        </p:nvSpPr>
        <p:spPr>
          <a:xfrm>
            <a:off x="4617720" y="3474720"/>
            <a:ext cx="4160520" cy="731520"/>
          </a:xfrm>
          <a:prstGeom prst="roundRect">
            <a:avLst>
              <a:gd name="adj" fmla="val 7500"/>
            </a:avLst>
          </a:prstGeom>
          <a:solidFill>
            <a:srgbClr val="E8EEF7"/>
          </a:solidFill>
          <a:ln w="12700">
            <a:solidFill>
              <a:srgbClr val="0E7C7B"/>
            </a:solidFill>
            <a:prstDash val="solid"/>
          </a:ln>
        </p:spPr>
        <p:txBody>
          <a:bodyPr/>
          <a:lstStyle/>
          <a:p>
            <a:endParaRPr/>
          </a:p>
        </p:txBody>
      </p:sp>
      <p:sp>
        <p:nvSpPr>
          <p:cNvPr id="16" name="Text 13">
            <a:extLst>
              <a:ext uri="{FF2B5EF4-FFF2-40B4-BE49-F238E27FC236}">
                <a16:creationId xmlns:a16="http://schemas.microsoft.com/office/drawing/2014/main" id="{410DC54F-C4DF-4C35-92D2-B846F7A6FE2A}"/>
              </a:ext>
            </a:extLst>
          </p:cNvPr>
          <p:cNvSpPr>
            <a:spLocks noGrp="1"/>
          </p:cNvSpPr>
          <p:nvPr/>
        </p:nvSpPr>
        <p:spPr>
          <a:xfrm>
            <a:off x="4736592" y="3547872"/>
            <a:ext cx="3931920" cy="585216"/>
          </a:xfrm>
          <a:prstGeom prst="rect">
            <a:avLst/>
          </a:prstGeom>
          <a:noFill/>
        </p:spPr>
        <p:txBody>
          <a:bodyPr wrap="square" anchor="ctr"/>
          <a:lstStyle/>
          <a:p>
            <a:pPr marL="0" indent="0">
              <a:lnSpc>
                <a:spcPts val="1100"/>
              </a:lnSpc>
              <a:buNone/>
            </a:pPr>
            <a:r>
              <a:rPr sz="1000" i="1">
                <a:solidFill>
                  <a:srgbClr val="1F2937"/>
                </a:solidFill>
                <a:latin typeface="Arial"/>
                <a:ea typeface="Arial"/>
                <a:cs typeface="Arial"/>
              </a:rPr>
              <a:t>Shared official G and a 200-step D warm-up feed both branches. The comparison arrow is B ↔ C—not A ↔ C.</a:t>
            </a:r>
            <a:endParaRPr sz="1000"/>
          </a:p>
        </p:txBody>
      </p:sp>
      <p:sp>
        <p:nvSpPr>
          <p:cNvPr id="17" name="Text 14">
            <a:extLst>
              <a:ext uri="{FF2B5EF4-FFF2-40B4-BE49-F238E27FC236}">
                <a16:creationId xmlns:a16="http://schemas.microsoft.com/office/drawing/2014/main" id="{02EC6E58-54C7-49E1-AF72-466AB39823B1}"/>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7 / 15</a:t>
            </a:r>
            <a:endParaRPr sz="900"/>
          </a:p>
        </p:txBody>
      </p:sp>
      <p:sp>
        <p:nvSpPr>
          <p:cNvPr id="18" name="Shape 15">
            <a:extLst>
              <a:ext uri="{FF2B5EF4-FFF2-40B4-BE49-F238E27FC236}">
                <a16:creationId xmlns:a16="http://schemas.microsoft.com/office/drawing/2014/main" id="{3349BC4C-F591-486D-96E7-3BD830A105F3}"/>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19" name="Shape 16">
            <a:extLst>
              <a:ext uri="{FF2B5EF4-FFF2-40B4-BE49-F238E27FC236}">
                <a16:creationId xmlns:a16="http://schemas.microsoft.com/office/drawing/2014/main" id="{C18D53C2-8212-4B2C-83B1-C7AF1853E8AE}"/>
              </a:ext>
            </a:extLst>
          </p:cNvPr>
          <p:cNvSpPr>
            <a:spLocks noGrp="1"/>
          </p:cNvSpPr>
          <p:nvPr/>
        </p:nvSpPr>
        <p:spPr>
          <a:xfrm>
            <a:off x="7955280" y="4864608"/>
            <a:ext cx="696351" cy="54864"/>
          </a:xfrm>
          <a:prstGeom prst="rect">
            <a:avLst/>
          </a:prstGeom>
          <a:solidFill>
            <a:srgbClr val="1F3864"/>
          </a:solidFill>
        </p:spPr>
        <p:txBody>
          <a:bodyPr/>
          <a:lstStyle/>
          <a:p>
            <a:endParaRPr/>
          </a:p>
        </p:txBody>
      </p:sp>
      <p:sp>
        <p:nvSpPr>
          <p:cNvPr id="20" name="start-to-warmup">
            <a:extLst>
              <a:ext uri="{FF2B5EF4-FFF2-40B4-BE49-F238E27FC236}">
                <a16:creationId xmlns:a16="http://schemas.microsoft.com/office/drawing/2014/main" id="{6A874978-36A1-438E-BBAC-0BFF9E9D6D3C}"/>
              </a:ext>
            </a:extLst>
          </p:cNvPr>
          <p:cNvSpPr>
            <a:spLocks noGrp="1"/>
          </p:cNvSpPr>
          <p:nvPr/>
        </p:nvSpPr>
        <p:spPr>
          <a:xfrm>
            <a:off x="5905500" y="1409700"/>
            <a:ext cx="266700" cy="209550"/>
          </a:xfrm>
          <a:prstGeom prst="rightArrow">
            <a:avLst/>
          </a:prstGeom>
          <a:solidFill>
            <a:srgbClr val="0F7C83"/>
          </a:solidFill>
          <a:ln w="0">
            <a:solidFill>
              <a:srgbClr val="0F7C83"/>
            </a:solidFill>
            <a:prstDash val="solid"/>
          </a:ln>
        </p:spPr>
        <p:txBody>
          <a:bodyPr/>
          <a:lstStyle/>
          <a:p>
            <a:endParaRPr lang="zh-CN" altLang="en-US"/>
          </a:p>
        </p:txBody>
      </p:sp>
      <p:sp>
        <p:nvSpPr>
          <p:cNvPr id="21" name="warmup-to-B">
            <a:extLst>
              <a:ext uri="{FF2B5EF4-FFF2-40B4-BE49-F238E27FC236}">
                <a16:creationId xmlns:a16="http://schemas.microsoft.com/office/drawing/2014/main" id="{4F4A31C9-3C54-47AA-8363-2AD88FCCDD55}"/>
              </a:ext>
            </a:extLst>
          </p:cNvPr>
          <p:cNvSpPr>
            <a:spLocks noGrp="1"/>
          </p:cNvSpPr>
          <p:nvPr/>
        </p:nvSpPr>
        <p:spPr>
          <a:xfrm>
            <a:off x="7200900" y="1152525"/>
            <a:ext cx="247650" cy="171450"/>
          </a:xfrm>
          <a:prstGeom prst="rightArrow">
            <a:avLst/>
          </a:prstGeom>
          <a:solidFill>
            <a:srgbClr val="17365D"/>
          </a:solidFill>
          <a:ln w="0">
            <a:solidFill>
              <a:srgbClr val="17365D"/>
            </a:solidFill>
            <a:prstDash val="solid"/>
          </a:ln>
        </p:spPr>
        <p:txBody>
          <a:bodyPr/>
          <a:lstStyle/>
          <a:p>
            <a:endParaRPr lang="zh-CN" altLang="en-US"/>
          </a:p>
        </p:txBody>
      </p:sp>
      <p:sp>
        <p:nvSpPr>
          <p:cNvPr id="22" name="warmup-to-C">
            <a:extLst>
              <a:ext uri="{FF2B5EF4-FFF2-40B4-BE49-F238E27FC236}">
                <a16:creationId xmlns:a16="http://schemas.microsoft.com/office/drawing/2014/main" id="{07547E76-3B0B-4F48-A75A-9D465D7D2F33}"/>
              </a:ext>
            </a:extLst>
          </p:cNvPr>
          <p:cNvSpPr>
            <a:spLocks noGrp="1"/>
          </p:cNvSpPr>
          <p:nvPr/>
        </p:nvSpPr>
        <p:spPr>
          <a:xfrm>
            <a:off x="7200900" y="1857375"/>
            <a:ext cx="247650" cy="171450"/>
          </a:xfrm>
          <a:prstGeom prst="rightArrow">
            <a:avLst/>
          </a:prstGeom>
          <a:solidFill>
            <a:srgbClr val="C95A00"/>
          </a:solidFill>
          <a:ln w="0">
            <a:solidFill>
              <a:srgbClr val="C95A00"/>
            </a:solidFill>
            <a:prstDash val="solid"/>
          </a:ln>
        </p:spPr>
        <p:txBody>
          <a:bodyPr/>
          <a:lstStyle/>
          <a:p>
            <a:endParaRPr lang="zh-CN" altLang="en-US"/>
          </a:p>
        </p:txBody>
      </p:sp>
      <p:sp>
        <p:nvSpPr>
          <p:cNvPr id="23" name="reference-node">
            <a:extLst>
              <a:ext uri="{FF2B5EF4-FFF2-40B4-BE49-F238E27FC236}">
                <a16:creationId xmlns:a16="http://schemas.microsoft.com/office/drawing/2014/main" id="{06ACC0EA-EA96-4B19-BDAB-35CDE23EBB3E}"/>
              </a:ext>
            </a:extLst>
          </p:cNvPr>
          <p:cNvSpPr>
            <a:spLocks noGrp="1"/>
          </p:cNvSpPr>
          <p:nvPr/>
        </p:nvSpPr>
        <p:spPr>
          <a:xfrm>
            <a:off x="4810125" y="1200150"/>
            <a:ext cx="1066800" cy="647700"/>
          </a:xfrm>
          <a:prstGeom prst="roundRect">
            <a:avLst>
              <a:gd name="adj" fmla="val 13235"/>
            </a:avLst>
          </a:prstGeom>
          <a:solidFill>
            <a:srgbClr val="EAF1F8"/>
          </a:solidFill>
          <a:ln w="12383">
            <a:solidFill>
              <a:srgbClr val="17365D"/>
            </a:solidFill>
            <a:prstDash val="solid"/>
          </a:ln>
        </p:spPr>
        <p:txBody>
          <a:bodyPr lIns="47625" tIns="47625" rIns="47625" bIns="47625" anchor="ctr">
            <a:normAutofit/>
          </a:bodyPr>
          <a:lstStyle/>
          <a:p>
            <a:pPr algn="ctr">
              <a:defRPr sz="1050" b="1">
                <a:solidFill>
                  <a:srgbClr val="17365D"/>
                </a:solidFill>
                <a:latin typeface="Arial"/>
                <a:ea typeface="Arial"/>
                <a:cs typeface="Arial"/>
              </a:defRPr>
            </a:pPr>
            <a:r>
              <a:rPr sz="1050" b="1">
                <a:solidFill>
                  <a:srgbClr val="17365D"/>
                </a:solidFill>
                <a:latin typeface="Arial"/>
                <a:ea typeface="Arial"/>
                <a:cs typeface="Arial"/>
              </a:rPr>
              <a:t>A · Released G</a:t>
            </a:r>
          </a:p>
          <a:p>
            <a:pPr algn="ctr">
              <a:defRPr sz="1050" b="1">
                <a:solidFill>
                  <a:srgbClr val="17365D"/>
                </a:solidFill>
                <a:latin typeface="Arial"/>
                <a:ea typeface="Arial"/>
                <a:cs typeface="Arial"/>
              </a:defRPr>
            </a:pPr>
            <a:r>
              <a:rPr sz="1050" b="1">
                <a:solidFill>
                  <a:srgbClr val="17365D"/>
                </a:solidFill>
                <a:latin typeface="Arial"/>
                <a:ea typeface="Arial"/>
                <a:cs typeface="Arial"/>
              </a:rPr>
              <a:t>reference only</a:t>
            </a:r>
          </a:p>
        </p:txBody>
      </p:sp>
      <p:sp>
        <p:nvSpPr>
          <p:cNvPr id="24" name="warmup-node">
            <a:extLst>
              <a:ext uri="{FF2B5EF4-FFF2-40B4-BE49-F238E27FC236}">
                <a16:creationId xmlns:a16="http://schemas.microsoft.com/office/drawing/2014/main" id="{802C3EC4-9667-40B3-9A07-DF19F4FD7B8A}"/>
              </a:ext>
            </a:extLst>
          </p:cNvPr>
          <p:cNvSpPr>
            <a:spLocks noGrp="1"/>
          </p:cNvSpPr>
          <p:nvPr/>
        </p:nvSpPr>
        <p:spPr>
          <a:xfrm>
            <a:off x="6191250" y="1200150"/>
            <a:ext cx="990600" cy="647700"/>
          </a:xfrm>
          <a:prstGeom prst="roundRect">
            <a:avLst>
              <a:gd name="adj" fmla="val 13235"/>
            </a:avLst>
          </a:prstGeom>
          <a:solidFill>
            <a:srgbClr val="E6F3F3"/>
          </a:solidFill>
          <a:ln w="12383">
            <a:solidFill>
              <a:srgbClr val="0F7C83"/>
            </a:solidFill>
            <a:prstDash val="solid"/>
          </a:ln>
        </p:spPr>
        <p:txBody>
          <a:bodyPr lIns="47625" tIns="47625" rIns="47625" bIns="47625" anchor="ctr">
            <a:normAutofit/>
          </a:bodyPr>
          <a:lstStyle/>
          <a:p>
            <a:pPr algn="ctr">
              <a:defRPr sz="1050" b="1">
                <a:solidFill>
                  <a:srgbClr val="0F7C83"/>
                </a:solidFill>
                <a:latin typeface="Arial"/>
                <a:ea typeface="Arial"/>
                <a:cs typeface="Arial"/>
              </a:defRPr>
            </a:pPr>
            <a:r>
              <a:rPr sz="1050" b="1">
                <a:solidFill>
                  <a:srgbClr val="0F7C83"/>
                </a:solidFill>
                <a:latin typeface="Arial"/>
                <a:ea typeface="Arial"/>
                <a:cs typeface="Arial"/>
              </a:rPr>
              <a:t>Shared</a:t>
            </a:r>
          </a:p>
          <a:p>
            <a:pPr algn="ctr">
              <a:defRPr sz="1050" b="1">
                <a:solidFill>
                  <a:srgbClr val="0F7C83"/>
                </a:solidFill>
                <a:latin typeface="Arial"/>
                <a:ea typeface="Arial"/>
                <a:cs typeface="Arial"/>
              </a:defRPr>
            </a:pPr>
            <a:r>
              <a:rPr sz="1050" b="1">
                <a:solidFill>
                  <a:srgbClr val="0F7C83"/>
                </a:solidFill>
                <a:latin typeface="Arial"/>
                <a:ea typeface="Arial"/>
                <a:cs typeface="Arial"/>
              </a:rPr>
              <a:t>D warm-up</a:t>
            </a:r>
          </a:p>
        </p:txBody>
      </p:sp>
      <p:sp>
        <p:nvSpPr>
          <p:cNvPr id="25" name="baseline-node">
            <a:extLst>
              <a:ext uri="{FF2B5EF4-FFF2-40B4-BE49-F238E27FC236}">
                <a16:creationId xmlns:a16="http://schemas.microsoft.com/office/drawing/2014/main" id="{38350AB2-D5E9-404C-80B5-7D9071D50F4F}"/>
              </a:ext>
            </a:extLst>
          </p:cNvPr>
          <p:cNvSpPr>
            <a:spLocks noGrp="1"/>
          </p:cNvSpPr>
          <p:nvPr/>
        </p:nvSpPr>
        <p:spPr>
          <a:xfrm>
            <a:off x="7477125" y="1000125"/>
            <a:ext cx="1143000" cy="533400"/>
          </a:xfrm>
          <a:prstGeom prst="roundRect">
            <a:avLst>
              <a:gd name="adj" fmla="val 16071"/>
            </a:avLst>
          </a:prstGeom>
          <a:solidFill>
            <a:srgbClr val="EAF1F8"/>
          </a:solidFill>
          <a:ln w="12383">
            <a:solidFill>
              <a:srgbClr val="17365D"/>
            </a:solidFill>
            <a:prstDash val="solid"/>
          </a:ln>
        </p:spPr>
        <p:txBody>
          <a:bodyPr lIns="47625" tIns="47625" rIns="47625" bIns="47625" anchor="ctr">
            <a:normAutofit/>
          </a:bodyPr>
          <a:lstStyle/>
          <a:p>
            <a:pPr algn="ctr">
              <a:defRPr sz="1050" b="1">
                <a:solidFill>
                  <a:srgbClr val="17365D"/>
                </a:solidFill>
                <a:latin typeface="Arial"/>
                <a:ea typeface="Arial"/>
                <a:cs typeface="Arial"/>
              </a:defRPr>
            </a:pPr>
            <a:r>
              <a:rPr sz="1050" b="1">
                <a:solidFill>
                  <a:srgbClr val="17365D"/>
                </a:solidFill>
                <a:latin typeface="Arial"/>
                <a:ea typeface="Arial"/>
                <a:cs typeface="Arial"/>
              </a:rPr>
              <a:t>B · Control</a:t>
            </a:r>
          </a:p>
          <a:p>
            <a:pPr algn="ctr">
              <a:defRPr sz="1050" b="1">
                <a:solidFill>
                  <a:srgbClr val="17365D"/>
                </a:solidFill>
                <a:latin typeface="Arial"/>
                <a:ea typeface="Arial"/>
                <a:cs typeface="Arial"/>
              </a:defRPr>
            </a:pPr>
            <a:r>
              <a:rPr sz="1050" b="1">
                <a:solidFill>
                  <a:srgbClr val="17365D"/>
                </a:solidFill>
                <a:latin typeface="Arial"/>
                <a:ea typeface="Arial"/>
                <a:cs typeface="Arial"/>
              </a:rPr>
              <a:t>λpart = 0</a:t>
            </a:r>
          </a:p>
        </p:txBody>
      </p:sp>
      <p:sp>
        <p:nvSpPr>
          <p:cNvPr id="26" name="part-node">
            <a:extLst>
              <a:ext uri="{FF2B5EF4-FFF2-40B4-BE49-F238E27FC236}">
                <a16:creationId xmlns:a16="http://schemas.microsoft.com/office/drawing/2014/main" id="{6BE25A1E-19AB-425B-9349-D6F6FB01BD58}"/>
              </a:ext>
            </a:extLst>
          </p:cNvPr>
          <p:cNvSpPr>
            <a:spLocks noGrp="1"/>
          </p:cNvSpPr>
          <p:nvPr/>
        </p:nvSpPr>
        <p:spPr>
          <a:xfrm>
            <a:off x="7477125" y="1695450"/>
            <a:ext cx="1143000" cy="533400"/>
          </a:xfrm>
          <a:prstGeom prst="roundRect">
            <a:avLst>
              <a:gd name="adj" fmla="val 16071"/>
            </a:avLst>
          </a:prstGeom>
          <a:solidFill>
            <a:srgbClr val="FCE8D8"/>
          </a:solidFill>
          <a:ln w="12383">
            <a:solidFill>
              <a:srgbClr val="C95A00"/>
            </a:solidFill>
            <a:prstDash val="solid"/>
          </a:ln>
        </p:spPr>
        <p:txBody>
          <a:bodyPr lIns="47625" tIns="47625" rIns="47625" bIns="47625" anchor="ctr">
            <a:normAutofit/>
          </a:bodyPr>
          <a:lstStyle/>
          <a:p>
            <a:pPr algn="ctr">
              <a:defRPr sz="1050" b="1">
                <a:solidFill>
                  <a:srgbClr val="C95A00"/>
                </a:solidFill>
                <a:latin typeface="Arial"/>
                <a:ea typeface="Arial"/>
                <a:cs typeface="Arial"/>
              </a:defRPr>
            </a:pPr>
            <a:r>
              <a:rPr sz="1050" b="1">
                <a:solidFill>
                  <a:srgbClr val="C95A00"/>
                </a:solidFill>
                <a:latin typeface="Arial"/>
                <a:ea typeface="Arial"/>
                <a:cs typeface="Arial"/>
              </a:rPr>
              <a:t>C · Part-aware</a:t>
            </a:r>
          </a:p>
          <a:p>
            <a:pPr algn="ctr">
              <a:defRPr sz="1050" b="1">
                <a:solidFill>
                  <a:srgbClr val="C95A00"/>
                </a:solidFill>
                <a:latin typeface="Arial"/>
                <a:ea typeface="Arial"/>
                <a:cs typeface="Arial"/>
              </a:defRPr>
            </a:pPr>
            <a:r>
              <a:rPr sz="1050" b="1">
                <a:solidFill>
                  <a:srgbClr val="C95A00"/>
                </a:solidFill>
                <a:latin typeface="Arial"/>
                <a:ea typeface="Arial"/>
                <a:cs typeface="Arial"/>
              </a:rPr>
              <a:t>λpart = 0.05</a:t>
            </a:r>
          </a:p>
        </p:txBody>
      </p:sp>
      <p:sp>
        <p:nvSpPr>
          <p:cNvPr id="27" name="valid-comparison">
            <a:extLst>
              <a:ext uri="{FF2B5EF4-FFF2-40B4-BE49-F238E27FC236}">
                <a16:creationId xmlns:a16="http://schemas.microsoft.com/office/drawing/2014/main" id="{86F32900-BBEF-446F-93F0-1B86511B8627}"/>
              </a:ext>
            </a:extLst>
          </p:cNvPr>
          <p:cNvSpPr>
            <a:spLocks noGrp="1"/>
          </p:cNvSpPr>
          <p:nvPr/>
        </p:nvSpPr>
        <p:spPr>
          <a:xfrm>
            <a:off x="5667375" y="2343150"/>
            <a:ext cx="2143125" cy="266700"/>
          </a:xfrm>
          <a:prstGeom prst="rect">
            <a:avLst/>
          </a:prstGeom>
          <a:noFill/>
          <a:ln w="0">
            <a:noFill/>
            <a:prstDash val="solid"/>
          </a:ln>
        </p:spPr>
        <p:txBody>
          <a:bodyPr lIns="19050" tIns="19050" rIns="19050" bIns="19050" anchor="ctr">
            <a:normAutofit/>
          </a:bodyPr>
          <a:lstStyle/>
          <a:p>
            <a:pPr algn="ctr">
              <a:defRPr sz="1125" b="1">
                <a:solidFill>
                  <a:srgbClr val="C95A00"/>
                </a:solidFill>
                <a:latin typeface="Arial"/>
                <a:ea typeface="Arial"/>
                <a:cs typeface="Arial"/>
              </a:defRPr>
            </a:pPr>
            <a:r>
              <a:rPr sz="1125" b="1">
                <a:solidFill>
                  <a:srgbClr val="C95A00"/>
                </a:solidFill>
                <a:latin typeface="Arial"/>
                <a:ea typeface="Arial"/>
                <a:cs typeface="Arial"/>
              </a:rPr>
              <a:t>Only B ↔ C is causal</a:t>
            </a:r>
          </a:p>
        </p:txBody>
      </p:sp>
    </p:spTree>
    <p:extLst>
      <p:ext uri="{BB962C8B-B14F-4D97-AF65-F5344CB8AC3E}">
        <p14:creationId xmlns:p14="http://schemas.microsoft.com/office/powerpoint/2010/main" val="1142425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417A1D-6FAB-4A41-A109-02A1F447908F}"/>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880C3012-33CB-48EF-A0E0-F7A92D79FCE4}"/>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07</a:t>
            </a:r>
            <a:endParaRPr sz="1700"/>
          </a:p>
        </p:txBody>
      </p:sp>
      <p:sp>
        <p:nvSpPr>
          <p:cNvPr id="4" name="Text 2">
            <a:extLst>
              <a:ext uri="{FF2B5EF4-FFF2-40B4-BE49-F238E27FC236}">
                <a16:creationId xmlns:a16="http://schemas.microsoft.com/office/drawing/2014/main" id="{46CECB0B-C8E2-45AA-A05C-05259BA80FDD}"/>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B and C Received the Same Training Opportunity</a:t>
            </a:r>
            <a:endParaRPr sz="2100"/>
          </a:p>
        </p:txBody>
      </p:sp>
      <p:sp>
        <p:nvSpPr>
          <p:cNvPr id="5" name="Text 3">
            <a:extLst>
              <a:ext uri="{FF2B5EF4-FFF2-40B4-BE49-F238E27FC236}">
                <a16:creationId xmlns:a16="http://schemas.microsoft.com/office/drawing/2014/main" id="{10427EF0-5930-49A0-AB62-0709A314E321}"/>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Every paired update differed only by the part-aware loss</a:t>
            </a:r>
            <a:endParaRPr sz="1150"/>
          </a:p>
        </p:txBody>
      </p:sp>
      <p:sp>
        <p:nvSpPr>
          <p:cNvPr id="6" name="Shape 4">
            <a:extLst>
              <a:ext uri="{FF2B5EF4-FFF2-40B4-BE49-F238E27FC236}">
                <a16:creationId xmlns:a16="http://schemas.microsoft.com/office/drawing/2014/main" id="{A838829E-6CF1-41D9-A239-D6C9B25B6353}"/>
              </a:ext>
            </a:extLst>
          </p:cNvPr>
          <p:cNvSpPr>
            <a:spLocks noGrp="1"/>
          </p:cNvSpPr>
          <p:nvPr/>
        </p:nvSpPr>
        <p:spPr>
          <a:xfrm>
            <a:off x="365760" y="1051560"/>
            <a:ext cx="3108960" cy="210312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B40910E1-246B-41C5-9719-B69C3ADB3878}"/>
              </a:ext>
            </a:extLst>
          </p:cNvPr>
          <p:cNvSpPr>
            <a:spLocks noGrp="1"/>
          </p:cNvSpPr>
          <p:nvPr/>
        </p:nvSpPr>
        <p:spPr>
          <a:xfrm>
            <a:off x="365760" y="1051560"/>
            <a:ext cx="3108960" cy="384048"/>
          </a:xfrm>
          <a:prstGeom prst="roundRect">
            <a:avLst>
              <a:gd name="adj" fmla="val 14286"/>
            </a:avLst>
          </a:prstGeom>
          <a:solidFill>
            <a:srgbClr val="0E7C7B"/>
          </a:solidFill>
        </p:spPr>
        <p:txBody>
          <a:bodyPr/>
          <a:lstStyle/>
          <a:p>
            <a:endParaRPr/>
          </a:p>
        </p:txBody>
      </p:sp>
      <p:sp>
        <p:nvSpPr>
          <p:cNvPr id="8" name="Text 6">
            <a:extLst>
              <a:ext uri="{FF2B5EF4-FFF2-40B4-BE49-F238E27FC236}">
                <a16:creationId xmlns:a16="http://schemas.microsoft.com/office/drawing/2014/main" id="{D0B7FE7A-F3EE-4DA7-B774-E867623C9B82}"/>
              </a:ext>
            </a:extLst>
          </p:cNvPr>
          <p:cNvSpPr>
            <a:spLocks noGrp="1"/>
          </p:cNvSpPr>
          <p:nvPr/>
        </p:nvSpPr>
        <p:spPr>
          <a:xfrm>
            <a:off x="365760" y="1097280"/>
            <a:ext cx="310896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Shared Start</a:t>
            </a:r>
            <a:endParaRPr sz="1250"/>
          </a:p>
        </p:txBody>
      </p:sp>
      <p:sp>
        <p:nvSpPr>
          <p:cNvPr id="9" name="Text 7">
            <a:extLst>
              <a:ext uri="{FF2B5EF4-FFF2-40B4-BE49-F238E27FC236}">
                <a16:creationId xmlns:a16="http://schemas.microsoft.com/office/drawing/2014/main" id="{CC1F2DB2-8C77-4C53-9C1B-729E738B5232}"/>
              </a:ext>
            </a:extLst>
          </p:cNvPr>
          <p:cNvSpPr>
            <a:spLocks noGrp="1"/>
          </p:cNvSpPr>
          <p:nvPr/>
        </p:nvSpPr>
        <p:spPr>
          <a:xfrm>
            <a:off x="530352" y="1536192"/>
            <a:ext cx="2779776" cy="1508760"/>
          </a:xfrm>
          <a:prstGeom prst="rect">
            <a:avLst/>
          </a:prstGeom>
          <a:noFill/>
        </p:spPr>
        <p:txBody>
          <a:bodyPr wrap="square" anchor="t"/>
          <a:lstStyle/>
          <a:p>
            <a:pPr marL="0" indent="0">
              <a:lnSpc>
                <a:spcPts val="1200"/>
              </a:lnSpc>
              <a:buNone/>
            </a:pPr>
            <a:r>
              <a:rPr sz="1200" b="1">
                <a:solidFill>
                  <a:srgbClr val="1F3864"/>
                </a:solidFill>
                <a:latin typeface="Arial"/>
                <a:ea typeface="Arial"/>
                <a:cs typeface="Arial"/>
              </a:rPr>
              <a:t>Official generator
200-step D warm-up per seed
Same G, D, and optimizer state
Seeds 20260824–20260826</a:t>
            </a:r>
            <a:endParaRPr sz="1200"/>
          </a:p>
        </p:txBody>
      </p:sp>
      <p:sp>
        <p:nvSpPr>
          <p:cNvPr id="10" name="Shape 8">
            <a:extLst>
              <a:ext uri="{FF2B5EF4-FFF2-40B4-BE49-F238E27FC236}">
                <a16:creationId xmlns:a16="http://schemas.microsoft.com/office/drawing/2014/main" id="{9CB42AC3-6EBF-4C0F-8414-9DCF746DE06D}"/>
              </a:ext>
            </a:extLst>
          </p:cNvPr>
          <p:cNvSpPr>
            <a:spLocks noGrp="1"/>
          </p:cNvSpPr>
          <p:nvPr/>
        </p:nvSpPr>
        <p:spPr>
          <a:xfrm>
            <a:off x="3657600" y="1051560"/>
            <a:ext cx="5120640" cy="210312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AFB9FD1B-42FD-4ED5-A04C-4C738DE9FACA}"/>
              </a:ext>
            </a:extLst>
          </p:cNvPr>
          <p:cNvSpPr>
            <a:spLocks noGrp="1"/>
          </p:cNvSpPr>
          <p:nvPr/>
        </p:nvSpPr>
        <p:spPr>
          <a:xfrm>
            <a:off x="3657600" y="1051560"/>
            <a:ext cx="5120640" cy="384048"/>
          </a:xfrm>
          <a:prstGeom prst="roundRect">
            <a:avLst>
              <a:gd name="adj" fmla="val 14286"/>
            </a:avLst>
          </a:prstGeom>
          <a:solidFill>
            <a:srgbClr val="1F3864"/>
          </a:solidFill>
        </p:spPr>
        <p:txBody>
          <a:bodyPr/>
          <a:lstStyle/>
          <a:p>
            <a:endParaRPr/>
          </a:p>
        </p:txBody>
      </p:sp>
      <p:sp>
        <p:nvSpPr>
          <p:cNvPr id="12" name="Text 10">
            <a:extLst>
              <a:ext uri="{FF2B5EF4-FFF2-40B4-BE49-F238E27FC236}">
                <a16:creationId xmlns:a16="http://schemas.microsoft.com/office/drawing/2014/main" id="{83220C33-3268-4FF3-99E4-E96739FC104E}"/>
              </a:ext>
            </a:extLst>
          </p:cNvPr>
          <p:cNvSpPr>
            <a:spLocks noGrp="1"/>
          </p:cNvSpPr>
          <p:nvPr/>
        </p:nvSpPr>
        <p:spPr>
          <a:xfrm>
            <a:off x="3657600" y="1097280"/>
            <a:ext cx="512064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Locked Training</a:t>
            </a:r>
            <a:endParaRPr sz="1250"/>
          </a:p>
        </p:txBody>
      </p:sp>
      <p:sp>
        <p:nvSpPr>
          <p:cNvPr id="13" name="Text 11">
            <a:extLst>
              <a:ext uri="{FF2B5EF4-FFF2-40B4-BE49-F238E27FC236}">
                <a16:creationId xmlns:a16="http://schemas.microsoft.com/office/drawing/2014/main" id="{155F9E7F-F05A-45F4-95F8-DD238CD24D87}"/>
              </a:ext>
            </a:extLst>
          </p:cNvPr>
          <p:cNvSpPr>
            <a:spLocks noGrp="1"/>
          </p:cNvSpPr>
          <p:nvPr/>
        </p:nvSpPr>
        <p:spPr>
          <a:xfrm>
            <a:off x="3822192" y="1536192"/>
            <a:ext cx="4791456" cy="1508760"/>
          </a:xfrm>
          <a:prstGeom prst="rect">
            <a:avLst/>
          </a:prstGeom>
          <a:noFill/>
        </p:spPr>
        <p:txBody>
          <a:bodyPr wrap="square" anchor="t"/>
          <a:lstStyle/>
          <a:p>
            <a:pPr marL="0" indent="0">
              <a:lnSpc>
                <a:spcPts val="1300"/>
              </a:lnSpc>
              <a:buNone/>
            </a:pPr>
            <a:r>
              <a:rPr sz="1100" b="1">
                <a:solidFill>
                  <a:srgbClr val="C55A11"/>
                </a:solidFill>
                <a:latin typeface="Arial"/>
                <a:ea typeface="Arial"/>
                <a:cs typeface="Arial"/>
              </a:rPr>
              <a:t>Same batches, captions, crop/flip, z, and RNG
Same frozen DAMSM and EMA
1,200 updates · batch 10
G lr 2e−5 · D lr 2e−4</a:t>
            </a:r>
            <a:endParaRPr sz="1100"/>
          </a:p>
        </p:txBody>
      </p:sp>
      <p:sp>
        <p:nvSpPr>
          <p:cNvPr id="14" name="Shape 12">
            <a:extLst>
              <a:ext uri="{FF2B5EF4-FFF2-40B4-BE49-F238E27FC236}">
                <a16:creationId xmlns:a16="http://schemas.microsoft.com/office/drawing/2014/main" id="{CC890284-C1AF-4979-A49C-452AA809E4C8}"/>
              </a:ext>
            </a:extLst>
          </p:cNvPr>
          <p:cNvSpPr>
            <a:spLocks noGrp="1"/>
          </p:cNvSpPr>
          <p:nvPr/>
        </p:nvSpPr>
        <p:spPr>
          <a:xfrm>
            <a:off x="365760" y="3337560"/>
            <a:ext cx="5120640" cy="914400"/>
          </a:xfrm>
          <a:prstGeom prst="roundRect">
            <a:avLst>
              <a:gd name="adj" fmla="val 6000"/>
            </a:avLst>
          </a:prstGeom>
          <a:solidFill>
            <a:srgbClr val="E8EEF7"/>
          </a:solidFill>
          <a:ln w="12700">
            <a:solidFill>
              <a:srgbClr val="0E7C7B"/>
            </a:solidFill>
            <a:prstDash val="solid"/>
          </a:ln>
        </p:spPr>
        <p:txBody>
          <a:bodyPr/>
          <a:lstStyle/>
          <a:p>
            <a:endParaRPr/>
          </a:p>
        </p:txBody>
      </p:sp>
      <p:sp>
        <p:nvSpPr>
          <p:cNvPr id="15" name="Text 13">
            <a:extLst>
              <a:ext uri="{FF2B5EF4-FFF2-40B4-BE49-F238E27FC236}">
                <a16:creationId xmlns:a16="http://schemas.microsoft.com/office/drawing/2014/main" id="{F5320E88-2104-4B95-8441-13CB06DAC331}"/>
              </a:ext>
            </a:extLst>
          </p:cNvPr>
          <p:cNvSpPr>
            <a:spLocks noGrp="1"/>
          </p:cNvSpPr>
          <p:nvPr/>
        </p:nvSpPr>
        <p:spPr>
          <a:xfrm>
            <a:off x="502920" y="3410712"/>
            <a:ext cx="1463040" cy="274320"/>
          </a:xfrm>
          <a:prstGeom prst="rect">
            <a:avLst/>
          </a:prstGeom>
          <a:noFill/>
        </p:spPr>
        <p:txBody>
          <a:bodyPr wrap="square" anchor="ctr"/>
          <a:lstStyle/>
          <a:p>
            <a:pPr marL="0" indent="0">
              <a:buNone/>
            </a:pPr>
            <a:r>
              <a:rPr sz="1200" b="1">
                <a:solidFill>
                  <a:srgbClr val="1F3864"/>
                </a:solidFill>
                <a:latin typeface="Arial"/>
                <a:ea typeface="Arial"/>
                <a:cs typeface="Arial"/>
              </a:rPr>
              <a:t>Trainable Scope</a:t>
            </a:r>
            <a:endParaRPr sz="1200"/>
          </a:p>
        </p:txBody>
      </p:sp>
      <p:sp>
        <p:nvSpPr>
          <p:cNvPr id="16" name="Text 14">
            <a:extLst>
              <a:ext uri="{FF2B5EF4-FFF2-40B4-BE49-F238E27FC236}">
                <a16:creationId xmlns:a16="http://schemas.microsoft.com/office/drawing/2014/main" id="{2B01C8CC-A496-4985-A3C2-8D9A806D4322}"/>
              </a:ext>
            </a:extLst>
          </p:cNvPr>
          <p:cNvSpPr>
            <a:spLocks noGrp="1"/>
          </p:cNvSpPr>
          <p:nvPr/>
        </p:nvSpPr>
        <p:spPr>
          <a:xfrm>
            <a:off x="502920" y="3675888"/>
            <a:ext cx="4846320" cy="502920"/>
          </a:xfrm>
          <a:prstGeom prst="rect">
            <a:avLst/>
          </a:prstGeom>
          <a:noFill/>
        </p:spPr>
        <p:txBody>
          <a:bodyPr wrap="square" anchor="ctr"/>
          <a:lstStyle/>
          <a:p>
            <a:pPr marL="0" indent="0">
              <a:lnSpc>
                <a:spcPts val="1200"/>
              </a:lnSpc>
              <a:buNone/>
            </a:pPr>
            <a:r>
              <a:rPr sz="1050">
                <a:solidFill>
                  <a:srgbClr val="1F2937"/>
                </a:solidFill>
                <a:latin typeface="Arial"/>
                <a:ea typeface="Arial"/>
                <a:cs typeface="Arial"/>
              </a:rPr>
              <a:t>Same refine_128/refine_256 modules and 128/256 image heads. C alone adds 0.05 Lpart.</a:t>
            </a:r>
            <a:endParaRPr sz="1050"/>
          </a:p>
        </p:txBody>
      </p:sp>
      <p:sp>
        <p:nvSpPr>
          <p:cNvPr id="17" name="Shape 15">
            <a:extLst>
              <a:ext uri="{FF2B5EF4-FFF2-40B4-BE49-F238E27FC236}">
                <a16:creationId xmlns:a16="http://schemas.microsoft.com/office/drawing/2014/main" id="{4CBC7606-5E03-4C13-9CBE-8C0A220C3D53}"/>
              </a:ext>
            </a:extLst>
          </p:cNvPr>
          <p:cNvSpPr>
            <a:spLocks noGrp="1"/>
          </p:cNvSpPr>
          <p:nvPr/>
        </p:nvSpPr>
        <p:spPr>
          <a:xfrm>
            <a:off x="5669280" y="3337560"/>
            <a:ext cx="3108960" cy="914400"/>
          </a:xfrm>
          <a:prstGeom prst="roundRect">
            <a:avLst>
              <a:gd name="adj" fmla="val 6000"/>
            </a:avLst>
          </a:prstGeom>
          <a:solidFill>
            <a:srgbClr val="1F3864"/>
          </a:solidFill>
        </p:spPr>
        <p:txBody>
          <a:bodyPr/>
          <a:lstStyle/>
          <a:p>
            <a:endParaRPr/>
          </a:p>
        </p:txBody>
      </p:sp>
      <p:sp>
        <p:nvSpPr>
          <p:cNvPr id="18" name="Text 16">
            <a:extLst>
              <a:ext uri="{FF2B5EF4-FFF2-40B4-BE49-F238E27FC236}">
                <a16:creationId xmlns:a16="http://schemas.microsoft.com/office/drawing/2014/main" id="{4C168151-475E-4BAE-B8B7-3CEAF14E6DE9}"/>
              </a:ext>
            </a:extLst>
          </p:cNvPr>
          <p:cNvSpPr>
            <a:spLocks noGrp="1"/>
          </p:cNvSpPr>
          <p:nvPr/>
        </p:nvSpPr>
        <p:spPr>
          <a:xfrm>
            <a:off x="5833872" y="3429000"/>
            <a:ext cx="2779776" cy="731520"/>
          </a:xfrm>
          <a:prstGeom prst="rect">
            <a:avLst/>
          </a:prstGeom>
          <a:noFill/>
        </p:spPr>
        <p:txBody>
          <a:bodyPr wrap="square" anchor="ctr"/>
          <a:lstStyle/>
          <a:p>
            <a:pPr marL="0" indent="0">
              <a:lnSpc>
                <a:spcPts val="1200"/>
              </a:lnSpc>
              <a:buNone/>
            </a:pPr>
            <a:r>
              <a:rPr sz="1100" b="1">
                <a:solidFill>
                  <a:srgbClr val="FFFFFF"/>
                </a:solidFill>
                <a:latin typeface="Arial"/>
                <a:ea typeface="Arial"/>
                <a:cs typeface="Arial"/>
              </a:rPr>
              <a:t>Controlled fine-tuning—not a new full 800-epoch training claim.</a:t>
            </a:r>
            <a:endParaRPr sz="1100"/>
          </a:p>
        </p:txBody>
      </p:sp>
      <p:sp>
        <p:nvSpPr>
          <p:cNvPr id="20" name="Text 18">
            <a:extLst>
              <a:ext uri="{FF2B5EF4-FFF2-40B4-BE49-F238E27FC236}">
                <a16:creationId xmlns:a16="http://schemas.microsoft.com/office/drawing/2014/main" id="{8A8A924B-940B-446F-A61E-6E5DF2C31C7B}"/>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8 / 15</a:t>
            </a:r>
            <a:endParaRPr sz="900"/>
          </a:p>
        </p:txBody>
      </p:sp>
      <p:sp>
        <p:nvSpPr>
          <p:cNvPr id="21" name="Shape 19">
            <a:extLst>
              <a:ext uri="{FF2B5EF4-FFF2-40B4-BE49-F238E27FC236}">
                <a16:creationId xmlns:a16="http://schemas.microsoft.com/office/drawing/2014/main" id="{330F4208-A699-4B9E-8419-2220300566B9}"/>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22" name="Shape 20">
            <a:extLst>
              <a:ext uri="{FF2B5EF4-FFF2-40B4-BE49-F238E27FC236}">
                <a16:creationId xmlns:a16="http://schemas.microsoft.com/office/drawing/2014/main" id="{A1315EB0-AC15-477B-A7DA-7B44B53CDDF3}"/>
              </a:ext>
            </a:extLst>
          </p:cNvPr>
          <p:cNvSpPr>
            <a:spLocks noGrp="1"/>
          </p:cNvSpPr>
          <p:nvPr/>
        </p:nvSpPr>
        <p:spPr>
          <a:xfrm>
            <a:off x="7955280" y="4864608"/>
            <a:ext cx="822960"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2086258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417A1D-6FAB-4A41-A109-02A1F447908F}"/>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880C3012-33CB-48EF-A0E0-F7A92D79FCE4}"/>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08</a:t>
            </a:r>
            <a:endParaRPr sz="1700"/>
          </a:p>
        </p:txBody>
      </p:sp>
      <p:sp>
        <p:nvSpPr>
          <p:cNvPr id="4" name="Text 2">
            <a:extLst>
              <a:ext uri="{FF2B5EF4-FFF2-40B4-BE49-F238E27FC236}">
                <a16:creationId xmlns:a16="http://schemas.microsoft.com/office/drawing/2014/main" id="{46CECB0B-C8E2-45AA-A05C-05259BA80FDD}"/>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One Fixed Evaluation Tests Target and Safeguards</a:t>
            </a:r>
            <a:endParaRPr sz="2100"/>
          </a:p>
        </p:txBody>
      </p:sp>
      <p:sp>
        <p:nvSpPr>
          <p:cNvPr id="5" name="Text 3">
            <a:extLst>
              <a:ext uri="{FF2B5EF4-FFF2-40B4-BE49-F238E27FC236}">
                <a16:creationId xmlns:a16="http://schemas.microsoft.com/office/drawing/2014/main" id="{10427EF0-5930-49A0-AB62-0709A314E321}"/>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30,000 paired generations · same captions, noise, negatives</a:t>
            </a:r>
            <a:endParaRPr sz="1150"/>
          </a:p>
        </p:txBody>
      </p:sp>
      <p:sp>
        <p:nvSpPr>
          <p:cNvPr id="6" name="Shape 4">
            <a:extLst>
              <a:ext uri="{FF2B5EF4-FFF2-40B4-BE49-F238E27FC236}">
                <a16:creationId xmlns:a16="http://schemas.microsoft.com/office/drawing/2014/main" id="{A838829E-6CF1-41D9-A239-D6C9B25B6353}"/>
              </a:ext>
            </a:extLst>
          </p:cNvPr>
          <p:cNvSpPr>
            <a:spLocks noGrp="1"/>
          </p:cNvSpPr>
          <p:nvPr/>
        </p:nvSpPr>
        <p:spPr>
          <a:xfrm>
            <a:off x="365758" y="1051560"/>
            <a:ext cx="4899261" cy="237744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B40910E1-246B-41C5-9719-B69C3ADB3878}"/>
              </a:ext>
            </a:extLst>
          </p:cNvPr>
          <p:cNvSpPr>
            <a:spLocks noGrp="1"/>
          </p:cNvSpPr>
          <p:nvPr/>
        </p:nvSpPr>
        <p:spPr>
          <a:xfrm>
            <a:off x="365759" y="1051560"/>
            <a:ext cx="4899259" cy="384048"/>
          </a:xfrm>
          <a:prstGeom prst="roundRect">
            <a:avLst>
              <a:gd name="adj" fmla="val 14286"/>
            </a:avLst>
          </a:prstGeom>
          <a:solidFill>
            <a:srgbClr val="0E7C7B"/>
          </a:solidFill>
        </p:spPr>
        <p:txBody>
          <a:bodyPr/>
          <a:lstStyle/>
          <a:p>
            <a:endParaRPr/>
          </a:p>
        </p:txBody>
      </p:sp>
      <p:sp>
        <p:nvSpPr>
          <p:cNvPr id="8" name="Text 6">
            <a:extLst>
              <a:ext uri="{FF2B5EF4-FFF2-40B4-BE49-F238E27FC236}">
                <a16:creationId xmlns:a16="http://schemas.microsoft.com/office/drawing/2014/main" id="{D0B7FE7A-F3EE-4DA7-B774-E867623C9B82}"/>
              </a:ext>
            </a:extLst>
          </p:cNvPr>
          <p:cNvSpPr>
            <a:spLocks noGrp="1"/>
          </p:cNvSpPr>
          <p:nvPr/>
        </p:nvSpPr>
        <p:spPr>
          <a:xfrm>
            <a:off x="1260908" y="1091505"/>
            <a:ext cx="3108960" cy="292608"/>
          </a:xfrm>
          <a:prstGeom prst="rect">
            <a:avLst/>
          </a:prstGeom>
          <a:noFill/>
        </p:spPr>
        <p:txBody>
          <a:bodyPr wrap="square" anchor="ctr"/>
          <a:lstStyle/>
          <a:p>
            <a:pPr marL="0" indent="0" algn="ctr">
              <a:buNone/>
            </a:pPr>
            <a:r>
              <a:rPr sz="1250" b="1" dirty="0">
                <a:solidFill>
                  <a:srgbClr val="FFFFFF"/>
                </a:solidFill>
                <a:latin typeface="Arial"/>
                <a:ea typeface="Arial"/>
                <a:cs typeface="Arial"/>
              </a:rPr>
              <a:t>Targeted Test</a:t>
            </a:r>
            <a:endParaRPr sz="1250" dirty="0"/>
          </a:p>
        </p:txBody>
      </p:sp>
      <p:sp>
        <p:nvSpPr>
          <p:cNvPr id="9" name="Text 7">
            <a:extLst>
              <a:ext uri="{FF2B5EF4-FFF2-40B4-BE49-F238E27FC236}">
                <a16:creationId xmlns:a16="http://schemas.microsoft.com/office/drawing/2014/main" id="{CC1F2DB2-8C77-4C53-9C1B-729E738B5232}"/>
              </a:ext>
            </a:extLst>
          </p:cNvPr>
          <p:cNvSpPr>
            <a:spLocks noGrp="1"/>
          </p:cNvSpPr>
          <p:nvPr/>
        </p:nvSpPr>
        <p:spPr>
          <a:xfrm>
            <a:off x="530351" y="1536192"/>
            <a:ext cx="4575851" cy="1508760"/>
          </a:xfrm>
          <a:prstGeom prst="rect">
            <a:avLst/>
          </a:prstGeom>
          <a:noFill/>
        </p:spPr>
        <p:txBody>
          <a:bodyPr wrap="square" anchor="t"/>
          <a:lstStyle/>
          <a:p>
            <a:r>
              <a:rPr sz="1200" b="1" dirty="0">
                <a:solidFill>
                  <a:srgbClr val="1F3864"/>
                </a:solidFill>
                <a:latin typeface="Arial"/>
                <a:ea typeface="Arial"/>
                <a:cs typeface="Arial"/>
              </a:rPr>
              <a:t>Part–</a:t>
            </a:r>
            <a:r>
              <a:rPr sz="1200" b="1" dirty="0" err="1">
                <a:solidFill>
                  <a:srgbClr val="1F3864"/>
                </a:solidFill>
                <a:latin typeface="Arial"/>
                <a:ea typeface="Arial"/>
                <a:cs typeface="Arial"/>
              </a:rPr>
              <a:t>colour</a:t>
            </a:r>
            <a:r>
              <a:rPr sz="1200" b="1" dirty="0">
                <a:solidFill>
                  <a:srgbClr val="1F3864"/>
                </a:solidFill>
                <a:latin typeface="Arial"/>
                <a:ea typeface="Arial"/>
                <a:cs typeface="Arial"/>
              </a:rPr>
              <a:t> swap accuracy
Correct caption vs 9 </a:t>
            </a:r>
            <a:r>
              <a:rPr sz="1200" b="1" dirty="0" err="1">
                <a:solidFill>
                  <a:srgbClr val="1F3864"/>
                </a:solidFill>
                <a:latin typeface="Arial"/>
                <a:ea typeface="Arial"/>
                <a:cs typeface="Arial"/>
              </a:rPr>
              <a:t>colour</a:t>
            </a:r>
            <a:r>
              <a:rPr sz="1200" b="1" dirty="0">
                <a:solidFill>
                  <a:srgbClr val="1F3864"/>
                </a:solidFill>
                <a:latin typeface="Arial"/>
                <a:ea typeface="Arial"/>
                <a:cs typeface="Arial"/>
              </a:rPr>
              <a:t>-swapped alternatives
</a:t>
            </a:r>
            <a:r>
              <a:rPr lang="zh-CN" altLang="zh-CN" sz="1200" b="1" dirty="0">
                <a:solidFill>
                  <a:srgbClr val="1F3864"/>
                </a:solidFill>
                <a:latin typeface="Arial"/>
                <a:cs typeface="Arial"/>
              </a:rPr>
              <a:t>The colour-swap protocol contained 24,454 eligible captions. After deterministic caption repetition for the 30,000-sample evaluation, 24,924 evaluation rows per model were eligible for the part-colour metric.</a:t>
            </a:r>
            <a:r>
              <a:rPr sz="1200" b="1" dirty="0">
                <a:solidFill>
                  <a:srgbClr val="1F3864"/>
                </a:solidFill>
                <a:latin typeface="Arial"/>
                <a:ea typeface="Arial"/>
                <a:cs typeface="Arial"/>
              </a:rPr>
              <a:t>
Higher is better</a:t>
            </a:r>
            <a:endParaRPr sz="1200" dirty="0"/>
          </a:p>
        </p:txBody>
      </p:sp>
      <p:sp>
        <p:nvSpPr>
          <p:cNvPr id="10" name="Shape 8">
            <a:extLst>
              <a:ext uri="{FF2B5EF4-FFF2-40B4-BE49-F238E27FC236}">
                <a16:creationId xmlns:a16="http://schemas.microsoft.com/office/drawing/2014/main" id="{9CB42AC3-6EBF-4C0F-8414-9DCF746DE06D}"/>
              </a:ext>
            </a:extLst>
          </p:cNvPr>
          <p:cNvSpPr>
            <a:spLocks noGrp="1"/>
          </p:cNvSpPr>
          <p:nvPr/>
        </p:nvSpPr>
        <p:spPr>
          <a:xfrm>
            <a:off x="5349237" y="1051560"/>
            <a:ext cx="3429001" cy="237744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AFB9FD1B-42FD-4ED5-A04C-4C738DE9FACA}"/>
              </a:ext>
            </a:extLst>
          </p:cNvPr>
          <p:cNvSpPr>
            <a:spLocks noGrp="1"/>
          </p:cNvSpPr>
          <p:nvPr/>
        </p:nvSpPr>
        <p:spPr>
          <a:xfrm>
            <a:off x="5349238" y="1051560"/>
            <a:ext cx="3429002" cy="384048"/>
          </a:xfrm>
          <a:prstGeom prst="roundRect">
            <a:avLst>
              <a:gd name="adj" fmla="val 14286"/>
            </a:avLst>
          </a:prstGeom>
          <a:solidFill>
            <a:srgbClr val="1F3864"/>
          </a:solidFill>
        </p:spPr>
        <p:txBody>
          <a:bodyPr/>
          <a:lstStyle/>
          <a:p>
            <a:endParaRPr/>
          </a:p>
        </p:txBody>
      </p:sp>
      <p:sp>
        <p:nvSpPr>
          <p:cNvPr id="12" name="Text 10">
            <a:extLst>
              <a:ext uri="{FF2B5EF4-FFF2-40B4-BE49-F238E27FC236}">
                <a16:creationId xmlns:a16="http://schemas.microsoft.com/office/drawing/2014/main" id="{83220C33-3268-4FF3-99E4-E96739FC104E}"/>
              </a:ext>
            </a:extLst>
          </p:cNvPr>
          <p:cNvSpPr>
            <a:spLocks noGrp="1"/>
          </p:cNvSpPr>
          <p:nvPr/>
        </p:nvSpPr>
        <p:spPr>
          <a:xfrm>
            <a:off x="5622354" y="1099205"/>
            <a:ext cx="2882766" cy="292608"/>
          </a:xfrm>
          <a:prstGeom prst="rect">
            <a:avLst/>
          </a:prstGeom>
          <a:noFill/>
        </p:spPr>
        <p:txBody>
          <a:bodyPr wrap="square" anchor="ctr"/>
          <a:lstStyle/>
          <a:p>
            <a:pPr marL="0" indent="0" algn="ctr">
              <a:buNone/>
            </a:pPr>
            <a:r>
              <a:rPr sz="1250" b="1" dirty="0">
                <a:solidFill>
                  <a:srgbClr val="FFFFFF"/>
                </a:solidFill>
                <a:latin typeface="Arial"/>
                <a:ea typeface="Arial"/>
                <a:cs typeface="Arial"/>
              </a:rPr>
              <a:t>Global + Mechanism</a:t>
            </a:r>
            <a:endParaRPr sz="1250" dirty="0"/>
          </a:p>
        </p:txBody>
      </p:sp>
      <p:sp>
        <p:nvSpPr>
          <p:cNvPr id="13" name="Text 11">
            <a:extLst>
              <a:ext uri="{FF2B5EF4-FFF2-40B4-BE49-F238E27FC236}">
                <a16:creationId xmlns:a16="http://schemas.microsoft.com/office/drawing/2014/main" id="{155F9E7F-F05A-45F4-95F8-DD238CD24D87}"/>
              </a:ext>
            </a:extLst>
          </p:cNvPr>
          <p:cNvSpPr>
            <a:spLocks noGrp="1"/>
          </p:cNvSpPr>
          <p:nvPr/>
        </p:nvSpPr>
        <p:spPr>
          <a:xfrm>
            <a:off x="5349238" y="1536192"/>
            <a:ext cx="3429002" cy="1508760"/>
          </a:xfrm>
          <a:prstGeom prst="rect">
            <a:avLst/>
          </a:prstGeom>
          <a:noFill/>
        </p:spPr>
        <p:txBody>
          <a:bodyPr wrap="square" anchor="t"/>
          <a:lstStyle/>
          <a:p>
            <a:pPr marL="0" indent="0">
              <a:lnSpc>
                <a:spcPts val="1300"/>
              </a:lnSpc>
              <a:buNone/>
            </a:pPr>
            <a:r>
              <a:rPr sz="1100" b="1" dirty="0">
                <a:solidFill>
                  <a:srgbClr val="C55A11"/>
                </a:solidFill>
                <a:latin typeface="Arial"/>
                <a:ea typeface="Arial"/>
                <a:cs typeface="Arial"/>
              </a:rPr>
              <a:t>FID · realism/diversity · lower better
R-precision · text match · higher better
Attention CE + support mass · mechanism proxy
28,555 active attention cases</a:t>
            </a:r>
            <a:endParaRPr sz="1100" dirty="0"/>
          </a:p>
        </p:txBody>
      </p:sp>
      <p:sp>
        <p:nvSpPr>
          <p:cNvPr id="14" name="Shape 12">
            <a:extLst>
              <a:ext uri="{FF2B5EF4-FFF2-40B4-BE49-F238E27FC236}">
                <a16:creationId xmlns:a16="http://schemas.microsoft.com/office/drawing/2014/main" id="{CC890284-C1AF-4979-A49C-452AA809E4C8}"/>
              </a:ext>
            </a:extLst>
          </p:cNvPr>
          <p:cNvSpPr>
            <a:spLocks noGrp="1"/>
          </p:cNvSpPr>
          <p:nvPr/>
        </p:nvSpPr>
        <p:spPr>
          <a:xfrm>
            <a:off x="365757" y="3558219"/>
            <a:ext cx="5120640" cy="914400"/>
          </a:xfrm>
          <a:prstGeom prst="roundRect">
            <a:avLst>
              <a:gd name="adj" fmla="val 6000"/>
            </a:avLst>
          </a:prstGeom>
          <a:solidFill>
            <a:srgbClr val="E8EEF7"/>
          </a:solidFill>
          <a:ln w="12700">
            <a:solidFill>
              <a:srgbClr val="0E7C7B"/>
            </a:solidFill>
            <a:prstDash val="solid"/>
          </a:ln>
        </p:spPr>
        <p:txBody>
          <a:bodyPr/>
          <a:lstStyle/>
          <a:p>
            <a:endParaRPr/>
          </a:p>
        </p:txBody>
      </p:sp>
      <p:sp>
        <p:nvSpPr>
          <p:cNvPr id="15" name="Text 13">
            <a:extLst>
              <a:ext uri="{FF2B5EF4-FFF2-40B4-BE49-F238E27FC236}">
                <a16:creationId xmlns:a16="http://schemas.microsoft.com/office/drawing/2014/main" id="{F5320E88-2104-4B95-8441-13CB06DAC331}"/>
              </a:ext>
            </a:extLst>
          </p:cNvPr>
          <p:cNvSpPr>
            <a:spLocks noGrp="1"/>
          </p:cNvSpPr>
          <p:nvPr/>
        </p:nvSpPr>
        <p:spPr>
          <a:xfrm>
            <a:off x="502917" y="3631371"/>
            <a:ext cx="1463040" cy="274320"/>
          </a:xfrm>
          <a:prstGeom prst="rect">
            <a:avLst/>
          </a:prstGeom>
          <a:noFill/>
        </p:spPr>
        <p:txBody>
          <a:bodyPr wrap="square" anchor="ctr"/>
          <a:lstStyle/>
          <a:p>
            <a:pPr marL="0" indent="0">
              <a:buNone/>
            </a:pPr>
            <a:r>
              <a:rPr sz="1200" b="1" dirty="0">
                <a:solidFill>
                  <a:srgbClr val="1F3864"/>
                </a:solidFill>
                <a:latin typeface="Arial"/>
                <a:ea typeface="Arial"/>
                <a:cs typeface="Arial"/>
              </a:rPr>
              <a:t>Paired Protocol</a:t>
            </a:r>
            <a:endParaRPr sz="1200" dirty="0"/>
          </a:p>
        </p:txBody>
      </p:sp>
      <p:sp>
        <p:nvSpPr>
          <p:cNvPr id="16" name="Text 14">
            <a:extLst>
              <a:ext uri="{FF2B5EF4-FFF2-40B4-BE49-F238E27FC236}">
                <a16:creationId xmlns:a16="http://schemas.microsoft.com/office/drawing/2014/main" id="{2B01C8CC-A496-4985-A3C2-8D9A806D4322}"/>
              </a:ext>
            </a:extLst>
          </p:cNvPr>
          <p:cNvSpPr>
            <a:spLocks noGrp="1"/>
          </p:cNvSpPr>
          <p:nvPr/>
        </p:nvSpPr>
        <p:spPr>
          <a:xfrm>
            <a:off x="502917" y="3896547"/>
            <a:ext cx="4846320" cy="502920"/>
          </a:xfrm>
          <a:prstGeom prst="rect">
            <a:avLst/>
          </a:prstGeom>
          <a:noFill/>
        </p:spPr>
        <p:txBody>
          <a:bodyPr wrap="square" anchor="ctr"/>
          <a:lstStyle/>
          <a:p>
            <a:pPr marL="0" indent="0">
              <a:lnSpc>
                <a:spcPts val="1200"/>
              </a:lnSpc>
              <a:buNone/>
            </a:pPr>
            <a:r>
              <a:rPr sz="1050" dirty="0">
                <a:solidFill>
                  <a:srgbClr val="1F2937"/>
                </a:solidFill>
                <a:latin typeface="Arial"/>
                <a:ea typeface="Arial"/>
                <a:cs typeface="Arial"/>
              </a:rPr>
              <a:t>Evaluation seed 20260902 · same 29,330-caption bank (670 wrap once) · cluster by image key</a:t>
            </a:r>
            <a:endParaRPr sz="1050" dirty="0"/>
          </a:p>
        </p:txBody>
      </p:sp>
      <p:sp>
        <p:nvSpPr>
          <p:cNvPr id="17" name="Shape 15">
            <a:extLst>
              <a:ext uri="{FF2B5EF4-FFF2-40B4-BE49-F238E27FC236}">
                <a16:creationId xmlns:a16="http://schemas.microsoft.com/office/drawing/2014/main" id="{4CBC7606-5E03-4C13-9CBE-8C0A220C3D53}"/>
              </a:ext>
            </a:extLst>
          </p:cNvPr>
          <p:cNvSpPr>
            <a:spLocks noGrp="1"/>
          </p:cNvSpPr>
          <p:nvPr/>
        </p:nvSpPr>
        <p:spPr>
          <a:xfrm>
            <a:off x="5669278" y="3552444"/>
            <a:ext cx="3108960" cy="914400"/>
          </a:xfrm>
          <a:prstGeom prst="roundRect">
            <a:avLst>
              <a:gd name="adj" fmla="val 6000"/>
            </a:avLst>
          </a:prstGeom>
          <a:solidFill>
            <a:srgbClr val="1F3864"/>
          </a:solidFill>
        </p:spPr>
        <p:txBody>
          <a:bodyPr/>
          <a:lstStyle/>
          <a:p>
            <a:endParaRPr/>
          </a:p>
        </p:txBody>
      </p:sp>
      <p:sp>
        <p:nvSpPr>
          <p:cNvPr id="18" name="Text 16">
            <a:extLst>
              <a:ext uri="{FF2B5EF4-FFF2-40B4-BE49-F238E27FC236}">
                <a16:creationId xmlns:a16="http://schemas.microsoft.com/office/drawing/2014/main" id="{4C168151-475E-4BAE-B8B7-3CEAF14E6DE9}"/>
              </a:ext>
            </a:extLst>
          </p:cNvPr>
          <p:cNvSpPr>
            <a:spLocks noGrp="1"/>
          </p:cNvSpPr>
          <p:nvPr/>
        </p:nvSpPr>
        <p:spPr>
          <a:xfrm>
            <a:off x="5833870" y="3643884"/>
            <a:ext cx="2779776" cy="731520"/>
          </a:xfrm>
          <a:prstGeom prst="rect">
            <a:avLst/>
          </a:prstGeom>
          <a:noFill/>
        </p:spPr>
        <p:txBody>
          <a:bodyPr wrap="square" anchor="ctr"/>
          <a:lstStyle/>
          <a:p>
            <a:pPr marL="0" indent="0">
              <a:lnSpc>
                <a:spcPts val="1200"/>
              </a:lnSpc>
              <a:buNone/>
            </a:pPr>
            <a:r>
              <a:rPr sz="1100" b="1">
                <a:solidFill>
                  <a:srgbClr val="FFFFFF"/>
                </a:solidFill>
                <a:latin typeface="Arial"/>
                <a:ea typeface="Arial"/>
                <a:cs typeface="Arial"/>
              </a:rPr>
              <a:t>DAMSM scoring is useful, but it is not independent human validation.</a:t>
            </a:r>
            <a:endParaRPr sz="1100"/>
          </a:p>
        </p:txBody>
      </p:sp>
      <p:sp>
        <p:nvSpPr>
          <p:cNvPr id="20" name="Text 18">
            <a:extLst>
              <a:ext uri="{FF2B5EF4-FFF2-40B4-BE49-F238E27FC236}">
                <a16:creationId xmlns:a16="http://schemas.microsoft.com/office/drawing/2014/main" id="{8A8A924B-940B-446F-A61E-6E5DF2C31C7B}"/>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9 / 15</a:t>
            </a:r>
            <a:endParaRPr sz="900"/>
          </a:p>
        </p:txBody>
      </p:sp>
      <p:sp>
        <p:nvSpPr>
          <p:cNvPr id="21" name="Shape 19">
            <a:extLst>
              <a:ext uri="{FF2B5EF4-FFF2-40B4-BE49-F238E27FC236}">
                <a16:creationId xmlns:a16="http://schemas.microsoft.com/office/drawing/2014/main" id="{330F4208-A699-4B9E-8419-2220300566B9}"/>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22" name="Shape 20">
            <a:extLst>
              <a:ext uri="{FF2B5EF4-FFF2-40B4-BE49-F238E27FC236}">
                <a16:creationId xmlns:a16="http://schemas.microsoft.com/office/drawing/2014/main" id="{A1315EB0-AC15-477B-A7DA-7B44B53CDDF3}"/>
              </a:ext>
            </a:extLst>
          </p:cNvPr>
          <p:cNvSpPr>
            <a:spLocks noGrp="1"/>
          </p:cNvSpPr>
          <p:nvPr/>
        </p:nvSpPr>
        <p:spPr>
          <a:xfrm>
            <a:off x="7955280" y="4864608"/>
            <a:ext cx="822960"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2086258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417A1D-6FAB-4A41-A109-02A1F447908F}"/>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880C3012-33CB-48EF-A0E0-F7A92D79FCE4}"/>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09</a:t>
            </a:r>
            <a:endParaRPr sz="1700"/>
          </a:p>
        </p:txBody>
      </p:sp>
      <p:sp>
        <p:nvSpPr>
          <p:cNvPr id="4" name="Text 2">
            <a:extLst>
              <a:ext uri="{FF2B5EF4-FFF2-40B4-BE49-F238E27FC236}">
                <a16:creationId xmlns:a16="http://schemas.microsoft.com/office/drawing/2014/main" id="{46CECB0B-C8E2-45AA-A05C-05259BA80FDD}"/>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C Did Not Beat B Consistently Across Seeds</a:t>
            </a:r>
            <a:endParaRPr sz="2100"/>
          </a:p>
        </p:txBody>
      </p:sp>
      <p:sp>
        <p:nvSpPr>
          <p:cNvPr id="5" name="Text 3">
            <a:extLst>
              <a:ext uri="{FF2B5EF4-FFF2-40B4-BE49-F238E27FC236}">
                <a16:creationId xmlns:a16="http://schemas.microsoft.com/office/drawing/2014/main" id="{10427EF0-5930-49A0-AB62-0709A314E321}"/>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Three paired runs · absolute values shown · deltas are C − B</a:t>
            </a:r>
            <a:endParaRPr sz="1150"/>
          </a:p>
        </p:txBody>
      </p:sp>
      <p:sp>
        <p:nvSpPr>
          <p:cNvPr id="6" name="Shape 4">
            <a:extLst>
              <a:ext uri="{FF2B5EF4-FFF2-40B4-BE49-F238E27FC236}">
                <a16:creationId xmlns:a16="http://schemas.microsoft.com/office/drawing/2014/main" id="{A838829E-6CF1-41D9-A239-D6C9B25B6353}"/>
              </a:ext>
            </a:extLst>
          </p:cNvPr>
          <p:cNvSpPr>
            <a:spLocks noGrp="1"/>
          </p:cNvSpPr>
          <p:nvPr/>
        </p:nvSpPr>
        <p:spPr>
          <a:xfrm>
            <a:off x="365760" y="1051560"/>
            <a:ext cx="3108960" cy="210312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B40910E1-246B-41C5-9719-B69C3ADB3878}"/>
              </a:ext>
            </a:extLst>
          </p:cNvPr>
          <p:cNvSpPr>
            <a:spLocks noGrp="1"/>
          </p:cNvSpPr>
          <p:nvPr/>
        </p:nvSpPr>
        <p:spPr>
          <a:xfrm>
            <a:off x="365760" y="1051560"/>
            <a:ext cx="3108960" cy="384048"/>
          </a:xfrm>
          <a:prstGeom prst="roundRect">
            <a:avLst>
              <a:gd name="adj" fmla="val 14286"/>
            </a:avLst>
          </a:prstGeom>
          <a:solidFill>
            <a:srgbClr val="0E7C7B"/>
          </a:solidFill>
        </p:spPr>
        <p:txBody>
          <a:bodyPr/>
          <a:lstStyle/>
          <a:p>
            <a:endParaRPr/>
          </a:p>
        </p:txBody>
      </p:sp>
      <p:sp>
        <p:nvSpPr>
          <p:cNvPr id="8" name="Text 6">
            <a:extLst>
              <a:ext uri="{FF2B5EF4-FFF2-40B4-BE49-F238E27FC236}">
                <a16:creationId xmlns:a16="http://schemas.microsoft.com/office/drawing/2014/main" id="{D0B7FE7A-F3EE-4DA7-B774-E867623C9B82}"/>
              </a:ext>
            </a:extLst>
          </p:cNvPr>
          <p:cNvSpPr>
            <a:spLocks noGrp="1"/>
          </p:cNvSpPr>
          <p:nvPr/>
        </p:nvSpPr>
        <p:spPr>
          <a:xfrm>
            <a:off x="365760" y="1097280"/>
            <a:ext cx="310896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FID · LOWER IS BETTER</a:t>
            </a:r>
            <a:endParaRPr sz="1250"/>
          </a:p>
        </p:txBody>
      </p:sp>
      <p:sp>
        <p:nvSpPr>
          <p:cNvPr id="10" name="Shape 8">
            <a:extLst>
              <a:ext uri="{FF2B5EF4-FFF2-40B4-BE49-F238E27FC236}">
                <a16:creationId xmlns:a16="http://schemas.microsoft.com/office/drawing/2014/main" id="{9CB42AC3-6EBF-4C0F-8414-9DCF746DE06D}"/>
              </a:ext>
            </a:extLst>
          </p:cNvPr>
          <p:cNvSpPr>
            <a:spLocks noGrp="1"/>
          </p:cNvSpPr>
          <p:nvPr/>
        </p:nvSpPr>
        <p:spPr>
          <a:xfrm>
            <a:off x="3657600" y="1051560"/>
            <a:ext cx="5120640" cy="210312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AFB9FD1B-42FD-4ED5-A04C-4C738DE9FACA}"/>
              </a:ext>
            </a:extLst>
          </p:cNvPr>
          <p:cNvSpPr>
            <a:spLocks noGrp="1"/>
          </p:cNvSpPr>
          <p:nvPr/>
        </p:nvSpPr>
        <p:spPr>
          <a:xfrm>
            <a:off x="3657600" y="1051560"/>
            <a:ext cx="5120640" cy="384048"/>
          </a:xfrm>
          <a:prstGeom prst="roundRect">
            <a:avLst>
              <a:gd name="adj" fmla="val 14286"/>
            </a:avLst>
          </a:prstGeom>
          <a:solidFill>
            <a:srgbClr val="1F3864"/>
          </a:solidFill>
        </p:spPr>
        <p:txBody>
          <a:bodyPr/>
          <a:lstStyle/>
          <a:p>
            <a:endParaRPr/>
          </a:p>
        </p:txBody>
      </p:sp>
      <p:sp>
        <p:nvSpPr>
          <p:cNvPr id="12" name="Text 10">
            <a:extLst>
              <a:ext uri="{FF2B5EF4-FFF2-40B4-BE49-F238E27FC236}">
                <a16:creationId xmlns:a16="http://schemas.microsoft.com/office/drawing/2014/main" id="{83220C33-3268-4FF3-99E4-E96739FC104E}"/>
              </a:ext>
            </a:extLst>
          </p:cNvPr>
          <p:cNvSpPr>
            <a:spLocks noGrp="1"/>
          </p:cNvSpPr>
          <p:nvPr/>
        </p:nvSpPr>
        <p:spPr>
          <a:xfrm>
            <a:off x="3657600" y="1097280"/>
            <a:ext cx="512064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R-PRECISION / PART–COLOUR · HIGHER IS BETTER</a:t>
            </a:r>
            <a:endParaRPr sz="1250"/>
          </a:p>
        </p:txBody>
      </p:sp>
      <p:sp>
        <p:nvSpPr>
          <p:cNvPr id="14" name="Shape 12">
            <a:extLst>
              <a:ext uri="{FF2B5EF4-FFF2-40B4-BE49-F238E27FC236}">
                <a16:creationId xmlns:a16="http://schemas.microsoft.com/office/drawing/2014/main" id="{CC890284-C1AF-4979-A49C-452AA809E4C8}"/>
              </a:ext>
            </a:extLst>
          </p:cNvPr>
          <p:cNvSpPr>
            <a:spLocks noGrp="1"/>
          </p:cNvSpPr>
          <p:nvPr/>
        </p:nvSpPr>
        <p:spPr>
          <a:xfrm>
            <a:off x="365760" y="3337560"/>
            <a:ext cx="5120640" cy="914400"/>
          </a:xfrm>
          <a:prstGeom prst="roundRect">
            <a:avLst>
              <a:gd name="adj" fmla="val 6000"/>
            </a:avLst>
          </a:prstGeom>
          <a:solidFill>
            <a:srgbClr val="E8EEF7"/>
          </a:solidFill>
          <a:ln w="12700">
            <a:solidFill>
              <a:srgbClr val="0E7C7B"/>
            </a:solidFill>
            <a:prstDash val="solid"/>
          </a:ln>
        </p:spPr>
        <p:txBody>
          <a:bodyPr/>
          <a:lstStyle/>
          <a:p>
            <a:endParaRPr/>
          </a:p>
        </p:txBody>
      </p:sp>
      <p:sp>
        <p:nvSpPr>
          <p:cNvPr id="15" name="Text 13">
            <a:extLst>
              <a:ext uri="{FF2B5EF4-FFF2-40B4-BE49-F238E27FC236}">
                <a16:creationId xmlns:a16="http://schemas.microsoft.com/office/drawing/2014/main" id="{F5320E88-2104-4B95-8441-13CB06DAC331}"/>
              </a:ext>
            </a:extLst>
          </p:cNvPr>
          <p:cNvSpPr>
            <a:spLocks noGrp="1"/>
          </p:cNvSpPr>
          <p:nvPr/>
        </p:nvSpPr>
        <p:spPr>
          <a:xfrm>
            <a:off x="502920" y="3410712"/>
            <a:ext cx="1463040" cy="274320"/>
          </a:xfrm>
          <a:prstGeom prst="rect">
            <a:avLst/>
          </a:prstGeom>
          <a:noFill/>
        </p:spPr>
        <p:txBody>
          <a:bodyPr wrap="square" anchor="ctr"/>
          <a:lstStyle/>
          <a:p>
            <a:pPr marL="0" indent="0">
              <a:buNone/>
            </a:pPr>
            <a:r>
              <a:rPr sz="1200" b="1">
                <a:solidFill>
                  <a:srgbClr val="1F3864"/>
                </a:solidFill>
                <a:latin typeface="Arial"/>
                <a:ea typeface="Arial"/>
                <a:cs typeface="Arial"/>
              </a:rPr>
              <a:t>Across Seeds</a:t>
            </a:r>
            <a:endParaRPr sz="1200"/>
          </a:p>
        </p:txBody>
      </p:sp>
      <p:sp>
        <p:nvSpPr>
          <p:cNvPr id="16" name="Text 14">
            <a:extLst>
              <a:ext uri="{FF2B5EF4-FFF2-40B4-BE49-F238E27FC236}">
                <a16:creationId xmlns:a16="http://schemas.microsoft.com/office/drawing/2014/main" id="{2B01C8CC-A496-4985-A3C2-8D9A806D4322}"/>
              </a:ext>
            </a:extLst>
          </p:cNvPr>
          <p:cNvSpPr>
            <a:spLocks noGrp="1"/>
          </p:cNvSpPr>
          <p:nvPr/>
        </p:nvSpPr>
        <p:spPr>
          <a:xfrm>
            <a:off x="502920" y="3675888"/>
            <a:ext cx="4846320" cy="502920"/>
          </a:xfrm>
          <a:prstGeom prst="rect">
            <a:avLst/>
          </a:prstGeom>
          <a:noFill/>
        </p:spPr>
        <p:txBody>
          <a:bodyPr wrap="square" anchor="ctr"/>
          <a:lstStyle/>
          <a:p>
            <a:pPr marL="0" indent="0">
              <a:lnSpc>
                <a:spcPts val="1200"/>
              </a:lnSpc>
              <a:buNone/>
            </a:pPr>
            <a:r>
              <a:rPr sz="1050">
                <a:solidFill>
                  <a:srgbClr val="1F2937"/>
                </a:solidFill>
                <a:latin typeface="Arial"/>
                <a:ea typeface="Arial"/>
                <a:cs typeface="Arial"/>
              </a:rPr>
              <a:t>Part–colour Δ: +0.04, −0.02, −0.18 pp · FID Δ: +0.014, +0.039, +0.055 · R Δ: −0.07, −0.08, +0.29 pp</a:t>
            </a:r>
            <a:endParaRPr sz="1050"/>
          </a:p>
        </p:txBody>
      </p:sp>
      <p:sp>
        <p:nvSpPr>
          <p:cNvPr id="17" name="Shape 15">
            <a:extLst>
              <a:ext uri="{FF2B5EF4-FFF2-40B4-BE49-F238E27FC236}">
                <a16:creationId xmlns:a16="http://schemas.microsoft.com/office/drawing/2014/main" id="{4CBC7606-5E03-4C13-9CBE-8C0A220C3D53}"/>
              </a:ext>
            </a:extLst>
          </p:cNvPr>
          <p:cNvSpPr>
            <a:spLocks noGrp="1"/>
          </p:cNvSpPr>
          <p:nvPr/>
        </p:nvSpPr>
        <p:spPr>
          <a:xfrm>
            <a:off x="5669280" y="3337560"/>
            <a:ext cx="3108960" cy="914400"/>
          </a:xfrm>
          <a:prstGeom prst="roundRect">
            <a:avLst>
              <a:gd name="adj" fmla="val 6000"/>
            </a:avLst>
          </a:prstGeom>
          <a:solidFill>
            <a:srgbClr val="1F3864"/>
          </a:solidFill>
        </p:spPr>
        <p:txBody>
          <a:bodyPr/>
          <a:lstStyle/>
          <a:p>
            <a:endParaRPr/>
          </a:p>
        </p:txBody>
      </p:sp>
      <p:sp>
        <p:nvSpPr>
          <p:cNvPr id="18" name="Text 16">
            <a:extLst>
              <a:ext uri="{FF2B5EF4-FFF2-40B4-BE49-F238E27FC236}">
                <a16:creationId xmlns:a16="http://schemas.microsoft.com/office/drawing/2014/main" id="{4C168151-475E-4BAE-B8B7-3CEAF14E6DE9}"/>
              </a:ext>
            </a:extLst>
          </p:cNvPr>
          <p:cNvSpPr>
            <a:spLocks noGrp="1"/>
          </p:cNvSpPr>
          <p:nvPr/>
        </p:nvSpPr>
        <p:spPr>
          <a:xfrm>
            <a:off x="5833872" y="3429000"/>
            <a:ext cx="2779776" cy="731520"/>
          </a:xfrm>
          <a:prstGeom prst="rect">
            <a:avLst/>
          </a:prstGeom>
          <a:noFill/>
        </p:spPr>
        <p:txBody>
          <a:bodyPr wrap="square" anchor="ctr"/>
          <a:lstStyle/>
          <a:p>
            <a:pPr marL="0" indent="0">
              <a:lnSpc>
                <a:spcPts val="1200"/>
              </a:lnSpc>
              <a:buNone/>
            </a:pPr>
            <a:r>
              <a:rPr sz="1100" b="1">
                <a:solidFill>
                  <a:srgbClr val="FFFFFF"/>
                </a:solidFill>
                <a:latin typeface="Arial"/>
                <a:ea typeface="Arial"/>
                <a:cs typeface="Arial"/>
              </a:rPr>
              <a:t>Target improved in only 1/3 seeds. FID was slightly worse in 3/3.</a:t>
            </a:r>
            <a:endParaRPr sz="1100"/>
          </a:p>
        </p:txBody>
      </p:sp>
      <p:sp>
        <p:nvSpPr>
          <p:cNvPr id="20" name="Text 18">
            <a:extLst>
              <a:ext uri="{FF2B5EF4-FFF2-40B4-BE49-F238E27FC236}">
                <a16:creationId xmlns:a16="http://schemas.microsoft.com/office/drawing/2014/main" id="{8A8A924B-940B-446F-A61E-6E5DF2C31C7B}"/>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10 / 15</a:t>
            </a:r>
            <a:endParaRPr sz="900"/>
          </a:p>
        </p:txBody>
      </p:sp>
      <p:sp>
        <p:nvSpPr>
          <p:cNvPr id="21" name="Shape 19">
            <a:extLst>
              <a:ext uri="{FF2B5EF4-FFF2-40B4-BE49-F238E27FC236}">
                <a16:creationId xmlns:a16="http://schemas.microsoft.com/office/drawing/2014/main" id="{330F4208-A699-4B9E-8419-2220300566B9}"/>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22" name="Shape 20">
            <a:extLst>
              <a:ext uri="{FF2B5EF4-FFF2-40B4-BE49-F238E27FC236}">
                <a16:creationId xmlns:a16="http://schemas.microsoft.com/office/drawing/2014/main" id="{A1315EB0-AC15-477B-A7DA-7B44B53CDDF3}"/>
              </a:ext>
            </a:extLst>
          </p:cNvPr>
          <p:cNvSpPr>
            <a:spLocks noGrp="1"/>
          </p:cNvSpPr>
          <p:nvPr/>
        </p:nvSpPr>
        <p:spPr>
          <a:xfrm>
            <a:off x="7955280" y="4864608"/>
            <a:ext cx="822960" cy="54864"/>
          </a:xfrm>
          <a:prstGeom prst="rect">
            <a:avLst/>
          </a:prstGeom>
          <a:solidFill>
            <a:srgbClr val="1F3864"/>
          </a:solidFill>
        </p:spPr>
        <p:txBody>
          <a:bodyPr/>
          <a:lstStyle/>
          <a:p>
            <a:endParaRPr/>
          </a:p>
        </p:txBody>
      </p:sp>
      <p:graphicFrame>
        <p:nvGraphicFramePr>
          <p:cNvPr id="46" name="Chart"/>
          <p:cNvGraphicFramePr/>
          <p:nvPr/>
        </p:nvGraphicFramePr>
        <p:xfrm>
          <a:off x="571500" y="1543050"/>
          <a:ext cx="2667000" cy="1457325"/>
        </p:xfrm>
        <a:graphic>
          <a:graphicData uri="http://schemas.openxmlformats.org/drawingml/2006/chart">
            <c:chart xmlns:c="http://schemas.openxmlformats.org/drawingml/2006/chart" xmlns:r="http://schemas.openxmlformats.org/officeDocument/2006/relationships" r:id="rId3"/>
          </a:graphicData>
        </a:graphic>
      </p:graphicFrame>
      <p:sp>
        <p:nvSpPr>
          <p:cNvPr id="24" name="r-chart-label">
            <a:extLst>
              <a:ext uri="{FF2B5EF4-FFF2-40B4-BE49-F238E27FC236}">
                <a16:creationId xmlns:a16="http://schemas.microsoft.com/office/drawing/2014/main" id="{B6730C57-FB06-4703-B382-9A77F9EAE450}"/>
              </a:ext>
            </a:extLst>
          </p:cNvPr>
          <p:cNvSpPr>
            <a:spLocks noGrp="1"/>
          </p:cNvSpPr>
          <p:nvPr/>
        </p:nvSpPr>
        <p:spPr>
          <a:xfrm>
            <a:off x="3886200" y="1524000"/>
            <a:ext cx="2143125" cy="171450"/>
          </a:xfrm>
          <a:prstGeom prst="rect">
            <a:avLst/>
          </a:prstGeom>
          <a:noFill/>
          <a:ln w="0">
            <a:noFill/>
            <a:prstDash val="solid"/>
          </a:ln>
        </p:spPr>
        <p:txBody>
          <a:bodyPr lIns="19050" tIns="19050" rIns="19050" bIns="19050" anchor="ctr">
            <a:normAutofit/>
          </a:bodyPr>
          <a:lstStyle/>
          <a:p>
            <a:pPr algn="ctr">
              <a:defRPr sz="825" b="1">
                <a:solidFill>
                  <a:srgbClr val="17365D"/>
                </a:solidFill>
                <a:latin typeface="Arial"/>
                <a:ea typeface="Arial"/>
                <a:cs typeface="Arial"/>
              </a:defRPr>
            </a:pPr>
            <a:r>
              <a:rPr sz="825" b="1">
                <a:solidFill>
                  <a:srgbClr val="17365D"/>
                </a:solidFill>
                <a:latin typeface="Arial"/>
                <a:ea typeface="Arial"/>
                <a:cs typeface="Arial"/>
              </a:rPr>
              <a:t>R-precision (%)</a:t>
            </a:r>
          </a:p>
        </p:txBody>
      </p:sp>
      <p:sp>
        <p:nvSpPr>
          <p:cNvPr id="25" name="colour-chart-label">
            <a:extLst>
              <a:ext uri="{FF2B5EF4-FFF2-40B4-BE49-F238E27FC236}">
                <a16:creationId xmlns:a16="http://schemas.microsoft.com/office/drawing/2014/main" id="{FE585EF6-233C-4D27-96FF-B46E1BF6A1F3}"/>
              </a:ext>
            </a:extLst>
          </p:cNvPr>
          <p:cNvSpPr>
            <a:spLocks noGrp="1"/>
          </p:cNvSpPr>
          <p:nvPr/>
        </p:nvSpPr>
        <p:spPr>
          <a:xfrm>
            <a:off x="6305550" y="1524000"/>
            <a:ext cx="2143125" cy="171450"/>
          </a:xfrm>
          <a:prstGeom prst="rect">
            <a:avLst/>
          </a:prstGeom>
          <a:noFill/>
          <a:ln w="0">
            <a:noFill/>
            <a:prstDash val="solid"/>
          </a:ln>
        </p:spPr>
        <p:txBody>
          <a:bodyPr lIns="19050" tIns="19050" rIns="19050" bIns="19050" anchor="ctr">
            <a:normAutofit/>
          </a:bodyPr>
          <a:lstStyle/>
          <a:p>
            <a:pPr algn="ctr">
              <a:defRPr sz="825" b="1">
                <a:solidFill>
                  <a:srgbClr val="C95A00"/>
                </a:solidFill>
                <a:latin typeface="Arial"/>
                <a:ea typeface="Arial"/>
                <a:cs typeface="Arial"/>
              </a:defRPr>
            </a:pPr>
            <a:r>
              <a:rPr sz="825" b="1">
                <a:solidFill>
                  <a:srgbClr val="C95A00"/>
                </a:solidFill>
                <a:latin typeface="Arial"/>
                <a:ea typeface="Arial"/>
                <a:cs typeface="Arial"/>
              </a:rPr>
              <a:t>Part–colour (%)</a:t>
            </a:r>
          </a:p>
        </p:txBody>
      </p:sp>
      <p:graphicFrame>
        <p:nvGraphicFramePr>
          <p:cNvPr id="49" name="Chart"/>
          <p:cNvGraphicFramePr/>
          <p:nvPr/>
        </p:nvGraphicFramePr>
        <p:xfrm>
          <a:off x="3886200" y="1685925"/>
          <a:ext cx="2143125" cy="13239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0" name="Chart"/>
          <p:cNvGraphicFramePr/>
          <p:nvPr/>
        </p:nvGraphicFramePr>
        <p:xfrm>
          <a:off x="6305550" y="1685925"/>
          <a:ext cx="2143125" cy="132397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086258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42033E0-293F-4760-8E1C-D2576A14587B}"/>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6A874BC9-8EFB-4448-A052-0AB338EBCE98}"/>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10</a:t>
            </a:r>
            <a:endParaRPr sz="1700"/>
          </a:p>
        </p:txBody>
      </p:sp>
      <p:sp>
        <p:nvSpPr>
          <p:cNvPr id="4" name="Text 2">
            <a:extLst>
              <a:ext uri="{FF2B5EF4-FFF2-40B4-BE49-F238E27FC236}">
                <a16:creationId xmlns:a16="http://schemas.microsoft.com/office/drawing/2014/main" id="{86D787F5-27C6-4D8E-ACE0-FFD74F8C0EE0}"/>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The Aggregate Target Effect Includes Zero</a:t>
            </a:r>
            <a:endParaRPr sz="2100"/>
          </a:p>
        </p:txBody>
      </p:sp>
      <p:sp>
        <p:nvSpPr>
          <p:cNvPr id="5" name="Text 3">
            <a:extLst>
              <a:ext uri="{FF2B5EF4-FFF2-40B4-BE49-F238E27FC236}">
                <a16:creationId xmlns:a16="http://schemas.microsoft.com/office/drawing/2014/main" id="{39D0C23C-94A5-4CC5-849F-7898B2DE9D92}"/>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Statistical uncertainty blocks a positive output-level claim</a:t>
            </a:r>
            <a:endParaRPr sz="1150"/>
          </a:p>
        </p:txBody>
      </p:sp>
      <p:sp>
        <p:nvSpPr>
          <p:cNvPr id="6" name="Shape 4">
            <a:extLst>
              <a:ext uri="{FF2B5EF4-FFF2-40B4-BE49-F238E27FC236}">
                <a16:creationId xmlns:a16="http://schemas.microsoft.com/office/drawing/2014/main" id="{D15478CA-B10D-4A4E-9B4D-975E1D55453C}"/>
              </a:ext>
            </a:extLst>
          </p:cNvPr>
          <p:cNvSpPr>
            <a:spLocks noGrp="1"/>
          </p:cNvSpPr>
          <p:nvPr/>
        </p:nvSpPr>
        <p:spPr>
          <a:xfrm>
            <a:off x="365760" y="987552"/>
            <a:ext cx="2514600" cy="914400"/>
          </a:xfrm>
          <a:prstGeom prst="roundRect">
            <a:avLst>
              <a:gd name="adj" fmla="val 8000"/>
            </a:avLst>
          </a:prstGeom>
          <a:solidFill>
            <a:srgbClr val="F3F6FB"/>
          </a:solidFill>
          <a:ln w="12700">
            <a:solidFill>
              <a:srgbClr val="E8EEF7"/>
            </a:solidFill>
            <a:prstDash val="solid"/>
          </a:ln>
        </p:spPr>
        <p:txBody>
          <a:bodyPr/>
          <a:lstStyle/>
          <a:p>
            <a:endParaRPr/>
          </a:p>
        </p:txBody>
      </p:sp>
      <p:sp>
        <p:nvSpPr>
          <p:cNvPr id="7" name="Text 5">
            <a:extLst>
              <a:ext uri="{FF2B5EF4-FFF2-40B4-BE49-F238E27FC236}">
                <a16:creationId xmlns:a16="http://schemas.microsoft.com/office/drawing/2014/main" id="{2F1412B1-D18A-4C74-B451-E4C956308978}"/>
              </a:ext>
            </a:extLst>
          </p:cNvPr>
          <p:cNvSpPr>
            <a:spLocks noGrp="1"/>
          </p:cNvSpPr>
          <p:nvPr/>
        </p:nvSpPr>
        <p:spPr>
          <a:xfrm>
            <a:off x="365760" y="1042416"/>
            <a:ext cx="2514600" cy="237744"/>
          </a:xfrm>
          <a:prstGeom prst="rect">
            <a:avLst/>
          </a:prstGeom>
          <a:noFill/>
        </p:spPr>
        <p:txBody>
          <a:bodyPr wrap="square" anchor="ctr"/>
          <a:lstStyle/>
          <a:p>
            <a:pPr marL="0" indent="0" algn="ctr">
              <a:buNone/>
            </a:pPr>
            <a:r>
              <a:rPr sz="1100" b="1">
                <a:solidFill>
                  <a:srgbClr val="1F3864"/>
                </a:solidFill>
                <a:latin typeface="Arial"/>
                <a:ea typeface="Arial"/>
                <a:cs typeface="Arial"/>
              </a:rPr>
              <a:t>PART–COLOUR</a:t>
            </a:r>
            <a:endParaRPr sz="1100"/>
          </a:p>
        </p:txBody>
      </p:sp>
      <p:sp>
        <p:nvSpPr>
          <p:cNvPr id="8" name="Text 6">
            <a:extLst>
              <a:ext uri="{FF2B5EF4-FFF2-40B4-BE49-F238E27FC236}">
                <a16:creationId xmlns:a16="http://schemas.microsoft.com/office/drawing/2014/main" id="{450C30DB-4C19-47DD-A9B6-627BB661C0C2}"/>
              </a:ext>
            </a:extLst>
          </p:cNvPr>
          <p:cNvSpPr>
            <a:spLocks noGrp="1"/>
          </p:cNvSpPr>
          <p:nvPr/>
        </p:nvSpPr>
        <p:spPr>
          <a:xfrm>
            <a:off x="365760" y="1298448"/>
            <a:ext cx="2514600" cy="310896"/>
          </a:xfrm>
          <a:prstGeom prst="rect">
            <a:avLst/>
          </a:prstGeom>
          <a:noFill/>
        </p:spPr>
        <p:txBody>
          <a:bodyPr wrap="square" anchor="ctr"/>
          <a:lstStyle/>
          <a:p>
            <a:pPr marL="0" indent="0" algn="ctr">
              <a:buNone/>
            </a:pPr>
            <a:r>
              <a:rPr sz="1300" b="1">
                <a:solidFill>
                  <a:srgbClr val="0E7C7B"/>
                </a:solidFill>
                <a:latin typeface="Arial"/>
                <a:ea typeface="Arial"/>
                <a:cs typeface="Arial"/>
              </a:rPr>
              <a:t>−0.05 pp</a:t>
            </a:r>
            <a:endParaRPr sz="1300"/>
          </a:p>
        </p:txBody>
      </p:sp>
      <p:sp>
        <p:nvSpPr>
          <p:cNvPr id="9" name="Text 7">
            <a:extLst>
              <a:ext uri="{FF2B5EF4-FFF2-40B4-BE49-F238E27FC236}">
                <a16:creationId xmlns:a16="http://schemas.microsoft.com/office/drawing/2014/main" id="{D45201ED-BD42-4442-9A18-3502312799D2}"/>
              </a:ext>
            </a:extLst>
          </p:cNvPr>
          <p:cNvSpPr>
            <a:spLocks noGrp="1"/>
          </p:cNvSpPr>
          <p:nvPr/>
        </p:nvSpPr>
        <p:spPr>
          <a:xfrm>
            <a:off x="365760" y="1609344"/>
            <a:ext cx="2514600" cy="219456"/>
          </a:xfrm>
          <a:prstGeom prst="rect">
            <a:avLst/>
          </a:prstGeom>
          <a:noFill/>
        </p:spPr>
        <p:txBody>
          <a:bodyPr wrap="square" anchor="ctr"/>
          <a:lstStyle/>
          <a:p>
            <a:pPr marL="0" indent="0" algn="ctr">
              <a:buNone/>
            </a:pPr>
            <a:r>
              <a:rPr sz="1000">
                <a:solidFill>
                  <a:srgbClr val="6B7280"/>
                </a:solidFill>
                <a:latin typeface="Arial"/>
                <a:ea typeface="Arial"/>
                <a:cs typeface="Arial"/>
              </a:rPr>
              <a:t>95% CI [−0.15, +0.05]</a:t>
            </a:r>
            <a:endParaRPr sz="1000"/>
          </a:p>
        </p:txBody>
      </p:sp>
      <p:sp>
        <p:nvSpPr>
          <p:cNvPr id="10" name="Shape 8">
            <a:extLst>
              <a:ext uri="{FF2B5EF4-FFF2-40B4-BE49-F238E27FC236}">
                <a16:creationId xmlns:a16="http://schemas.microsoft.com/office/drawing/2014/main" id="{209427D6-8BED-4B02-BF85-E9B86B9A6013}"/>
              </a:ext>
            </a:extLst>
          </p:cNvPr>
          <p:cNvSpPr>
            <a:spLocks noGrp="1"/>
          </p:cNvSpPr>
          <p:nvPr/>
        </p:nvSpPr>
        <p:spPr>
          <a:xfrm>
            <a:off x="3017520" y="987552"/>
            <a:ext cx="2514600" cy="914400"/>
          </a:xfrm>
          <a:prstGeom prst="roundRect">
            <a:avLst>
              <a:gd name="adj" fmla="val 8000"/>
            </a:avLst>
          </a:prstGeom>
          <a:solidFill>
            <a:srgbClr val="F3F6FB"/>
          </a:solidFill>
          <a:ln w="12700">
            <a:solidFill>
              <a:srgbClr val="E8EEF7"/>
            </a:solidFill>
            <a:prstDash val="solid"/>
          </a:ln>
        </p:spPr>
        <p:txBody>
          <a:bodyPr/>
          <a:lstStyle/>
          <a:p>
            <a:endParaRPr/>
          </a:p>
        </p:txBody>
      </p:sp>
      <p:sp>
        <p:nvSpPr>
          <p:cNvPr id="11" name="Text 9">
            <a:extLst>
              <a:ext uri="{FF2B5EF4-FFF2-40B4-BE49-F238E27FC236}">
                <a16:creationId xmlns:a16="http://schemas.microsoft.com/office/drawing/2014/main" id="{F059D79F-1F88-402D-AF58-1A0DFAC31073}"/>
              </a:ext>
            </a:extLst>
          </p:cNvPr>
          <p:cNvSpPr>
            <a:spLocks noGrp="1"/>
          </p:cNvSpPr>
          <p:nvPr/>
        </p:nvSpPr>
        <p:spPr>
          <a:xfrm>
            <a:off x="3017520" y="1042416"/>
            <a:ext cx="2514600" cy="237744"/>
          </a:xfrm>
          <a:prstGeom prst="rect">
            <a:avLst/>
          </a:prstGeom>
          <a:noFill/>
        </p:spPr>
        <p:txBody>
          <a:bodyPr wrap="square" anchor="ctr"/>
          <a:lstStyle/>
          <a:p>
            <a:pPr marL="0" indent="0" algn="ctr">
              <a:buNone/>
            </a:pPr>
            <a:r>
              <a:rPr sz="1100" b="1">
                <a:solidFill>
                  <a:srgbClr val="1F3864"/>
                </a:solidFill>
                <a:latin typeface="Arial"/>
                <a:ea typeface="Arial"/>
                <a:cs typeface="Arial"/>
              </a:rPr>
              <a:t>R-PRECISION</a:t>
            </a:r>
            <a:endParaRPr sz="1100"/>
          </a:p>
        </p:txBody>
      </p:sp>
      <p:sp>
        <p:nvSpPr>
          <p:cNvPr id="12" name="Text 10">
            <a:extLst>
              <a:ext uri="{FF2B5EF4-FFF2-40B4-BE49-F238E27FC236}">
                <a16:creationId xmlns:a16="http://schemas.microsoft.com/office/drawing/2014/main" id="{15125CF9-E64E-413D-A9C9-58D7CBA467DE}"/>
              </a:ext>
            </a:extLst>
          </p:cNvPr>
          <p:cNvSpPr>
            <a:spLocks noGrp="1"/>
          </p:cNvSpPr>
          <p:nvPr/>
        </p:nvSpPr>
        <p:spPr>
          <a:xfrm>
            <a:off x="3017520" y="1298448"/>
            <a:ext cx="2514600" cy="310896"/>
          </a:xfrm>
          <a:prstGeom prst="rect">
            <a:avLst/>
          </a:prstGeom>
          <a:noFill/>
        </p:spPr>
        <p:txBody>
          <a:bodyPr wrap="square" anchor="ctr"/>
          <a:lstStyle/>
          <a:p>
            <a:pPr marL="0" indent="0" algn="ctr">
              <a:buNone/>
            </a:pPr>
            <a:r>
              <a:rPr sz="1300" b="1">
                <a:solidFill>
                  <a:srgbClr val="0E7C7B"/>
                </a:solidFill>
                <a:latin typeface="Arial"/>
                <a:ea typeface="Arial"/>
                <a:cs typeface="Arial"/>
              </a:rPr>
              <a:t>+0.05 pp</a:t>
            </a:r>
            <a:endParaRPr sz="1300"/>
          </a:p>
        </p:txBody>
      </p:sp>
      <p:sp>
        <p:nvSpPr>
          <p:cNvPr id="13" name="Text 11">
            <a:extLst>
              <a:ext uri="{FF2B5EF4-FFF2-40B4-BE49-F238E27FC236}">
                <a16:creationId xmlns:a16="http://schemas.microsoft.com/office/drawing/2014/main" id="{4B12CA28-EAC6-424E-977F-0D256A193A66}"/>
              </a:ext>
            </a:extLst>
          </p:cNvPr>
          <p:cNvSpPr>
            <a:spLocks noGrp="1"/>
          </p:cNvSpPr>
          <p:nvPr/>
        </p:nvSpPr>
        <p:spPr>
          <a:xfrm>
            <a:off x="3017520" y="1609344"/>
            <a:ext cx="2514600" cy="219456"/>
          </a:xfrm>
          <a:prstGeom prst="rect">
            <a:avLst/>
          </a:prstGeom>
          <a:noFill/>
        </p:spPr>
        <p:txBody>
          <a:bodyPr wrap="square" anchor="ctr"/>
          <a:lstStyle/>
          <a:p>
            <a:pPr marL="0" indent="0" algn="ctr">
              <a:buNone/>
            </a:pPr>
            <a:r>
              <a:rPr sz="1000">
                <a:solidFill>
                  <a:srgbClr val="0E7C7B"/>
                </a:solidFill>
                <a:latin typeface="Arial"/>
                <a:ea typeface="Arial"/>
                <a:cs typeface="Arial"/>
              </a:rPr>
              <a:t>95% CI [−0.05, +0.16]</a:t>
            </a:r>
            <a:endParaRPr sz="1000"/>
          </a:p>
        </p:txBody>
      </p:sp>
      <p:sp>
        <p:nvSpPr>
          <p:cNvPr id="14" name="Shape 12">
            <a:extLst>
              <a:ext uri="{FF2B5EF4-FFF2-40B4-BE49-F238E27FC236}">
                <a16:creationId xmlns:a16="http://schemas.microsoft.com/office/drawing/2014/main" id="{61B995AB-4B5D-4C87-AC92-116DE5001761}"/>
              </a:ext>
            </a:extLst>
          </p:cNvPr>
          <p:cNvSpPr>
            <a:spLocks noGrp="1"/>
          </p:cNvSpPr>
          <p:nvPr/>
        </p:nvSpPr>
        <p:spPr>
          <a:xfrm>
            <a:off x="5669280" y="987552"/>
            <a:ext cx="2514600" cy="914400"/>
          </a:xfrm>
          <a:prstGeom prst="roundRect">
            <a:avLst>
              <a:gd name="adj" fmla="val 8000"/>
            </a:avLst>
          </a:prstGeom>
          <a:solidFill>
            <a:srgbClr val="F3F6FB"/>
          </a:solidFill>
          <a:ln w="12700">
            <a:solidFill>
              <a:srgbClr val="E8EEF7"/>
            </a:solidFill>
            <a:prstDash val="solid"/>
          </a:ln>
        </p:spPr>
        <p:txBody>
          <a:bodyPr/>
          <a:lstStyle/>
          <a:p>
            <a:endParaRPr/>
          </a:p>
        </p:txBody>
      </p:sp>
      <p:sp>
        <p:nvSpPr>
          <p:cNvPr id="15" name="Text 13">
            <a:extLst>
              <a:ext uri="{FF2B5EF4-FFF2-40B4-BE49-F238E27FC236}">
                <a16:creationId xmlns:a16="http://schemas.microsoft.com/office/drawing/2014/main" id="{C2FC38CE-E5D7-4A53-BAE4-636F6B557FE0}"/>
              </a:ext>
            </a:extLst>
          </p:cNvPr>
          <p:cNvSpPr>
            <a:spLocks noGrp="1"/>
          </p:cNvSpPr>
          <p:nvPr/>
        </p:nvSpPr>
        <p:spPr>
          <a:xfrm>
            <a:off x="5669280" y="1042416"/>
            <a:ext cx="2514600" cy="237744"/>
          </a:xfrm>
          <a:prstGeom prst="rect">
            <a:avLst/>
          </a:prstGeom>
          <a:noFill/>
        </p:spPr>
        <p:txBody>
          <a:bodyPr wrap="square" anchor="ctr"/>
          <a:lstStyle/>
          <a:p>
            <a:pPr marL="0" indent="0" algn="ctr">
              <a:buNone/>
            </a:pPr>
            <a:r>
              <a:rPr sz="1100" b="1">
                <a:solidFill>
                  <a:srgbClr val="1F3864"/>
                </a:solidFill>
                <a:latin typeface="Arial"/>
                <a:ea typeface="Arial"/>
                <a:cs typeface="Arial"/>
              </a:rPr>
              <a:t>MEAN FID</a:t>
            </a:r>
            <a:endParaRPr sz="1100"/>
          </a:p>
        </p:txBody>
      </p:sp>
      <p:sp>
        <p:nvSpPr>
          <p:cNvPr id="16" name="Text 14">
            <a:extLst>
              <a:ext uri="{FF2B5EF4-FFF2-40B4-BE49-F238E27FC236}">
                <a16:creationId xmlns:a16="http://schemas.microsoft.com/office/drawing/2014/main" id="{6B3E4E52-3D7B-4F97-90B9-ADE4D1A41E6B}"/>
              </a:ext>
            </a:extLst>
          </p:cNvPr>
          <p:cNvSpPr>
            <a:spLocks noGrp="1"/>
          </p:cNvSpPr>
          <p:nvPr/>
        </p:nvSpPr>
        <p:spPr>
          <a:xfrm>
            <a:off x="5669280" y="1298448"/>
            <a:ext cx="2514600" cy="310896"/>
          </a:xfrm>
          <a:prstGeom prst="rect">
            <a:avLst/>
          </a:prstGeom>
          <a:noFill/>
        </p:spPr>
        <p:txBody>
          <a:bodyPr wrap="square" anchor="ctr"/>
          <a:lstStyle/>
          <a:p>
            <a:pPr marL="0" indent="0" algn="ctr">
              <a:buNone/>
            </a:pPr>
            <a:r>
              <a:rPr sz="1300" b="1">
                <a:solidFill>
                  <a:srgbClr val="0E7C7B"/>
                </a:solidFill>
                <a:latin typeface="Arial"/>
                <a:ea typeface="Arial"/>
                <a:cs typeface="Arial"/>
              </a:rPr>
              <a:t>+0.036</a:t>
            </a:r>
            <a:endParaRPr sz="1300"/>
          </a:p>
        </p:txBody>
      </p:sp>
      <p:sp>
        <p:nvSpPr>
          <p:cNvPr id="17" name="Text 15">
            <a:extLst>
              <a:ext uri="{FF2B5EF4-FFF2-40B4-BE49-F238E27FC236}">
                <a16:creationId xmlns:a16="http://schemas.microsoft.com/office/drawing/2014/main" id="{EA77FA44-1544-44E5-B687-C97481632849}"/>
              </a:ext>
            </a:extLst>
          </p:cNvPr>
          <p:cNvSpPr>
            <a:spLocks noGrp="1"/>
          </p:cNvSpPr>
          <p:nvPr/>
        </p:nvSpPr>
        <p:spPr>
          <a:xfrm>
            <a:off x="5669280" y="1609344"/>
            <a:ext cx="2514600" cy="219456"/>
          </a:xfrm>
          <a:prstGeom prst="rect">
            <a:avLst/>
          </a:prstGeom>
          <a:noFill/>
        </p:spPr>
        <p:txBody>
          <a:bodyPr wrap="square" anchor="ctr"/>
          <a:lstStyle/>
          <a:p>
            <a:pPr marL="0" indent="0" algn="ctr">
              <a:buNone/>
            </a:pPr>
            <a:r>
              <a:rPr sz="1000">
                <a:solidFill>
                  <a:srgbClr val="0E7C7B"/>
                </a:solidFill>
                <a:latin typeface="Arial"/>
                <a:ea typeface="Arial"/>
                <a:cs typeface="Arial"/>
              </a:rPr>
              <a:t>16.054 → 16.090</a:t>
            </a:r>
            <a:endParaRPr sz="1000"/>
          </a:p>
        </p:txBody>
      </p:sp>
      <p:sp>
        <p:nvSpPr>
          <p:cNvPr id="18" name="Shape 16">
            <a:extLst>
              <a:ext uri="{FF2B5EF4-FFF2-40B4-BE49-F238E27FC236}">
                <a16:creationId xmlns:a16="http://schemas.microsoft.com/office/drawing/2014/main" id="{910A018D-25F0-484E-9797-F482C798C4EE}"/>
              </a:ext>
            </a:extLst>
          </p:cNvPr>
          <p:cNvSpPr>
            <a:spLocks noGrp="1"/>
          </p:cNvSpPr>
          <p:nvPr/>
        </p:nvSpPr>
        <p:spPr>
          <a:xfrm>
            <a:off x="365760" y="2057400"/>
            <a:ext cx="3200400" cy="2514600"/>
          </a:xfrm>
          <a:prstGeom prst="roundRect">
            <a:avLst>
              <a:gd name="adj" fmla="val 2182"/>
            </a:avLst>
          </a:prstGeom>
          <a:solidFill>
            <a:srgbClr val="FFFFFF"/>
          </a:solidFill>
          <a:ln w="12700">
            <a:solidFill>
              <a:srgbClr val="E8EEF7"/>
            </a:solidFill>
            <a:prstDash val="solid"/>
          </a:ln>
        </p:spPr>
        <p:txBody>
          <a:bodyPr/>
          <a:lstStyle/>
          <a:p>
            <a:endParaRPr/>
          </a:p>
        </p:txBody>
      </p:sp>
      <p:sp>
        <p:nvSpPr>
          <p:cNvPr id="19" name="Text 17">
            <a:extLst>
              <a:ext uri="{FF2B5EF4-FFF2-40B4-BE49-F238E27FC236}">
                <a16:creationId xmlns:a16="http://schemas.microsoft.com/office/drawing/2014/main" id="{18E5DF4F-F942-4CAE-90A4-6E447A46583B}"/>
              </a:ext>
            </a:extLst>
          </p:cNvPr>
          <p:cNvSpPr>
            <a:spLocks noGrp="1"/>
          </p:cNvSpPr>
          <p:nvPr/>
        </p:nvSpPr>
        <p:spPr>
          <a:xfrm>
            <a:off x="365760" y="2167128"/>
            <a:ext cx="3200400" cy="219456"/>
          </a:xfrm>
          <a:prstGeom prst="rect">
            <a:avLst/>
          </a:prstGeom>
          <a:noFill/>
        </p:spPr>
        <p:txBody>
          <a:bodyPr wrap="square" anchor="ctr"/>
          <a:lstStyle/>
          <a:p>
            <a:pPr marL="0" indent="0" algn="ctr">
              <a:buNone/>
            </a:pPr>
            <a:r>
              <a:rPr sz="950" b="1">
                <a:solidFill>
                  <a:srgbClr val="1F3864"/>
                </a:solidFill>
                <a:latin typeface="Arial"/>
                <a:ea typeface="Arial"/>
                <a:cs typeface="Arial"/>
              </a:rPr>
              <a:t>C − B effects · 95% cluster bootstrap</a:t>
            </a:r>
            <a:endParaRPr sz="950"/>
          </a:p>
        </p:txBody>
      </p:sp>
      <p:sp>
        <p:nvSpPr>
          <p:cNvPr id="21" name="Shape 18">
            <a:extLst>
              <a:ext uri="{FF2B5EF4-FFF2-40B4-BE49-F238E27FC236}">
                <a16:creationId xmlns:a16="http://schemas.microsoft.com/office/drawing/2014/main" id="{04E22412-51DD-4D36-A2B7-3F4ED713CD3D}"/>
              </a:ext>
            </a:extLst>
          </p:cNvPr>
          <p:cNvSpPr>
            <a:spLocks noGrp="1"/>
          </p:cNvSpPr>
          <p:nvPr/>
        </p:nvSpPr>
        <p:spPr>
          <a:xfrm>
            <a:off x="3749040" y="2057400"/>
            <a:ext cx="2606040" cy="2514600"/>
          </a:xfrm>
          <a:prstGeom prst="roundRect">
            <a:avLst>
              <a:gd name="adj" fmla="val 2182"/>
            </a:avLst>
          </a:prstGeom>
          <a:solidFill>
            <a:srgbClr val="F3F6FB"/>
          </a:solidFill>
          <a:ln w="12700">
            <a:solidFill>
              <a:srgbClr val="E8EEF7"/>
            </a:solidFill>
            <a:prstDash val="solid"/>
          </a:ln>
        </p:spPr>
        <p:txBody>
          <a:bodyPr/>
          <a:lstStyle/>
          <a:p>
            <a:endParaRPr/>
          </a:p>
        </p:txBody>
      </p:sp>
      <p:sp>
        <p:nvSpPr>
          <p:cNvPr id="22" name="Shape 19">
            <a:extLst>
              <a:ext uri="{FF2B5EF4-FFF2-40B4-BE49-F238E27FC236}">
                <a16:creationId xmlns:a16="http://schemas.microsoft.com/office/drawing/2014/main" id="{A7E5B67C-75C7-450D-8B0A-31AFFD832C09}"/>
              </a:ext>
            </a:extLst>
          </p:cNvPr>
          <p:cNvSpPr>
            <a:spLocks noGrp="1"/>
          </p:cNvSpPr>
          <p:nvPr/>
        </p:nvSpPr>
        <p:spPr>
          <a:xfrm>
            <a:off x="3749040" y="2057400"/>
            <a:ext cx="2606040" cy="384048"/>
          </a:xfrm>
          <a:prstGeom prst="roundRect">
            <a:avLst>
              <a:gd name="adj" fmla="val 14286"/>
            </a:avLst>
          </a:prstGeom>
          <a:solidFill>
            <a:srgbClr val="0E7C7B"/>
          </a:solidFill>
        </p:spPr>
        <p:txBody>
          <a:bodyPr/>
          <a:lstStyle/>
          <a:p>
            <a:endParaRPr/>
          </a:p>
        </p:txBody>
      </p:sp>
      <p:sp>
        <p:nvSpPr>
          <p:cNvPr id="23" name="Text 20">
            <a:extLst>
              <a:ext uri="{FF2B5EF4-FFF2-40B4-BE49-F238E27FC236}">
                <a16:creationId xmlns:a16="http://schemas.microsoft.com/office/drawing/2014/main" id="{8C8735C6-9915-4A8C-83CE-1C6FE22E0C0B}"/>
              </a:ext>
            </a:extLst>
          </p:cNvPr>
          <p:cNvSpPr>
            <a:spLocks noGrp="1"/>
          </p:cNvSpPr>
          <p:nvPr/>
        </p:nvSpPr>
        <p:spPr>
          <a:xfrm>
            <a:off x="3749040" y="2103120"/>
            <a:ext cx="2606040" cy="292608"/>
          </a:xfrm>
          <a:prstGeom prst="rect">
            <a:avLst/>
          </a:prstGeom>
          <a:noFill/>
        </p:spPr>
        <p:txBody>
          <a:bodyPr wrap="square" anchor="ctr"/>
          <a:lstStyle/>
          <a:p>
            <a:pPr marL="0" indent="0" algn="ctr">
              <a:buNone/>
            </a:pPr>
            <a:r>
              <a:rPr sz="1200" b="1">
                <a:solidFill>
                  <a:srgbClr val="FFFFFF"/>
                </a:solidFill>
                <a:latin typeface="Arial"/>
                <a:ea typeface="Arial"/>
                <a:cs typeface="Arial"/>
              </a:rPr>
              <a:t>Aggregate Tests</a:t>
            </a:r>
            <a:endParaRPr sz="1200"/>
          </a:p>
        </p:txBody>
      </p:sp>
      <p:sp>
        <p:nvSpPr>
          <p:cNvPr id="24" name="Shape 21">
            <a:extLst>
              <a:ext uri="{FF2B5EF4-FFF2-40B4-BE49-F238E27FC236}">
                <a16:creationId xmlns:a16="http://schemas.microsoft.com/office/drawing/2014/main" id="{15E9028B-B096-4ADD-B8AF-350CF8E727A4}"/>
              </a:ext>
            </a:extLst>
          </p:cNvPr>
          <p:cNvSpPr>
            <a:spLocks noGrp="1"/>
          </p:cNvSpPr>
          <p:nvPr/>
        </p:nvSpPr>
        <p:spPr>
          <a:xfrm>
            <a:off x="3886200" y="2542032"/>
            <a:ext cx="1417320" cy="256032"/>
          </a:xfrm>
          <a:prstGeom prst="rect">
            <a:avLst/>
          </a:prstGeom>
          <a:solidFill>
            <a:srgbClr val="FFFFFF"/>
          </a:solidFill>
        </p:spPr>
        <p:txBody>
          <a:bodyPr/>
          <a:lstStyle/>
          <a:p>
            <a:endParaRPr/>
          </a:p>
        </p:txBody>
      </p:sp>
      <p:sp>
        <p:nvSpPr>
          <p:cNvPr id="25" name="Text 22">
            <a:extLst>
              <a:ext uri="{FF2B5EF4-FFF2-40B4-BE49-F238E27FC236}">
                <a16:creationId xmlns:a16="http://schemas.microsoft.com/office/drawing/2014/main" id="{E282EB35-AED1-4DA1-AA9D-719232572F0A}"/>
              </a:ext>
            </a:extLst>
          </p:cNvPr>
          <p:cNvSpPr>
            <a:spLocks noGrp="1"/>
          </p:cNvSpPr>
          <p:nvPr/>
        </p:nvSpPr>
        <p:spPr>
          <a:xfrm>
            <a:off x="3886200" y="2542032"/>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Part–colour CI</a:t>
            </a:r>
            <a:endParaRPr sz="1000"/>
          </a:p>
        </p:txBody>
      </p:sp>
      <p:sp>
        <p:nvSpPr>
          <p:cNvPr id="26" name="Shape 23">
            <a:extLst>
              <a:ext uri="{FF2B5EF4-FFF2-40B4-BE49-F238E27FC236}">
                <a16:creationId xmlns:a16="http://schemas.microsoft.com/office/drawing/2014/main" id="{D2D95AA9-7624-492A-826E-C084DE221374}"/>
              </a:ext>
            </a:extLst>
          </p:cNvPr>
          <p:cNvSpPr>
            <a:spLocks noGrp="1"/>
          </p:cNvSpPr>
          <p:nvPr/>
        </p:nvSpPr>
        <p:spPr>
          <a:xfrm>
            <a:off x="5349240" y="2542032"/>
            <a:ext cx="868680" cy="256032"/>
          </a:xfrm>
          <a:prstGeom prst="rect">
            <a:avLst/>
          </a:prstGeom>
          <a:solidFill>
            <a:srgbClr val="FFFFFF"/>
          </a:solidFill>
        </p:spPr>
        <p:txBody>
          <a:bodyPr/>
          <a:lstStyle/>
          <a:p>
            <a:endParaRPr/>
          </a:p>
        </p:txBody>
      </p:sp>
      <p:sp>
        <p:nvSpPr>
          <p:cNvPr id="27" name="Text 24">
            <a:extLst>
              <a:ext uri="{FF2B5EF4-FFF2-40B4-BE49-F238E27FC236}">
                <a16:creationId xmlns:a16="http://schemas.microsoft.com/office/drawing/2014/main" id="{78983770-A30C-4C42-9252-16C7F9D1D2BF}"/>
              </a:ext>
            </a:extLst>
          </p:cNvPr>
          <p:cNvSpPr>
            <a:spLocks noGrp="1"/>
          </p:cNvSpPr>
          <p:nvPr/>
        </p:nvSpPr>
        <p:spPr>
          <a:xfrm>
            <a:off x="5349240" y="2542032"/>
            <a:ext cx="868680" cy="256032"/>
          </a:xfrm>
          <a:prstGeom prst="rect">
            <a:avLst/>
          </a:prstGeom>
          <a:noFill/>
        </p:spPr>
        <p:txBody>
          <a:bodyPr wrap="square" anchor="ctr"/>
          <a:lstStyle/>
          <a:p>
            <a:pPr marL="0" indent="0" algn="r">
              <a:buNone/>
            </a:pPr>
            <a:r>
              <a:rPr sz="1000">
                <a:solidFill>
                  <a:srgbClr val="1F2937"/>
                </a:solidFill>
                <a:latin typeface="Arial"/>
                <a:ea typeface="Arial"/>
                <a:cs typeface="Arial"/>
              </a:rPr>
              <a:t>[−0.149, +0.054]</a:t>
            </a:r>
            <a:endParaRPr sz="1000"/>
          </a:p>
        </p:txBody>
      </p:sp>
      <p:sp>
        <p:nvSpPr>
          <p:cNvPr id="28" name="Shape 25">
            <a:extLst>
              <a:ext uri="{FF2B5EF4-FFF2-40B4-BE49-F238E27FC236}">
                <a16:creationId xmlns:a16="http://schemas.microsoft.com/office/drawing/2014/main" id="{14E75BCC-EC34-4828-9BCD-5AAFBED7E29F}"/>
              </a:ext>
            </a:extLst>
          </p:cNvPr>
          <p:cNvSpPr>
            <a:spLocks noGrp="1"/>
          </p:cNvSpPr>
          <p:nvPr/>
        </p:nvSpPr>
        <p:spPr>
          <a:xfrm>
            <a:off x="3886200" y="2834640"/>
            <a:ext cx="1417320" cy="256032"/>
          </a:xfrm>
          <a:prstGeom prst="rect">
            <a:avLst/>
          </a:prstGeom>
          <a:solidFill>
            <a:srgbClr val="FFFFFF"/>
          </a:solidFill>
        </p:spPr>
        <p:txBody>
          <a:bodyPr/>
          <a:lstStyle/>
          <a:p>
            <a:endParaRPr/>
          </a:p>
        </p:txBody>
      </p:sp>
      <p:sp>
        <p:nvSpPr>
          <p:cNvPr id="29" name="Text 26">
            <a:extLst>
              <a:ext uri="{FF2B5EF4-FFF2-40B4-BE49-F238E27FC236}">
                <a16:creationId xmlns:a16="http://schemas.microsoft.com/office/drawing/2014/main" id="{FC02901C-5B15-47B1-88AD-9933EB867698}"/>
              </a:ext>
            </a:extLst>
          </p:cNvPr>
          <p:cNvSpPr>
            <a:spLocks noGrp="1"/>
          </p:cNvSpPr>
          <p:nvPr/>
        </p:nvSpPr>
        <p:spPr>
          <a:xfrm>
            <a:off x="3886200" y="2834640"/>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R-precision CI</a:t>
            </a:r>
            <a:endParaRPr sz="1000"/>
          </a:p>
        </p:txBody>
      </p:sp>
      <p:sp>
        <p:nvSpPr>
          <p:cNvPr id="30" name="Shape 27">
            <a:extLst>
              <a:ext uri="{FF2B5EF4-FFF2-40B4-BE49-F238E27FC236}">
                <a16:creationId xmlns:a16="http://schemas.microsoft.com/office/drawing/2014/main" id="{3EFD5C0F-3F25-43C5-8280-4213299E0C08}"/>
              </a:ext>
            </a:extLst>
          </p:cNvPr>
          <p:cNvSpPr>
            <a:spLocks noGrp="1"/>
          </p:cNvSpPr>
          <p:nvPr/>
        </p:nvSpPr>
        <p:spPr>
          <a:xfrm>
            <a:off x="5349240" y="2834640"/>
            <a:ext cx="868680" cy="256032"/>
          </a:xfrm>
          <a:prstGeom prst="rect">
            <a:avLst/>
          </a:prstGeom>
          <a:solidFill>
            <a:srgbClr val="FFFFFF"/>
          </a:solidFill>
        </p:spPr>
        <p:txBody>
          <a:bodyPr/>
          <a:lstStyle/>
          <a:p>
            <a:endParaRPr/>
          </a:p>
        </p:txBody>
      </p:sp>
      <p:sp>
        <p:nvSpPr>
          <p:cNvPr id="31" name="Text 28">
            <a:extLst>
              <a:ext uri="{FF2B5EF4-FFF2-40B4-BE49-F238E27FC236}">
                <a16:creationId xmlns:a16="http://schemas.microsoft.com/office/drawing/2014/main" id="{C9E8CA0C-7248-49EE-A680-8870F4D411AB}"/>
              </a:ext>
            </a:extLst>
          </p:cNvPr>
          <p:cNvSpPr>
            <a:spLocks noGrp="1"/>
          </p:cNvSpPr>
          <p:nvPr/>
        </p:nvSpPr>
        <p:spPr>
          <a:xfrm>
            <a:off x="5349240" y="2834640"/>
            <a:ext cx="868680" cy="256032"/>
          </a:xfrm>
          <a:prstGeom prst="rect">
            <a:avLst/>
          </a:prstGeom>
          <a:noFill/>
        </p:spPr>
        <p:txBody>
          <a:bodyPr wrap="square" anchor="ctr"/>
          <a:lstStyle/>
          <a:p>
            <a:pPr marL="0" indent="0" algn="r">
              <a:buNone/>
            </a:pPr>
            <a:r>
              <a:rPr sz="1000">
                <a:solidFill>
                  <a:srgbClr val="1F2937"/>
                </a:solidFill>
                <a:latin typeface="Arial"/>
                <a:ea typeface="Arial"/>
                <a:cs typeface="Arial"/>
              </a:rPr>
              <a:t>[−0.049, +0.155]</a:t>
            </a:r>
            <a:endParaRPr sz="1000"/>
          </a:p>
        </p:txBody>
      </p:sp>
      <p:sp>
        <p:nvSpPr>
          <p:cNvPr id="32" name="Shape 29">
            <a:extLst>
              <a:ext uri="{FF2B5EF4-FFF2-40B4-BE49-F238E27FC236}">
                <a16:creationId xmlns:a16="http://schemas.microsoft.com/office/drawing/2014/main" id="{1FBFCD48-BAEE-46B8-B315-48F867BF3CDC}"/>
              </a:ext>
            </a:extLst>
          </p:cNvPr>
          <p:cNvSpPr>
            <a:spLocks noGrp="1"/>
          </p:cNvSpPr>
          <p:nvPr/>
        </p:nvSpPr>
        <p:spPr>
          <a:xfrm>
            <a:off x="3886200" y="3127248"/>
            <a:ext cx="1417320" cy="256032"/>
          </a:xfrm>
          <a:prstGeom prst="rect">
            <a:avLst/>
          </a:prstGeom>
          <a:solidFill>
            <a:srgbClr val="FFFFFF"/>
          </a:solidFill>
        </p:spPr>
        <p:txBody>
          <a:bodyPr/>
          <a:lstStyle/>
          <a:p>
            <a:endParaRPr/>
          </a:p>
        </p:txBody>
      </p:sp>
      <p:sp>
        <p:nvSpPr>
          <p:cNvPr id="33" name="Text 30">
            <a:extLst>
              <a:ext uri="{FF2B5EF4-FFF2-40B4-BE49-F238E27FC236}">
                <a16:creationId xmlns:a16="http://schemas.microsoft.com/office/drawing/2014/main" id="{FAE2B877-07C5-4EC7-87BE-6283B17D6FDE}"/>
              </a:ext>
            </a:extLst>
          </p:cNvPr>
          <p:cNvSpPr>
            <a:spLocks noGrp="1"/>
          </p:cNvSpPr>
          <p:nvPr/>
        </p:nvSpPr>
        <p:spPr>
          <a:xfrm>
            <a:off x="3886200" y="3127248"/>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McNemar · colour</a:t>
            </a:r>
            <a:endParaRPr sz="1000"/>
          </a:p>
        </p:txBody>
      </p:sp>
      <p:sp>
        <p:nvSpPr>
          <p:cNvPr id="34" name="Shape 31">
            <a:extLst>
              <a:ext uri="{FF2B5EF4-FFF2-40B4-BE49-F238E27FC236}">
                <a16:creationId xmlns:a16="http://schemas.microsoft.com/office/drawing/2014/main" id="{94B2B480-F874-4AB5-8005-3873B839307F}"/>
              </a:ext>
            </a:extLst>
          </p:cNvPr>
          <p:cNvSpPr>
            <a:spLocks noGrp="1"/>
          </p:cNvSpPr>
          <p:nvPr/>
        </p:nvSpPr>
        <p:spPr>
          <a:xfrm>
            <a:off x="5349240" y="3127248"/>
            <a:ext cx="868680" cy="256032"/>
          </a:xfrm>
          <a:prstGeom prst="rect">
            <a:avLst/>
          </a:prstGeom>
          <a:solidFill>
            <a:srgbClr val="FFFFFF"/>
          </a:solidFill>
        </p:spPr>
        <p:txBody>
          <a:bodyPr/>
          <a:lstStyle/>
          <a:p>
            <a:endParaRPr/>
          </a:p>
        </p:txBody>
      </p:sp>
      <p:sp>
        <p:nvSpPr>
          <p:cNvPr id="35" name="Text 32">
            <a:extLst>
              <a:ext uri="{FF2B5EF4-FFF2-40B4-BE49-F238E27FC236}">
                <a16:creationId xmlns:a16="http://schemas.microsoft.com/office/drawing/2014/main" id="{3B2DDE6F-2829-48E1-878C-B68392D47D00}"/>
              </a:ext>
            </a:extLst>
          </p:cNvPr>
          <p:cNvSpPr>
            <a:spLocks noGrp="1"/>
          </p:cNvSpPr>
          <p:nvPr/>
        </p:nvSpPr>
        <p:spPr>
          <a:xfrm>
            <a:off x="5349240" y="3127248"/>
            <a:ext cx="868680" cy="256032"/>
          </a:xfrm>
          <a:prstGeom prst="rect">
            <a:avLst/>
          </a:prstGeom>
          <a:noFill/>
        </p:spPr>
        <p:txBody>
          <a:bodyPr wrap="square" anchor="ctr"/>
          <a:lstStyle/>
          <a:p>
            <a:pPr marL="0" indent="0" algn="r">
              <a:buNone/>
            </a:pPr>
            <a:r>
              <a:rPr sz="1000">
                <a:solidFill>
                  <a:srgbClr val="1F2937"/>
                </a:solidFill>
                <a:latin typeface="Arial"/>
                <a:ea typeface="Arial"/>
                <a:cs typeface="Arial"/>
              </a:rPr>
              <a:t>p = 0.327</a:t>
            </a:r>
            <a:endParaRPr sz="1000"/>
          </a:p>
        </p:txBody>
      </p:sp>
      <p:sp>
        <p:nvSpPr>
          <p:cNvPr id="36" name="Shape 33">
            <a:extLst>
              <a:ext uri="{FF2B5EF4-FFF2-40B4-BE49-F238E27FC236}">
                <a16:creationId xmlns:a16="http://schemas.microsoft.com/office/drawing/2014/main" id="{484B58E1-96B3-4CCC-992D-A7238D012D05}"/>
              </a:ext>
            </a:extLst>
          </p:cNvPr>
          <p:cNvSpPr>
            <a:spLocks noGrp="1"/>
          </p:cNvSpPr>
          <p:nvPr/>
        </p:nvSpPr>
        <p:spPr>
          <a:xfrm>
            <a:off x="3886200" y="3419856"/>
            <a:ext cx="1417320" cy="256032"/>
          </a:xfrm>
          <a:prstGeom prst="rect">
            <a:avLst/>
          </a:prstGeom>
          <a:solidFill>
            <a:srgbClr val="FFFFFF"/>
          </a:solidFill>
        </p:spPr>
        <p:txBody>
          <a:bodyPr/>
          <a:lstStyle/>
          <a:p>
            <a:endParaRPr/>
          </a:p>
        </p:txBody>
      </p:sp>
      <p:sp>
        <p:nvSpPr>
          <p:cNvPr id="37" name="Text 34">
            <a:extLst>
              <a:ext uri="{FF2B5EF4-FFF2-40B4-BE49-F238E27FC236}">
                <a16:creationId xmlns:a16="http://schemas.microsoft.com/office/drawing/2014/main" id="{396891A0-A658-4543-B466-F6630CB9694C}"/>
              </a:ext>
            </a:extLst>
          </p:cNvPr>
          <p:cNvSpPr>
            <a:spLocks noGrp="1"/>
          </p:cNvSpPr>
          <p:nvPr/>
        </p:nvSpPr>
        <p:spPr>
          <a:xfrm>
            <a:off x="3886200" y="3419856"/>
            <a:ext cx="1417320" cy="256032"/>
          </a:xfrm>
          <a:prstGeom prst="rect">
            <a:avLst/>
          </a:prstGeom>
          <a:noFill/>
        </p:spPr>
        <p:txBody>
          <a:bodyPr wrap="square" anchor="ctr"/>
          <a:lstStyle/>
          <a:p>
            <a:pPr marL="0" indent="0" algn="l">
              <a:buNone/>
            </a:pPr>
            <a:r>
              <a:rPr sz="1000">
                <a:solidFill>
                  <a:srgbClr val="1F2937"/>
                </a:solidFill>
                <a:latin typeface="Arial"/>
                <a:ea typeface="Arial"/>
                <a:cs typeface="Arial"/>
              </a:rPr>
              <a:t>McNemar · R</a:t>
            </a:r>
            <a:endParaRPr sz="1000"/>
          </a:p>
        </p:txBody>
      </p:sp>
      <p:sp>
        <p:nvSpPr>
          <p:cNvPr id="38" name="Shape 35">
            <a:extLst>
              <a:ext uri="{FF2B5EF4-FFF2-40B4-BE49-F238E27FC236}">
                <a16:creationId xmlns:a16="http://schemas.microsoft.com/office/drawing/2014/main" id="{1DD621A3-6695-4789-A97D-6D6BB7805A02}"/>
              </a:ext>
            </a:extLst>
          </p:cNvPr>
          <p:cNvSpPr>
            <a:spLocks noGrp="1"/>
          </p:cNvSpPr>
          <p:nvPr/>
        </p:nvSpPr>
        <p:spPr>
          <a:xfrm>
            <a:off x="5349240" y="3419856"/>
            <a:ext cx="868680" cy="256032"/>
          </a:xfrm>
          <a:prstGeom prst="rect">
            <a:avLst/>
          </a:prstGeom>
          <a:solidFill>
            <a:srgbClr val="FFFFFF"/>
          </a:solidFill>
        </p:spPr>
        <p:txBody>
          <a:bodyPr/>
          <a:lstStyle/>
          <a:p>
            <a:endParaRPr/>
          </a:p>
        </p:txBody>
      </p:sp>
      <p:sp>
        <p:nvSpPr>
          <p:cNvPr id="39" name="Text 36">
            <a:extLst>
              <a:ext uri="{FF2B5EF4-FFF2-40B4-BE49-F238E27FC236}">
                <a16:creationId xmlns:a16="http://schemas.microsoft.com/office/drawing/2014/main" id="{F9D4D6D4-A3AF-4B00-84D5-ABFF0C59ED89}"/>
              </a:ext>
            </a:extLst>
          </p:cNvPr>
          <p:cNvSpPr>
            <a:spLocks noGrp="1"/>
          </p:cNvSpPr>
          <p:nvPr/>
        </p:nvSpPr>
        <p:spPr>
          <a:xfrm>
            <a:off x="5349240" y="3419856"/>
            <a:ext cx="868680" cy="256032"/>
          </a:xfrm>
          <a:prstGeom prst="rect">
            <a:avLst/>
          </a:prstGeom>
          <a:noFill/>
        </p:spPr>
        <p:txBody>
          <a:bodyPr wrap="square" anchor="ctr"/>
          <a:lstStyle/>
          <a:p>
            <a:pPr marL="0" indent="0" algn="r">
              <a:buNone/>
            </a:pPr>
            <a:r>
              <a:rPr sz="1000" b="1">
                <a:solidFill>
                  <a:srgbClr val="0E7C7B"/>
                </a:solidFill>
                <a:latin typeface="Arial"/>
                <a:ea typeface="Arial"/>
                <a:cs typeface="Arial"/>
              </a:rPr>
              <a:t>p = 0.354</a:t>
            </a:r>
            <a:endParaRPr sz="1000"/>
          </a:p>
        </p:txBody>
      </p:sp>
      <p:sp>
        <p:nvSpPr>
          <p:cNvPr id="40" name="Shape 37">
            <a:extLst>
              <a:ext uri="{FF2B5EF4-FFF2-40B4-BE49-F238E27FC236}">
                <a16:creationId xmlns:a16="http://schemas.microsoft.com/office/drawing/2014/main" id="{27BEF71D-C0CA-4059-8A5F-EBFB23CB90DA}"/>
              </a:ext>
            </a:extLst>
          </p:cNvPr>
          <p:cNvSpPr>
            <a:spLocks noGrp="1"/>
          </p:cNvSpPr>
          <p:nvPr/>
        </p:nvSpPr>
        <p:spPr>
          <a:xfrm>
            <a:off x="6537960" y="2057400"/>
            <a:ext cx="2240280" cy="2514600"/>
          </a:xfrm>
          <a:prstGeom prst="roundRect">
            <a:avLst>
              <a:gd name="adj" fmla="val 2449"/>
            </a:avLst>
          </a:prstGeom>
          <a:solidFill>
            <a:srgbClr val="E8EEF7"/>
          </a:solidFill>
          <a:ln w="12700">
            <a:solidFill>
              <a:srgbClr val="1F3864"/>
            </a:solidFill>
            <a:prstDash val="solid"/>
          </a:ln>
        </p:spPr>
        <p:txBody>
          <a:bodyPr/>
          <a:lstStyle/>
          <a:p>
            <a:endParaRPr/>
          </a:p>
        </p:txBody>
      </p:sp>
      <p:sp>
        <p:nvSpPr>
          <p:cNvPr id="41" name="Text 38">
            <a:extLst>
              <a:ext uri="{FF2B5EF4-FFF2-40B4-BE49-F238E27FC236}">
                <a16:creationId xmlns:a16="http://schemas.microsoft.com/office/drawing/2014/main" id="{15E5423D-1610-4AF9-80A2-0E7DE6164A39}"/>
              </a:ext>
            </a:extLst>
          </p:cNvPr>
          <p:cNvSpPr>
            <a:spLocks noGrp="1"/>
          </p:cNvSpPr>
          <p:nvPr/>
        </p:nvSpPr>
        <p:spPr>
          <a:xfrm>
            <a:off x="6675120" y="2286000"/>
            <a:ext cx="1965960" cy="2103120"/>
          </a:xfrm>
          <a:prstGeom prst="rect">
            <a:avLst/>
          </a:prstGeom>
          <a:noFill/>
        </p:spPr>
        <p:txBody>
          <a:bodyPr wrap="square" anchor="t"/>
          <a:lstStyle/>
          <a:p>
            <a:pPr marL="0" indent="0">
              <a:lnSpc>
                <a:spcPts val="1200"/>
              </a:lnSpc>
              <a:buNone/>
            </a:pPr>
            <a:r>
              <a:rPr sz="1050" b="1">
                <a:solidFill>
                  <a:srgbClr val="0E7C7B"/>
                </a:solidFill>
                <a:latin typeface="Arial"/>
                <a:ea typeface="Arial"/>
                <a:cs typeface="Arial"/>
              </a:rPr>
              <a:t>NOT DEMONSTRATED
Part–colour CI crosses zero. FID is worse in every seed, though inside the +1 safeguard.
The output-level benefit was not demonstrated.</a:t>
            </a:r>
            <a:endParaRPr sz="1050"/>
          </a:p>
        </p:txBody>
      </p:sp>
      <p:sp>
        <p:nvSpPr>
          <p:cNvPr id="42" name="Text 39">
            <a:extLst>
              <a:ext uri="{FF2B5EF4-FFF2-40B4-BE49-F238E27FC236}">
                <a16:creationId xmlns:a16="http://schemas.microsoft.com/office/drawing/2014/main" id="{C9FDAE8B-3432-48F3-888E-12DA1A71A5EF}"/>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11 / 15</a:t>
            </a:r>
            <a:endParaRPr sz="900"/>
          </a:p>
        </p:txBody>
      </p:sp>
      <p:sp>
        <p:nvSpPr>
          <p:cNvPr id="43" name="Shape 40">
            <a:extLst>
              <a:ext uri="{FF2B5EF4-FFF2-40B4-BE49-F238E27FC236}">
                <a16:creationId xmlns:a16="http://schemas.microsoft.com/office/drawing/2014/main" id="{DCA28C56-AA96-4580-87E6-BB3388540693}"/>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44" name="Shape 41">
            <a:extLst>
              <a:ext uri="{FF2B5EF4-FFF2-40B4-BE49-F238E27FC236}">
                <a16:creationId xmlns:a16="http://schemas.microsoft.com/office/drawing/2014/main" id="{E098D422-8079-448A-A059-BA1D79E04C9A}"/>
              </a:ext>
            </a:extLst>
          </p:cNvPr>
          <p:cNvSpPr>
            <a:spLocks noGrp="1"/>
          </p:cNvSpPr>
          <p:nvPr/>
        </p:nvSpPr>
        <p:spPr>
          <a:xfrm>
            <a:off x="7955280" y="4864608"/>
            <a:ext cx="759655" cy="54864"/>
          </a:xfrm>
          <a:prstGeom prst="rect">
            <a:avLst/>
          </a:prstGeom>
          <a:solidFill>
            <a:srgbClr val="1F3864"/>
          </a:solidFill>
        </p:spPr>
        <p:txBody>
          <a:bodyPr/>
          <a:lstStyle/>
          <a:p>
            <a:endParaRPr/>
          </a:p>
        </p:txBody>
      </p:sp>
      <p:sp>
        <p:nvSpPr>
          <p:cNvPr id="45" name="ci-part-label">
            <a:extLst>
              <a:ext uri="{FF2B5EF4-FFF2-40B4-BE49-F238E27FC236}">
                <a16:creationId xmlns:a16="http://schemas.microsoft.com/office/drawing/2014/main" id="{74FA66CD-A5A2-4DAA-8466-FE18FCC2447C}"/>
              </a:ext>
            </a:extLst>
          </p:cNvPr>
          <p:cNvSpPr>
            <a:spLocks noGrp="1"/>
          </p:cNvSpPr>
          <p:nvPr/>
        </p:nvSpPr>
        <p:spPr>
          <a:xfrm>
            <a:off x="457200" y="2667000"/>
            <a:ext cx="876300" cy="266700"/>
          </a:xfrm>
          <a:prstGeom prst="rect">
            <a:avLst/>
          </a:prstGeom>
          <a:noFill/>
          <a:ln w="0">
            <a:noFill/>
            <a:prstDash val="solid"/>
          </a:ln>
        </p:spPr>
        <p:txBody>
          <a:bodyPr lIns="19050" tIns="19050" rIns="19050" bIns="19050" anchor="ctr">
            <a:normAutofit/>
          </a:bodyPr>
          <a:lstStyle/>
          <a:p>
            <a:pPr algn="l">
              <a:defRPr sz="825" b="1">
                <a:solidFill>
                  <a:srgbClr val="C95A00"/>
                </a:solidFill>
                <a:latin typeface="Arial"/>
                <a:ea typeface="Arial"/>
                <a:cs typeface="Arial"/>
              </a:defRPr>
            </a:pPr>
            <a:r>
              <a:rPr sz="825" b="1">
                <a:solidFill>
                  <a:srgbClr val="C95A00"/>
                </a:solidFill>
                <a:latin typeface="Arial"/>
                <a:ea typeface="Arial"/>
                <a:cs typeface="Arial"/>
              </a:rPr>
              <a:t>Part–colour</a:t>
            </a:r>
          </a:p>
        </p:txBody>
      </p:sp>
      <p:sp>
        <p:nvSpPr>
          <p:cNvPr id="46" name="ci-r-label">
            <a:extLst>
              <a:ext uri="{FF2B5EF4-FFF2-40B4-BE49-F238E27FC236}">
                <a16:creationId xmlns:a16="http://schemas.microsoft.com/office/drawing/2014/main" id="{F1D4E41C-0D01-4D35-82BF-A8E92D3741D7}"/>
              </a:ext>
            </a:extLst>
          </p:cNvPr>
          <p:cNvSpPr>
            <a:spLocks noGrp="1"/>
          </p:cNvSpPr>
          <p:nvPr/>
        </p:nvSpPr>
        <p:spPr>
          <a:xfrm>
            <a:off x="457200" y="3333750"/>
            <a:ext cx="876300" cy="266700"/>
          </a:xfrm>
          <a:prstGeom prst="rect">
            <a:avLst/>
          </a:prstGeom>
          <a:noFill/>
          <a:ln w="0">
            <a:noFill/>
            <a:prstDash val="solid"/>
          </a:ln>
        </p:spPr>
        <p:txBody>
          <a:bodyPr lIns="19050" tIns="19050" rIns="19050" bIns="19050" anchor="ctr">
            <a:normAutofit/>
          </a:bodyPr>
          <a:lstStyle/>
          <a:p>
            <a:pPr algn="l">
              <a:defRPr sz="825" b="1">
                <a:solidFill>
                  <a:srgbClr val="0F7C83"/>
                </a:solidFill>
                <a:latin typeface="Arial"/>
                <a:ea typeface="Arial"/>
                <a:cs typeface="Arial"/>
              </a:defRPr>
            </a:pPr>
            <a:r>
              <a:rPr sz="825" b="1">
                <a:solidFill>
                  <a:srgbClr val="0F7C83"/>
                </a:solidFill>
                <a:latin typeface="Arial"/>
                <a:ea typeface="Arial"/>
                <a:cs typeface="Arial"/>
              </a:rPr>
              <a:t>R-precision</a:t>
            </a:r>
          </a:p>
        </p:txBody>
      </p:sp>
      <p:graphicFrame>
        <p:nvGraphicFramePr>
          <p:cNvPr id="92" name="Chart"/>
          <p:cNvGraphicFramePr/>
          <p:nvPr/>
        </p:nvGraphicFramePr>
        <p:xfrm>
          <a:off x="1190625" y="2457450"/>
          <a:ext cx="2238375" cy="1695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67216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CF48FBC-5516-46E8-B1B3-4422E39ABF29}"/>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3935D704-B055-41E6-A77E-B865147F474F}"/>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11</a:t>
            </a:r>
            <a:endParaRPr sz="1700"/>
          </a:p>
        </p:txBody>
      </p:sp>
      <p:sp>
        <p:nvSpPr>
          <p:cNvPr id="4" name="Text 2">
            <a:extLst>
              <a:ext uri="{FF2B5EF4-FFF2-40B4-BE49-F238E27FC236}">
                <a16:creationId xmlns:a16="http://schemas.microsoft.com/office/drawing/2014/main" id="{B17940FC-87FD-4A32-A243-064BB3F757A9}"/>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The Proxy Moved; the Output Did Not</a:t>
            </a:r>
            <a:endParaRPr sz="2100"/>
          </a:p>
        </p:txBody>
      </p:sp>
      <p:sp>
        <p:nvSpPr>
          <p:cNvPr id="5" name="Text 3">
            <a:extLst>
              <a:ext uri="{FF2B5EF4-FFF2-40B4-BE49-F238E27FC236}">
                <a16:creationId xmlns:a16="http://schemas.microsoft.com/office/drawing/2014/main" id="{292556EE-53A4-4EE5-B725-48E2FF45ADA1}"/>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Mechanism activation is necessary, but it is not the research outcome</a:t>
            </a:r>
            <a:endParaRPr sz="1150"/>
          </a:p>
        </p:txBody>
      </p:sp>
      <p:sp>
        <p:nvSpPr>
          <p:cNvPr id="6" name="Shape 4">
            <a:extLst>
              <a:ext uri="{FF2B5EF4-FFF2-40B4-BE49-F238E27FC236}">
                <a16:creationId xmlns:a16="http://schemas.microsoft.com/office/drawing/2014/main" id="{EE1C6AEA-F400-482A-8C22-74E93EF3E8E1}"/>
              </a:ext>
            </a:extLst>
          </p:cNvPr>
          <p:cNvSpPr>
            <a:spLocks noGrp="1"/>
          </p:cNvSpPr>
          <p:nvPr/>
        </p:nvSpPr>
        <p:spPr>
          <a:xfrm>
            <a:off x="365760" y="1051560"/>
            <a:ext cx="4114800" cy="1965960"/>
          </a:xfrm>
          <a:prstGeom prst="roundRect">
            <a:avLst>
              <a:gd name="adj" fmla="val 2791"/>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40A6FFFA-C25D-4F23-9DDA-7579C5B30542}"/>
              </a:ext>
            </a:extLst>
          </p:cNvPr>
          <p:cNvSpPr>
            <a:spLocks noGrp="1"/>
          </p:cNvSpPr>
          <p:nvPr/>
        </p:nvSpPr>
        <p:spPr>
          <a:xfrm>
            <a:off x="365760" y="1051560"/>
            <a:ext cx="4114800" cy="384048"/>
          </a:xfrm>
          <a:prstGeom prst="roundRect">
            <a:avLst>
              <a:gd name="adj" fmla="val 14286"/>
            </a:avLst>
          </a:prstGeom>
          <a:solidFill>
            <a:srgbClr val="0E7C7B"/>
          </a:solidFill>
        </p:spPr>
        <p:txBody>
          <a:bodyPr/>
          <a:lstStyle/>
          <a:p>
            <a:endParaRPr/>
          </a:p>
        </p:txBody>
      </p:sp>
      <p:sp>
        <p:nvSpPr>
          <p:cNvPr id="8" name="Text 6">
            <a:extLst>
              <a:ext uri="{FF2B5EF4-FFF2-40B4-BE49-F238E27FC236}">
                <a16:creationId xmlns:a16="http://schemas.microsoft.com/office/drawing/2014/main" id="{45E21CAE-E99E-4449-9483-ABFCB6C9837A}"/>
              </a:ext>
            </a:extLst>
          </p:cNvPr>
          <p:cNvSpPr>
            <a:spLocks noGrp="1"/>
          </p:cNvSpPr>
          <p:nvPr/>
        </p:nvSpPr>
        <p:spPr>
          <a:xfrm>
            <a:off x="365760" y="1097280"/>
            <a:ext cx="411480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Directly Optimized</a:t>
            </a:r>
            <a:endParaRPr sz="1250"/>
          </a:p>
        </p:txBody>
      </p:sp>
      <p:sp>
        <p:nvSpPr>
          <p:cNvPr id="9" name="Text 7">
            <a:extLst>
              <a:ext uri="{FF2B5EF4-FFF2-40B4-BE49-F238E27FC236}">
                <a16:creationId xmlns:a16="http://schemas.microsoft.com/office/drawing/2014/main" id="{F219D6E4-CED7-414C-BEEA-1FE492CA9AE8}"/>
              </a:ext>
            </a:extLst>
          </p:cNvPr>
          <p:cNvSpPr>
            <a:spLocks noGrp="1"/>
          </p:cNvSpPr>
          <p:nvPr/>
        </p:nvSpPr>
        <p:spPr>
          <a:xfrm>
            <a:off x="530352" y="1536192"/>
            <a:ext cx="3785616" cy="1371600"/>
          </a:xfrm>
          <a:prstGeom prst="rect">
            <a:avLst/>
          </a:prstGeom>
          <a:noFill/>
        </p:spPr>
        <p:txBody>
          <a:bodyPr wrap="square" anchor="t"/>
          <a:lstStyle/>
          <a:p>
            <a:pPr marL="0" indent="0">
              <a:lnSpc>
                <a:spcPts val="1300"/>
              </a:lnSpc>
              <a:buNone/>
            </a:pPr>
            <a:r>
              <a:rPr sz="1150" b="1">
                <a:solidFill>
                  <a:srgbClr val="0E7C7B"/>
                </a:solidFill>
                <a:latin typeface="Arial"/>
                <a:ea typeface="Arial"/>
                <a:cs typeface="Arial"/>
              </a:rPr>
              <a:t>Attention CE
11.2554 → 11.2499
Δ −0.0055 · lower is better
Annotated-support mass
Δ +0.0009 pp</a:t>
            </a:r>
            <a:endParaRPr sz="1150"/>
          </a:p>
        </p:txBody>
      </p:sp>
      <p:sp>
        <p:nvSpPr>
          <p:cNvPr id="10" name="Shape 8">
            <a:extLst>
              <a:ext uri="{FF2B5EF4-FFF2-40B4-BE49-F238E27FC236}">
                <a16:creationId xmlns:a16="http://schemas.microsoft.com/office/drawing/2014/main" id="{C5B43479-84BF-450A-8CB1-E203678106B3}"/>
              </a:ext>
            </a:extLst>
          </p:cNvPr>
          <p:cNvSpPr>
            <a:spLocks noGrp="1"/>
          </p:cNvSpPr>
          <p:nvPr/>
        </p:nvSpPr>
        <p:spPr>
          <a:xfrm>
            <a:off x="4663440" y="1051560"/>
            <a:ext cx="4114800" cy="1965960"/>
          </a:xfrm>
          <a:prstGeom prst="roundRect">
            <a:avLst>
              <a:gd name="adj" fmla="val 2791"/>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50A67230-E38C-4078-B9C1-8232B31DF0B7}"/>
              </a:ext>
            </a:extLst>
          </p:cNvPr>
          <p:cNvSpPr>
            <a:spLocks noGrp="1"/>
          </p:cNvSpPr>
          <p:nvPr/>
        </p:nvSpPr>
        <p:spPr>
          <a:xfrm>
            <a:off x="4663440" y="1051560"/>
            <a:ext cx="4114800" cy="384048"/>
          </a:xfrm>
          <a:prstGeom prst="roundRect">
            <a:avLst>
              <a:gd name="adj" fmla="val 14286"/>
            </a:avLst>
          </a:prstGeom>
          <a:solidFill>
            <a:srgbClr val="C55A11"/>
          </a:solidFill>
        </p:spPr>
        <p:txBody>
          <a:bodyPr/>
          <a:lstStyle/>
          <a:p>
            <a:endParaRPr/>
          </a:p>
        </p:txBody>
      </p:sp>
      <p:sp>
        <p:nvSpPr>
          <p:cNvPr id="12" name="Text 10">
            <a:extLst>
              <a:ext uri="{FF2B5EF4-FFF2-40B4-BE49-F238E27FC236}">
                <a16:creationId xmlns:a16="http://schemas.microsoft.com/office/drawing/2014/main" id="{593DBB63-AFBF-404D-B369-0B07A2371ADD}"/>
              </a:ext>
            </a:extLst>
          </p:cNvPr>
          <p:cNvSpPr>
            <a:spLocks noGrp="1"/>
          </p:cNvSpPr>
          <p:nvPr/>
        </p:nvSpPr>
        <p:spPr>
          <a:xfrm>
            <a:off x="4663440" y="1097280"/>
            <a:ext cx="411480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Observed Output</a:t>
            </a:r>
            <a:endParaRPr sz="1250"/>
          </a:p>
        </p:txBody>
      </p:sp>
      <p:sp>
        <p:nvSpPr>
          <p:cNvPr id="13" name="Text 11">
            <a:extLst>
              <a:ext uri="{FF2B5EF4-FFF2-40B4-BE49-F238E27FC236}">
                <a16:creationId xmlns:a16="http://schemas.microsoft.com/office/drawing/2014/main" id="{9A136CF3-5921-4AA1-8C00-40146DBD2329}"/>
              </a:ext>
            </a:extLst>
          </p:cNvPr>
          <p:cNvSpPr>
            <a:spLocks noGrp="1"/>
          </p:cNvSpPr>
          <p:nvPr/>
        </p:nvSpPr>
        <p:spPr>
          <a:xfrm>
            <a:off x="4828032" y="1536192"/>
            <a:ext cx="3785616" cy="1371600"/>
          </a:xfrm>
          <a:prstGeom prst="rect">
            <a:avLst/>
          </a:prstGeom>
          <a:noFill/>
        </p:spPr>
        <p:txBody>
          <a:bodyPr wrap="square" anchor="ctr"/>
          <a:lstStyle/>
          <a:p>
            <a:pPr marL="0" indent="0">
              <a:lnSpc>
                <a:spcPts val="1300"/>
              </a:lnSpc>
              <a:buNone/>
            </a:pPr>
            <a:r>
              <a:rPr sz="1150">
                <a:solidFill>
                  <a:srgbClr val="1F2937"/>
                </a:solidFill>
                <a:latin typeface="Arial"/>
                <a:ea typeface="Arial"/>
                <a:cs typeface="Arial"/>
              </a:rPr>
              <a:t>Part–colour
Δ −0.05 pp · CI crosses zero
FID
Δ +0.036 · worse</a:t>
            </a:r>
            <a:endParaRPr sz="1150"/>
          </a:p>
        </p:txBody>
      </p:sp>
      <p:sp>
        <p:nvSpPr>
          <p:cNvPr id="14" name="Shape 12">
            <a:extLst>
              <a:ext uri="{FF2B5EF4-FFF2-40B4-BE49-F238E27FC236}">
                <a16:creationId xmlns:a16="http://schemas.microsoft.com/office/drawing/2014/main" id="{698F6D3F-65A2-4063-970C-672547457398}"/>
              </a:ext>
            </a:extLst>
          </p:cNvPr>
          <p:cNvSpPr>
            <a:spLocks noGrp="1"/>
          </p:cNvSpPr>
          <p:nvPr/>
        </p:nvSpPr>
        <p:spPr>
          <a:xfrm>
            <a:off x="365760" y="3200400"/>
            <a:ext cx="8412480" cy="1051560"/>
          </a:xfrm>
          <a:prstGeom prst="roundRect">
            <a:avLst>
              <a:gd name="adj" fmla="val 5217"/>
            </a:avLst>
          </a:prstGeom>
          <a:solidFill>
            <a:srgbClr val="E8EEF7"/>
          </a:solidFill>
          <a:ln w="12700">
            <a:solidFill>
              <a:srgbClr val="1F3864"/>
            </a:solidFill>
            <a:prstDash val="solid"/>
          </a:ln>
        </p:spPr>
        <p:txBody>
          <a:bodyPr/>
          <a:lstStyle/>
          <a:p>
            <a:endParaRPr/>
          </a:p>
        </p:txBody>
      </p:sp>
      <p:sp>
        <p:nvSpPr>
          <p:cNvPr id="15" name="Text 13">
            <a:extLst>
              <a:ext uri="{FF2B5EF4-FFF2-40B4-BE49-F238E27FC236}">
                <a16:creationId xmlns:a16="http://schemas.microsoft.com/office/drawing/2014/main" id="{3B7523DB-1162-4458-A8C5-9F39F60753E3}"/>
              </a:ext>
            </a:extLst>
          </p:cNvPr>
          <p:cNvSpPr>
            <a:spLocks noGrp="1"/>
          </p:cNvSpPr>
          <p:nvPr/>
        </p:nvSpPr>
        <p:spPr>
          <a:xfrm>
            <a:off x="548640" y="3310128"/>
            <a:ext cx="8046720" cy="292608"/>
          </a:xfrm>
          <a:prstGeom prst="rect">
            <a:avLst/>
          </a:prstGeom>
          <a:noFill/>
        </p:spPr>
        <p:txBody>
          <a:bodyPr wrap="square" anchor="ctr"/>
          <a:lstStyle/>
          <a:p>
            <a:pPr marL="0" indent="0">
              <a:buNone/>
            </a:pPr>
            <a:r>
              <a:rPr sz="1250" b="1">
                <a:solidFill>
                  <a:srgbClr val="1F3864"/>
                </a:solidFill>
                <a:latin typeface="Arial"/>
                <a:ea typeface="Arial"/>
                <a:cs typeface="Arial"/>
              </a:rPr>
              <a:t>Interpretation</a:t>
            </a:r>
            <a:endParaRPr sz="1250"/>
          </a:p>
        </p:txBody>
      </p:sp>
      <p:sp>
        <p:nvSpPr>
          <p:cNvPr id="16" name="Text 14">
            <a:extLst>
              <a:ext uri="{FF2B5EF4-FFF2-40B4-BE49-F238E27FC236}">
                <a16:creationId xmlns:a16="http://schemas.microsoft.com/office/drawing/2014/main" id="{19B8858B-0D95-4C89-8B99-F82B974E1D2A}"/>
              </a:ext>
            </a:extLst>
          </p:cNvPr>
          <p:cNvSpPr>
            <a:spLocks noGrp="1"/>
          </p:cNvSpPr>
          <p:nvPr/>
        </p:nvSpPr>
        <p:spPr>
          <a:xfrm>
            <a:off x="548640" y="3630168"/>
            <a:ext cx="8046720" cy="548640"/>
          </a:xfrm>
          <a:prstGeom prst="rect">
            <a:avLst/>
          </a:prstGeom>
          <a:noFill/>
        </p:spPr>
        <p:txBody>
          <a:bodyPr wrap="square" anchor="ctr"/>
          <a:lstStyle/>
          <a:p>
            <a:pPr marL="0" indent="0">
              <a:lnSpc>
                <a:spcPts val="1200"/>
              </a:lnSpc>
              <a:buNone/>
            </a:pPr>
            <a:r>
              <a:rPr sz="1150">
                <a:solidFill>
                  <a:srgbClr val="1F2937"/>
                </a:solidFill>
                <a:latin typeface="Arial"/>
                <a:ea typeface="Arial"/>
                <a:cs typeface="Arial"/>
              </a:rPr>
              <a:t>Gradients reached the intended attention mechanism, but the ~0.05% proxy shift did not transfer to reliable generated-image behaviour.</a:t>
            </a:r>
            <a:endParaRPr sz="1150"/>
          </a:p>
        </p:txBody>
      </p:sp>
      <p:sp>
        <p:nvSpPr>
          <p:cNvPr id="17" name="Text 15">
            <a:extLst>
              <a:ext uri="{FF2B5EF4-FFF2-40B4-BE49-F238E27FC236}">
                <a16:creationId xmlns:a16="http://schemas.microsoft.com/office/drawing/2014/main" id="{2EC6DB93-7D28-4417-98CD-8923EF138480}"/>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12 / 15</a:t>
            </a:r>
            <a:endParaRPr sz="900"/>
          </a:p>
        </p:txBody>
      </p:sp>
      <p:sp>
        <p:nvSpPr>
          <p:cNvPr id="18" name="Shape 16">
            <a:extLst>
              <a:ext uri="{FF2B5EF4-FFF2-40B4-BE49-F238E27FC236}">
                <a16:creationId xmlns:a16="http://schemas.microsoft.com/office/drawing/2014/main" id="{84555E5B-078E-493D-AD28-7D2608621E18}"/>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19" name="Shape 17">
            <a:extLst>
              <a:ext uri="{FF2B5EF4-FFF2-40B4-BE49-F238E27FC236}">
                <a16:creationId xmlns:a16="http://schemas.microsoft.com/office/drawing/2014/main" id="{55C9039F-C1CA-4D5F-AB9B-8D239443A79A}"/>
              </a:ext>
            </a:extLst>
          </p:cNvPr>
          <p:cNvSpPr>
            <a:spLocks noGrp="1"/>
          </p:cNvSpPr>
          <p:nvPr/>
        </p:nvSpPr>
        <p:spPr>
          <a:xfrm>
            <a:off x="7955280" y="4864608"/>
            <a:ext cx="506437"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1036377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4DB82D0-6891-4AB5-BE2E-438155B74737}"/>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FFC4E628-D939-4507-9B6A-668DDDB4B5BF}"/>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12</a:t>
            </a:r>
            <a:endParaRPr sz="1700"/>
          </a:p>
        </p:txBody>
      </p:sp>
      <p:sp>
        <p:nvSpPr>
          <p:cNvPr id="4" name="Text 2">
            <a:extLst>
              <a:ext uri="{FF2B5EF4-FFF2-40B4-BE49-F238E27FC236}">
                <a16:creationId xmlns:a16="http://schemas.microsoft.com/office/drawing/2014/main" id="{179CECD0-2166-4B08-959D-7B0B0360D36F}"/>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Fixed, Unfiltered Pairs Look Mixed</a:t>
            </a:r>
            <a:endParaRPr sz="2100"/>
          </a:p>
        </p:txBody>
      </p:sp>
      <p:sp>
        <p:nvSpPr>
          <p:cNvPr id="5" name="Text 3">
            <a:extLst>
              <a:ext uri="{FF2B5EF4-FFF2-40B4-BE49-F238E27FC236}">
                <a16:creationId xmlns:a16="http://schemas.microsoft.com/office/drawing/2014/main" id="{A6CF5A49-AF1A-4581-8402-0F52FBFF43F4}"/>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Complete fixed preview · seed 20260824 · B top, C bottom · no cherry-picking</a:t>
            </a:r>
            <a:endParaRPr sz="1150"/>
          </a:p>
        </p:txBody>
      </p:sp>
      <p:pic>
        <p:nvPicPr>
          <p:cNvPr id="25" name="Image 0"/>
          <p:cNvPicPr>
            <a:picLocks noChangeAspect="1"/>
          </p:cNvPicPr>
          <p:nvPr/>
        </p:nvPicPr>
        <p:blipFill>
          <a:blip r:embed="rId3"/>
          <a:stretch/>
        </p:blipFill>
        <p:spPr>
          <a:xfrm>
            <a:off x="1152930" y="914400"/>
            <a:ext cx="6838141" cy="1714500"/>
          </a:xfrm>
          <a:prstGeom prst="rect">
            <a:avLst/>
          </a:prstGeom>
        </p:spPr>
      </p:pic>
      <p:sp>
        <p:nvSpPr>
          <p:cNvPr id="12" name="Shape 9">
            <a:extLst>
              <a:ext uri="{FF2B5EF4-FFF2-40B4-BE49-F238E27FC236}">
                <a16:creationId xmlns:a16="http://schemas.microsoft.com/office/drawing/2014/main" id="{E71F0BD6-95FD-47E4-A7D6-A4F8B8BDC67B}"/>
              </a:ext>
            </a:extLst>
          </p:cNvPr>
          <p:cNvSpPr>
            <a:spLocks noGrp="1"/>
          </p:cNvSpPr>
          <p:nvPr/>
        </p:nvSpPr>
        <p:spPr>
          <a:xfrm>
            <a:off x="365760" y="2606040"/>
            <a:ext cx="3931920" cy="1691640"/>
          </a:xfrm>
          <a:prstGeom prst="roundRect">
            <a:avLst>
              <a:gd name="adj" fmla="val 3243"/>
            </a:avLst>
          </a:prstGeom>
          <a:solidFill>
            <a:srgbClr val="E8EEF7"/>
          </a:solidFill>
          <a:ln w="12700">
            <a:solidFill>
              <a:srgbClr val="1F3864"/>
            </a:solidFill>
            <a:prstDash val="solid"/>
          </a:ln>
        </p:spPr>
        <p:txBody>
          <a:bodyPr/>
          <a:lstStyle/>
          <a:p>
            <a:endParaRPr/>
          </a:p>
        </p:txBody>
      </p:sp>
      <p:sp>
        <p:nvSpPr>
          <p:cNvPr id="13" name="Text 10">
            <a:extLst>
              <a:ext uri="{FF2B5EF4-FFF2-40B4-BE49-F238E27FC236}">
                <a16:creationId xmlns:a16="http://schemas.microsoft.com/office/drawing/2014/main" id="{6A7B28F2-968F-408C-8F74-9032CA47A4B8}"/>
              </a:ext>
            </a:extLst>
          </p:cNvPr>
          <p:cNvSpPr>
            <a:spLocks noGrp="1"/>
          </p:cNvSpPr>
          <p:nvPr/>
        </p:nvSpPr>
        <p:spPr>
          <a:xfrm>
            <a:off x="502920" y="2697480"/>
            <a:ext cx="3703320" cy="292608"/>
          </a:xfrm>
          <a:prstGeom prst="rect">
            <a:avLst/>
          </a:prstGeom>
          <a:noFill/>
        </p:spPr>
        <p:txBody>
          <a:bodyPr wrap="square" anchor="ctr"/>
          <a:lstStyle/>
          <a:p>
            <a:pPr marL="0" indent="0">
              <a:buNone/>
            </a:pPr>
            <a:r>
              <a:rPr sz="1200" b="1">
                <a:solidFill>
                  <a:srgbClr val="1F3864"/>
                </a:solidFill>
                <a:latin typeface="Arial"/>
                <a:ea typeface="Arial"/>
                <a:cs typeface="Arial"/>
              </a:rPr>
              <a:t>Visual Reading</a:t>
            </a:r>
            <a:endParaRPr sz="1200"/>
          </a:p>
        </p:txBody>
      </p:sp>
      <p:sp>
        <p:nvSpPr>
          <p:cNvPr id="14" name="Text 11">
            <a:extLst>
              <a:ext uri="{FF2B5EF4-FFF2-40B4-BE49-F238E27FC236}">
                <a16:creationId xmlns:a16="http://schemas.microsoft.com/office/drawing/2014/main" id="{735485C1-8A36-4D2F-A3F4-EF52DE506B71}"/>
              </a:ext>
            </a:extLst>
          </p:cNvPr>
          <p:cNvSpPr>
            <a:spLocks noGrp="1"/>
          </p:cNvSpPr>
          <p:nvPr/>
        </p:nvSpPr>
        <p:spPr>
          <a:xfrm>
            <a:off x="502920" y="3035808"/>
            <a:ext cx="3703320" cy="1188720"/>
          </a:xfrm>
          <a:prstGeom prst="rect">
            <a:avLst/>
          </a:prstGeom>
          <a:noFill/>
        </p:spPr>
        <p:txBody>
          <a:bodyPr wrap="square" anchor="t"/>
          <a:lstStyle/>
          <a:p>
            <a:pPr marL="0" indent="0">
              <a:lnSpc>
                <a:spcPts val="1200"/>
              </a:lnSpc>
              <a:buNone/>
            </a:pPr>
            <a:r>
              <a:rPr sz="1100" b="1">
                <a:solidFill>
                  <a:srgbClr val="1F3864"/>
                </a:solidFill>
                <a:latin typeface="Arial"/>
                <a:ea typeface="Arial"/>
                <a:cs typeface="Arial"/>
              </a:rPr>
              <a:t>Differences are subtle: C sometimes looks better, sometimes similar, and sometimes worse. The grid agrees with the mixed metrics.</a:t>
            </a:r>
            <a:endParaRPr sz="1100"/>
          </a:p>
        </p:txBody>
      </p:sp>
      <p:sp>
        <p:nvSpPr>
          <p:cNvPr id="15" name="Shape 12">
            <a:extLst>
              <a:ext uri="{FF2B5EF4-FFF2-40B4-BE49-F238E27FC236}">
                <a16:creationId xmlns:a16="http://schemas.microsoft.com/office/drawing/2014/main" id="{CC991CC7-EF31-4C13-9803-71A1294255E5}"/>
              </a:ext>
            </a:extLst>
          </p:cNvPr>
          <p:cNvSpPr>
            <a:spLocks noGrp="1"/>
          </p:cNvSpPr>
          <p:nvPr/>
        </p:nvSpPr>
        <p:spPr>
          <a:xfrm>
            <a:off x="4617720" y="3474720"/>
            <a:ext cx="4160520" cy="731520"/>
          </a:xfrm>
          <a:prstGeom prst="roundRect">
            <a:avLst>
              <a:gd name="adj" fmla="val 7500"/>
            </a:avLst>
          </a:prstGeom>
          <a:solidFill>
            <a:srgbClr val="E8EEF7"/>
          </a:solidFill>
          <a:ln w="12700">
            <a:solidFill>
              <a:srgbClr val="0E7C7B"/>
            </a:solidFill>
            <a:prstDash val="solid"/>
          </a:ln>
        </p:spPr>
        <p:txBody>
          <a:bodyPr/>
          <a:lstStyle/>
          <a:p>
            <a:endParaRPr/>
          </a:p>
        </p:txBody>
      </p:sp>
      <p:sp>
        <p:nvSpPr>
          <p:cNvPr id="16" name="Text 13">
            <a:extLst>
              <a:ext uri="{FF2B5EF4-FFF2-40B4-BE49-F238E27FC236}">
                <a16:creationId xmlns:a16="http://schemas.microsoft.com/office/drawing/2014/main" id="{410DC54F-C4DF-4C35-92D2-B846F7A6FE2A}"/>
              </a:ext>
            </a:extLst>
          </p:cNvPr>
          <p:cNvSpPr>
            <a:spLocks noGrp="1"/>
          </p:cNvSpPr>
          <p:nvPr/>
        </p:nvSpPr>
        <p:spPr>
          <a:xfrm>
            <a:off x="4736592" y="3547872"/>
            <a:ext cx="3931920" cy="585216"/>
          </a:xfrm>
          <a:prstGeom prst="rect">
            <a:avLst/>
          </a:prstGeom>
          <a:noFill/>
        </p:spPr>
        <p:txBody>
          <a:bodyPr wrap="square" anchor="ctr"/>
          <a:lstStyle/>
          <a:p>
            <a:pPr marL="0" indent="0">
              <a:lnSpc>
                <a:spcPts val="1100"/>
              </a:lnSpc>
              <a:buNone/>
            </a:pPr>
            <a:r>
              <a:rPr sz="1000" i="1">
                <a:solidFill>
                  <a:srgbClr val="1F2937"/>
                </a:solidFill>
                <a:latin typeface="Arial"/>
                <a:ea typeface="Arial"/>
                <a:cs typeface="Arial"/>
              </a:rPr>
              <a:t>B = baseline control · C = part-aware variant · full paired grid shown</a:t>
            </a:r>
            <a:endParaRPr sz="1000"/>
          </a:p>
        </p:txBody>
      </p:sp>
      <p:sp>
        <p:nvSpPr>
          <p:cNvPr id="17" name="Text 14">
            <a:extLst>
              <a:ext uri="{FF2B5EF4-FFF2-40B4-BE49-F238E27FC236}">
                <a16:creationId xmlns:a16="http://schemas.microsoft.com/office/drawing/2014/main" id="{02EC6E58-54C7-49E1-AF72-466AB39823B1}"/>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13 / 15</a:t>
            </a:r>
            <a:endParaRPr sz="900"/>
          </a:p>
        </p:txBody>
      </p:sp>
      <p:sp>
        <p:nvSpPr>
          <p:cNvPr id="18" name="Shape 15">
            <a:extLst>
              <a:ext uri="{FF2B5EF4-FFF2-40B4-BE49-F238E27FC236}">
                <a16:creationId xmlns:a16="http://schemas.microsoft.com/office/drawing/2014/main" id="{3349BC4C-F591-486D-96E7-3BD830A105F3}"/>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19" name="Shape 16">
            <a:extLst>
              <a:ext uri="{FF2B5EF4-FFF2-40B4-BE49-F238E27FC236}">
                <a16:creationId xmlns:a16="http://schemas.microsoft.com/office/drawing/2014/main" id="{C18D53C2-8212-4B2C-83B1-C7AF1853E8AE}"/>
              </a:ext>
            </a:extLst>
          </p:cNvPr>
          <p:cNvSpPr>
            <a:spLocks noGrp="1"/>
          </p:cNvSpPr>
          <p:nvPr/>
        </p:nvSpPr>
        <p:spPr>
          <a:xfrm>
            <a:off x="7955280" y="4864608"/>
            <a:ext cx="696351"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1142425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CF48FBC-5516-46E8-B1B3-4422E39ABF29}"/>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3935D704-B055-41E6-A77E-B865147F474F}"/>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13</a:t>
            </a:r>
            <a:endParaRPr sz="1700"/>
          </a:p>
        </p:txBody>
      </p:sp>
      <p:sp>
        <p:nvSpPr>
          <p:cNvPr id="4" name="Text 2">
            <a:extLst>
              <a:ext uri="{FF2B5EF4-FFF2-40B4-BE49-F238E27FC236}">
                <a16:creationId xmlns:a16="http://schemas.microsoft.com/office/drawing/2014/main" id="{B17940FC-87FD-4A32-A243-064BB3F757A9}"/>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What This Experiment Can and Cannot Establish</a:t>
            </a:r>
            <a:endParaRPr sz="2100"/>
          </a:p>
        </p:txBody>
      </p:sp>
      <p:sp>
        <p:nvSpPr>
          <p:cNvPr id="5" name="Text 3">
            <a:extLst>
              <a:ext uri="{FF2B5EF4-FFF2-40B4-BE49-F238E27FC236}">
                <a16:creationId xmlns:a16="http://schemas.microsoft.com/office/drawing/2014/main" id="{292556EE-53A4-4EE5-B725-48E2FF45ADA1}"/>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A fair fine-tuning test with clear limits</a:t>
            </a:r>
            <a:endParaRPr sz="1150"/>
          </a:p>
        </p:txBody>
      </p:sp>
      <p:sp>
        <p:nvSpPr>
          <p:cNvPr id="6" name="Shape 4">
            <a:extLst>
              <a:ext uri="{FF2B5EF4-FFF2-40B4-BE49-F238E27FC236}">
                <a16:creationId xmlns:a16="http://schemas.microsoft.com/office/drawing/2014/main" id="{EE1C6AEA-F400-482A-8C22-74E93EF3E8E1}"/>
              </a:ext>
            </a:extLst>
          </p:cNvPr>
          <p:cNvSpPr>
            <a:spLocks noGrp="1"/>
          </p:cNvSpPr>
          <p:nvPr/>
        </p:nvSpPr>
        <p:spPr>
          <a:xfrm>
            <a:off x="365760" y="1051560"/>
            <a:ext cx="4114800" cy="1965960"/>
          </a:xfrm>
          <a:prstGeom prst="roundRect">
            <a:avLst>
              <a:gd name="adj" fmla="val 2791"/>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40A6FFFA-C25D-4F23-9DDA-7579C5B30542}"/>
              </a:ext>
            </a:extLst>
          </p:cNvPr>
          <p:cNvSpPr>
            <a:spLocks noGrp="1"/>
          </p:cNvSpPr>
          <p:nvPr/>
        </p:nvSpPr>
        <p:spPr>
          <a:xfrm>
            <a:off x="365760" y="1051560"/>
            <a:ext cx="4114800" cy="384048"/>
          </a:xfrm>
          <a:prstGeom prst="roundRect">
            <a:avLst>
              <a:gd name="adj" fmla="val 14286"/>
            </a:avLst>
          </a:prstGeom>
          <a:solidFill>
            <a:srgbClr val="0E7C7B"/>
          </a:solidFill>
        </p:spPr>
        <p:txBody>
          <a:bodyPr/>
          <a:lstStyle/>
          <a:p>
            <a:endParaRPr/>
          </a:p>
        </p:txBody>
      </p:sp>
      <p:sp>
        <p:nvSpPr>
          <p:cNvPr id="8" name="Text 6">
            <a:extLst>
              <a:ext uri="{FF2B5EF4-FFF2-40B4-BE49-F238E27FC236}">
                <a16:creationId xmlns:a16="http://schemas.microsoft.com/office/drawing/2014/main" id="{45E21CAE-E99E-4449-9483-ABFCB6C9837A}"/>
              </a:ext>
            </a:extLst>
          </p:cNvPr>
          <p:cNvSpPr>
            <a:spLocks noGrp="1"/>
          </p:cNvSpPr>
          <p:nvPr/>
        </p:nvSpPr>
        <p:spPr>
          <a:xfrm>
            <a:off x="365760" y="1097280"/>
            <a:ext cx="411480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Supported</a:t>
            </a:r>
            <a:endParaRPr sz="1250"/>
          </a:p>
        </p:txBody>
      </p:sp>
      <p:sp>
        <p:nvSpPr>
          <p:cNvPr id="9" name="Text 7">
            <a:extLst>
              <a:ext uri="{FF2B5EF4-FFF2-40B4-BE49-F238E27FC236}">
                <a16:creationId xmlns:a16="http://schemas.microsoft.com/office/drawing/2014/main" id="{F219D6E4-CED7-414C-BEEA-1FE492CA9AE8}"/>
              </a:ext>
            </a:extLst>
          </p:cNvPr>
          <p:cNvSpPr>
            <a:spLocks noGrp="1"/>
          </p:cNvSpPr>
          <p:nvPr/>
        </p:nvSpPr>
        <p:spPr>
          <a:xfrm>
            <a:off x="530352" y="1536192"/>
            <a:ext cx="3785616" cy="1371600"/>
          </a:xfrm>
          <a:prstGeom prst="rect">
            <a:avLst/>
          </a:prstGeom>
          <a:noFill/>
        </p:spPr>
        <p:txBody>
          <a:bodyPr wrap="square" anchor="t"/>
          <a:lstStyle/>
          <a:p>
            <a:pPr marL="0" indent="0">
              <a:lnSpc>
                <a:spcPts val="1300"/>
              </a:lnSpc>
              <a:buNone/>
            </a:pPr>
            <a:r>
              <a:rPr sz="1150" b="1">
                <a:solidFill>
                  <a:srgbClr val="0E7C7B"/>
                </a:solidFill>
                <a:latin typeface="Arial"/>
                <a:ea typeface="Arial"/>
                <a:cs typeface="Arial"/>
              </a:rPr>
              <a:t>Fair B-versus-C comparison
Part-aware gradients reached attention
No reliable output gain under this protocol</a:t>
            </a:r>
            <a:endParaRPr sz="1150"/>
          </a:p>
        </p:txBody>
      </p:sp>
      <p:sp>
        <p:nvSpPr>
          <p:cNvPr id="10" name="Shape 8">
            <a:extLst>
              <a:ext uri="{FF2B5EF4-FFF2-40B4-BE49-F238E27FC236}">
                <a16:creationId xmlns:a16="http://schemas.microsoft.com/office/drawing/2014/main" id="{C5B43479-84BF-450A-8CB1-E203678106B3}"/>
              </a:ext>
            </a:extLst>
          </p:cNvPr>
          <p:cNvSpPr>
            <a:spLocks noGrp="1"/>
          </p:cNvSpPr>
          <p:nvPr/>
        </p:nvSpPr>
        <p:spPr>
          <a:xfrm>
            <a:off x="4663440" y="1051560"/>
            <a:ext cx="4114800" cy="1965960"/>
          </a:xfrm>
          <a:prstGeom prst="roundRect">
            <a:avLst>
              <a:gd name="adj" fmla="val 2791"/>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50A67230-E38C-4078-B9C1-8232B31DF0B7}"/>
              </a:ext>
            </a:extLst>
          </p:cNvPr>
          <p:cNvSpPr>
            <a:spLocks noGrp="1"/>
          </p:cNvSpPr>
          <p:nvPr/>
        </p:nvSpPr>
        <p:spPr>
          <a:xfrm>
            <a:off x="4663440" y="1051560"/>
            <a:ext cx="4114800" cy="384048"/>
          </a:xfrm>
          <a:prstGeom prst="roundRect">
            <a:avLst>
              <a:gd name="adj" fmla="val 14286"/>
            </a:avLst>
          </a:prstGeom>
          <a:solidFill>
            <a:srgbClr val="C55A11"/>
          </a:solidFill>
        </p:spPr>
        <p:txBody>
          <a:bodyPr/>
          <a:lstStyle/>
          <a:p>
            <a:endParaRPr/>
          </a:p>
        </p:txBody>
      </p:sp>
      <p:sp>
        <p:nvSpPr>
          <p:cNvPr id="12" name="Text 10">
            <a:extLst>
              <a:ext uri="{FF2B5EF4-FFF2-40B4-BE49-F238E27FC236}">
                <a16:creationId xmlns:a16="http://schemas.microsoft.com/office/drawing/2014/main" id="{593DBB63-AFBF-404D-B369-0B07A2371ADD}"/>
              </a:ext>
            </a:extLst>
          </p:cNvPr>
          <p:cNvSpPr>
            <a:spLocks noGrp="1"/>
          </p:cNvSpPr>
          <p:nvPr/>
        </p:nvSpPr>
        <p:spPr>
          <a:xfrm>
            <a:off x="4663440" y="1097280"/>
            <a:ext cx="411480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Not Supported</a:t>
            </a:r>
            <a:endParaRPr sz="1250"/>
          </a:p>
        </p:txBody>
      </p:sp>
      <p:sp>
        <p:nvSpPr>
          <p:cNvPr id="13" name="Text 11">
            <a:extLst>
              <a:ext uri="{FF2B5EF4-FFF2-40B4-BE49-F238E27FC236}">
                <a16:creationId xmlns:a16="http://schemas.microsoft.com/office/drawing/2014/main" id="{9A136CF3-5921-4AA1-8C00-40146DBD2329}"/>
              </a:ext>
            </a:extLst>
          </p:cNvPr>
          <p:cNvSpPr>
            <a:spLocks noGrp="1"/>
          </p:cNvSpPr>
          <p:nvPr/>
        </p:nvSpPr>
        <p:spPr>
          <a:xfrm>
            <a:off x="4828032" y="1536192"/>
            <a:ext cx="3785616" cy="1371600"/>
          </a:xfrm>
          <a:prstGeom prst="rect">
            <a:avLst/>
          </a:prstGeom>
          <a:noFill/>
        </p:spPr>
        <p:txBody>
          <a:bodyPr wrap="square" anchor="ctr"/>
          <a:lstStyle/>
          <a:p>
            <a:pPr marL="0" indent="0">
              <a:lnSpc>
                <a:spcPts val="1300"/>
              </a:lnSpc>
              <a:buNone/>
            </a:pPr>
            <a:r>
              <a:rPr sz="1150">
                <a:solidFill>
                  <a:srgbClr val="1F2937"/>
                </a:solidFill>
                <a:latin typeface="Arial"/>
                <a:ea typeface="Arial"/>
                <a:cs typeface="Arial"/>
              </a:rPr>
              <a:t>Universal failure of part supervision
Outcome after full 800-epoch training
Direct generated-image keypoint accuracy</a:t>
            </a:r>
            <a:endParaRPr sz="1150"/>
          </a:p>
        </p:txBody>
      </p:sp>
      <p:sp>
        <p:nvSpPr>
          <p:cNvPr id="14" name="Shape 12">
            <a:extLst>
              <a:ext uri="{FF2B5EF4-FFF2-40B4-BE49-F238E27FC236}">
                <a16:creationId xmlns:a16="http://schemas.microsoft.com/office/drawing/2014/main" id="{698F6D3F-65A2-4063-970C-672547457398}"/>
              </a:ext>
            </a:extLst>
          </p:cNvPr>
          <p:cNvSpPr>
            <a:spLocks noGrp="1"/>
          </p:cNvSpPr>
          <p:nvPr/>
        </p:nvSpPr>
        <p:spPr>
          <a:xfrm>
            <a:off x="365760" y="3200400"/>
            <a:ext cx="8412480" cy="1051560"/>
          </a:xfrm>
          <a:prstGeom prst="roundRect">
            <a:avLst>
              <a:gd name="adj" fmla="val 5217"/>
            </a:avLst>
          </a:prstGeom>
          <a:solidFill>
            <a:srgbClr val="E8EEF7"/>
          </a:solidFill>
          <a:ln w="12700">
            <a:solidFill>
              <a:srgbClr val="1F3864"/>
            </a:solidFill>
            <a:prstDash val="solid"/>
          </a:ln>
        </p:spPr>
        <p:txBody>
          <a:bodyPr/>
          <a:lstStyle/>
          <a:p>
            <a:endParaRPr/>
          </a:p>
        </p:txBody>
      </p:sp>
      <p:sp>
        <p:nvSpPr>
          <p:cNvPr id="15" name="Text 13">
            <a:extLst>
              <a:ext uri="{FF2B5EF4-FFF2-40B4-BE49-F238E27FC236}">
                <a16:creationId xmlns:a16="http://schemas.microsoft.com/office/drawing/2014/main" id="{3B7523DB-1162-4458-A8C5-9F39F60753E3}"/>
              </a:ext>
            </a:extLst>
          </p:cNvPr>
          <p:cNvSpPr>
            <a:spLocks noGrp="1"/>
          </p:cNvSpPr>
          <p:nvPr/>
        </p:nvSpPr>
        <p:spPr>
          <a:xfrm>
            <a:off x="548640" y="3310128"/>
            <a:ext cx="8046720" cy="292608"/>
          </a:xfrm>
          <a:prstGeom prst="rect">
            <a:avLst/>
          </a:prstGeom>
          <a:noFill/>
        </p:spPr>
        <p:txBody>
          <a:bodyPr wrap="square" anchor="ctr"/>
          <a:lstStyle/>
          <a:p>
            <a:pPr marL="0" indent="0">
              <a:buNone/>
            </a:pPr>
            <a:r>
              <a:rPr sz="1250" b="1">
                <a:solidFill>
                  <a:srgbClr val="1F3864"/>
                </a:solidFill>
                <a:latin typeface="Arial"/>
                <a:ea typeface="Arial"/>
                <a:cs typeface="Arial"/>
              </a:rPr>
              <a:t>Costs and Biases</a:t>
            </a:r>
            <a:endParaRPr sz="1250"/>
          </a:p>
        </p:txBody>
      </p:sp>
      <p:sp>
        <p:nvSpPr>
          <p:cNvPr id="16" name="Text 14">
            <a:extLst>
              <a:ext uri="{FF2B5EF4-FFF2-40B4-BE49-F238E27FC236}">
                <a16:creationId xmlns:a16="http://schemas.microsoft.com/office/drawing/2014/main" id="{19B8858B-0D95-4C89-8B99-F82B974E1D2A}"/>
              </a:ext>
            </a:extLst>
          </p:cNvPr>
          <p:cNvSpPr>
            <a:spLocks noGrp="1"/>
          </p:cNvSpPr>
          <p:nvPr/>
        </p:nvSpPr>
        <p:spPr>
          <a:xfrm>
            <a:off x="548640" y="3630168"/>
            <a:ext cx="8046720" cy="548640"/>
          </a:xfrm>
          <a:prstGeom prst="rect">
            <a:avLst/>
          </a:prstGeom>
          <a:noFill/>
        </p:spPr>
        <p:txBody>
          <a:bodyPr wrap="square" anchor="ctr"/>
          <a:lstStyle/>
          <a:p>
            <a:pPr marL="0" indent="0">
              <a:lnSpc>
                <a:spcPts val="1200"/>
              </a:lnSpc>
              <a:buNone/>
            </a:pPr>
            <a:r>
              <a:rPr sz="1150">
                <a:solidFill>
                  <a:srgbClr val="1F2937"/>
                </a:solidFill>
                <a:latin typeface="Arial"/>
                <a:ea typeface="Arial"/>
                <a:cs typeface="Arial"/>
              </a:rPr>
              <a:t>C uses extra landmark labels; real pose may not match generated pose; DAMSM/token mapping are not independent judges; only 3 seeds and 1,200 updates.</a:t>
            </a:r>
            <a:endParaRPr sz="1150"/>
          </a:p>
        </p:txBody>
      </p:sp>
      <p:sp>
        <p:nvSpPr>
          <p:cNvPr id="17" name="Text 15">
            <a:extLst>
              <a:ext uri="{FF2B5EF4-FFF2-40B4-BE49-F238E27FC236}">
                <a16:creationId xmlns:a16="http://schemas.microsoft.com/office/drawing/2014/main" id="{2EC6DB93-7D28-4417-98CD-8923EF138480}"/>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14 / 15</a:t>
            </a:r>
            <a:endParaRPr sz="900"/>
          </a:p>
        </p:txBody>
      </p:sp>
      <p:sp>
        <p:nvSpPr>
          <p:cNvPr id="18" name="Shape 16">
            <a:extLst>
              <a:ext uri="{FF2B5EF4-FFF2-40B4-BE49-F238E27FC236}">
                <a16:creationId xmlns:a16="http://schemas.microsoft.com/office/drawing/2014/main" id="{84555E5B-078E-493D-AD28-7D2608621E18}"/>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19" name="Shape 17">
            <a:extLst>
              <a:ext uri="{FF2B5EF4-FFF2-40B4-BE49-F238E27FC236}">
                <a16:creationId xmlns:a16="http://schemas.microsoft.com/office/drawing/2014/main" id="{55C9039F-C1CA-4D5F-AB9B-8D239443A79A}"/>
              </a:ext>
            </a:extLst>
          </p:cNvPr>
          <p:cNvSpPr>
            <a:spLocks noGrp="1"/>
          </p:cNvSpPr>
          <p:nvPr/>
        </p:nvSpPr>
        <p:spPr>
          <a:xfrm>
            <a:off x="7955280" y="4864608"/>
            <a:ext cx="506437"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1036377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417A1D-6FAB-4A41-A109-02A1F447908F}"/>
              </a:ext>
            </a:extLst>
          </p:cNvPr>
          <p:cNvSpPr>
            <a:spLocks noGrp="1"/>
          </p:cNvSpPr>
          <p:nvPr/>
        </p:nvSpPr>
        <p:spPr>
          <a:xfrm>
            <a:off x="365760" y="274320"/>
            <a:ext cx="457200" cy="475488"/>
          </a:xfrm>
          <a:prstGeom prst="rect">
            <a:avLst/>
          </a:prstGeom>
          <a:solidFill>
            <a:srgbClr val="1F3864"/>
          </a:solidFill>
        </p:spPr>
        <p:txBody>
          <a:bodyPr/>
          <a:lstStyle/>
          <a:p>
            <a:endParaRPr/>
          </a:p>
        </p:txBody>
      </p:sp>
      <p:sp>
        <p:nvSpPr>
          <p:cNvPr id="3" name="Text 1">
            <a:extLst>
              <a:ext uri="{FF2B5EF4-FFF2-40B4-BE49-F238E27FC236}">
                <a16:creationId xmlns:a16="http://schemas.microsoft.com/office/drawing/2014/main" id="{880C3012-33CB-48EF-A0E0-F7A92D79FCE4}"/>
              </a:ext>
            </a:extLst>
          </p:cNvPr>
          <p:cNvSpPr>
            <a:spLocks noGrp="1"/>
          </p:cNvSpPr>
          <p:nvPr/>
        </p:nvSpPr>
        <p:spPr>
          <a:xfrm>
            <a:off x="365760" y="274320"/>
            <a:ext cx="457200" cy="475488"/>
          </a:xfrm>
          <a:prstGeom prst="rect">
            <a:avLst/>
          </a:prstGeom>
          <a:noFill/>
        </p:spPr>
        <p:txBody>
          <a:bodyPr wrap="square" anchor="ctr"/>
          <a:lstStyle/>
          <a:p>
            <a:pPr marL="0" indent="0" algn="ctr">
              <a:buNone/>
            </a:pPr>
            <a:r>
              <a:rPr sz="1700" b="1">
                <a:solidFill>
                  <a:srgbClr val="FFFFFF"/>
                </a:solidFill>
                <a:latin typeface="Arial"/>
                <a:ea typeface="Arial"/>
                <a:cs typeface="Arial"/>
              </a:rPr>
              <a:t>14</a:t>
            </a:r>
            <a:endParaRPr sz="1700"/>
          </a:p>
        </p:txBody>
      </p:sp>
      <p:sp>
        <p:nvSpPr>
          <p:cNvPr id="4" name="Text 2">
            <a:extLst>
              <a:ext uri="{FF2B5EF4-FFF2-40B4-BE49-F238E27FC236}">
                <a16:creationId xmlns:a16="http://schemas.microsoft.com/office/drawing/2014/main" id="{46CECB0B-C8E2-45AA-A05C-05259BA80FDD}"/>
              </a:ext>
            </a:extLst>
          </p:cNvPr>
          <p:cNvSpPr>
            <a:spLocks noGrp="1"/>
          </p:cNvSpPr>
          <p:nvPr/>
        </p:nvSpPr>
        <p:spPr>
          <a:xfrm>
            <a:off x="960120" y="201168"/>
            <a:ext cx="7680960" cy="365760"/>
          </a:xfrm>
          <a:prstGeom prst="rect">
            <a:avLst/>
          </a:prstGeom>
          <a:noFill/>
        </p:spPr>
        <p:txBody>
          <a:bodyPr wrap="square" anchor="ctr"/>
          <a:lstStyle/>
          <a:p>
            <a:pPr marL="0" indent="0">
              <a:buNone/>
            </a:pPr>
            <a:r>
              <a:rPr sz="2100" b="1">
                <a:solidFill>
                  <a:srgbClr val="1F2937"/>
                </a:solidFill>
                <a:latin typeface="Arial"/>
                <a:ea typeface="Arial"/>
                <a:cs typeface="Arial"/>
              </a:rPr>
              <a:t>Final Answer: Not Demonstrated</a:t>
            </a:r>
            <a:endParaRPr sz="2100"/>
          </a:p>
        </p:txBody>
      </p:sp>
      <p:sp>
        <p:nvSpPr>
          <p:cNvPr id="5" name="Text 3">
            <a:extLst>
              <a:ext uri="{FF2B5EF4-FFF2-40B4-BE49-F238E27FC236}">
                <a16:creationId xmlns:a16="http://schemas.microsoft.com/office/drawing/2014/main" id="{10427EF0-5930-49A0-AB62-0709A314E321}"/>
              </a:ext>
            </a:extLst>
          </p:cNvPr>
          <p:cNvSpPr>
            <a:spLocks noGrp="1"/>
          </p:cNvSpPr>
          <p:nvPr/>
        </p:nvSpPr>
        <p:spPr>
          <a:xfrm>
            <a:off x="960120" y="585216"/>
            <a:ext cx="7863840" cy="256032"/>
          </a:xfrm>
          <a:prstGeom prst="rect">
            <a:avLst/>
          </a:prstGeom>
          <a:noFill/>
        </p:spPr>
        <p:txBody>
          <a:bodyPr wrap="square" anchor="ctr"/>
          <a:lstStyle/>
          <a:p>
            <a:pPr marL="0" indent="0">
              <a:buNone/>
            </a:pPr>
            <a:r>
              <a:rPr sz="1150">
                <a:solidFill>
                  <a:srgbClr val="6B7280"/>
                </a:solidFill>
                <a:latin typeface="Arial"/>
                <a:ea typeface="Arial"/>
                <a:cs typeface="Arial"/>
              </a:rPr>
              <a:t>The mechanism activated, but C did not outperform the fair control</a:t>
            </a:r>
            <a:endParaRPr sz="1150"/>
          </a:p>
        </p:txBody>
      </p:sp>
      <p:sp>
        <p:nvSpPr>
          <p:cNvPr id="6" name="Shape 4">
            <a:extLst>
              <a:ext uri="{FF2B5EF4-FFF2-40B4-BE49-F238E27FC236}">
                <a16:creationId xmlns:a16="http://schemas.microsoft.com/office/drawing/2014/main" id="{A838829E-6CF1-41D9-A239-D6C9B25B6353}"/>
              </a:ext>
            </a:extLst>
          </p:cNvPr>
          <p:cNvSpPr>
            <a:spLocks noGrp="1"/>
          </p:cNvSpPr>
          <p:nvPr/>
        </p:nvSpPr>
        <p:spPr>
          <a:xfrm>
            <a:off x="365760" y="1051560"/>
            <a:ext cx="3108960" cy="210312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7" name="Shape 5">
            <a:extLst>
              <a:ext uri="{FF2B5EF4-FFF2-40B4-BE49-F238E27FC236}">
                <a16:creationId xmlns:a16="http://schemas.microsoft.com/office/drawing/2014/main" id="{B40910E1-246B-41C5-9719-B69C3ADB3878}"/>
              </a:ext>
            </a:extLst>
          </p:cNvPr>
          <p:cNvSpPr>
            <a:spLocks noGrp="1"/>
          </p:cNvSpPr>
          <p:nvPr/>
        </p:nvSpPr>
        <p:spPr>
          <a:xfrm>
            <a:off x="365760" y="1051560"/>
            <a:ext cx="3108960" cy="384048"/>
          </a:xfrm>
          <a:prstGeom prst="roundRect">
            <a:avLst>
              <a:gd name="adj" fmla="val 14286"/>
            </a:avLst>
          </a:prstGeom>
          <a:solidFill>
            <a:srgbClr val="0E7C7B"/>
          </a:solidFill>
        </p:spPr>
        <p:txBody>
          <a:bodyPr/>
          <a:lstStyle/>
          <a:p>
            <a:endParaRPr/>
          </a:p>
        </p:txBody>
      </p:sp>
      <p:sp>
        <p:nvSpPr>
          <p:cNvPr id="8" name="Text 6">
            <a:extLst>
              <a:ext uri="{FF2B5EF4-FFF2-40B4-BE49-F238E27FC236}">
                <a16:creationId xmlns:a16="http://schemas.microsoft.com/office/drawing/2014/main" id="{D0B7FE7A-F3EE-4DA7-B774-E867623C9B82}"/>
              </a:ext>
            </a:extLst>
          </p:cNvPr>
          <p:cNvSpPr>
            <a:spLocks noGrp="1"/>
          </p:cNvSpPr>
          <p:nvPr/>
        </p:nvSpPr>
        <p:spPr>
          <a:xfrm>
            <a:off x="365760" y="1097280"/>
            <a:ext cx="310896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What We Completed</a:t>
            </a:r>
            <a:endParaRPr sz="1250"/>
          </a:p>
        </p:txBody>
      </p:sp>
      <p:sp>
        <p:nvSpPr>
          <p:cNvPr id="9" name="Text 7">
            <a:extLst>
              <a:ext uri="{FF2B5EF4-FFF2-40B4-BE49-F238E27FC236}">
                <a16:creationId xmlns:a16="http://schemas.microsoft.com/office/drawing/2014/main" id="{CC1F2DB2-8C77-4C53-9C1B-729E738B5232}"/>
              </a:ext>
            </a:extLst>
          </p:cNvPr>
          <p:cNvSpPr>
            <a:spLocks noGrp="1"/>
          </p:cNvSpPr>
          <p:nvPr/>
        </p:nvSpPr>
        <p:spPr>
          <a:xfrm>
            <a:off x="530352" y="1536192"/>
            <a:ext cx="2779776" cy="1508760"/>
          </a:xfrm>
          <a:prstGeom prst="rect">
            <a:avLst/>
          </a:prstGeom>
          <a:noFill/>
        </p:spPr>
        <p:txBody>
          <a:bodyPr wrap="square" anchor="t"/>
          <a:lstStyle/>
          <a:p>
            <a:pPr marL="0" indent="0">
              <a:lnSpc>
                <a:spcPts val="1200"/>
              </a:lnSpc>
              <a:buNone/>
            </a:pPr>
            <a:r>
              <a:rPr sz="1200" b="1">
                <a:solidFill>
                  <a:srgbClr val="1F3864"/>
                </a:solidFill>
                <a:latin typeface="Arial"/>
                <a:ea typeface="Arial"/>
                <a:cs typeface="Arial"/>
              </a:rPr>
              <a:t>Credible baseline reproduction
Working part-aware data + loss path
3 paired seeds
30,000 fixed evaluations per model</a:t>
            </a:r>
            <a:endParaRPr sz="1200"/>
          </a:p>
        </p:txBody>
      </p:sp>
      <p:sp>
        <p:nvSpPr>
          <p:cNvPr id="10" name="Shape 8">
            <a:extLst>
              <a:ext uri="{FF2B5EF4-FFF2-40B4-BE49-F238E27FC236}">
                <a16:creationId xmlns:a16="http://schemas.microsoft.com/office/drawing/2014/main" id="{9CB42AC3-6EBF-4C0F-8414-9DCF746DE06D}"/>
              </a:ext>
            </a:extLst>
          </p:cNvPr>
          <p:cNvSpPr>
            <a:spLocks noGrp="1"/>
          </p:cNvSpPr>
          <p:nvPr/>
        </p:nvSpPr>
        <p:spPr>
          <a:xfrm>
            <a:off x="3657600" y="1051560"/>
            <a:ext cx="5120640" cy="2103120"/>
          </a:xfrm>
          <a:prstGeom prst="roundRect">
            <a:avLst>
              <a:gd name="adj" fmla="val 2609"/>
            </a:avLst>
          </a:prstGeom>
          <a:solidFill>
            <a:srgbClr val="F3F6FB"/>
          </a:solidFill>
          <a:ln w="12700">
            <a:solidFill>
              <a:srgbClr val="E8EEF7"/>
            </a:solidFill>
            <a:prstDash val="solid"/>
          </a:ln>
        </p:spPr>
        <p:txBody>
          <a:bodyPr/>
          <a:lstStyle/>
          <a:p>
            <a:endParaRPr/>
          </a:p>
        </p:txBody>
      </p:sp>
      <p:sp>
        <p:nvSpPr>
          <p:cNvPr id="11" name="Shape 9">
            <a:extLst>
              <a:ext uri="{FF2B5EF4-FFF2-40B4-BE49-F238E27FC236}">
                <a16:creationId xmlns:a16="http://schemas.microsoft.com/office/drawing/2014/main" id="{AFB9FD1B-42FD-4ED5-A04C-4C738DE9FACA}"/>
              </a:ext>
            </a:extLst>
          </p:cNvPr>
          <p:cNvSpPr>
            <a:spLocks noGrp="1"/>
          </p:cNvSpPr>
          <p:nvPr/>
        </p:nvSpPr>
        <p:spPr>
          <a:xfrm>
            <a:off x="3657600" y="1051560"/>
            <a:ext cx="5120640" cy="384048"/>
          </a:xfrm>
          <a:prstGeom prst="roundRect">
            <a:avLst>
              <a:gd name="adj" fmla="val 14286"/>
            </a:avLst>
          </a:prstGeom>
          <a:solidFill>
            <a:srgbClr val="1F3864"/>
          </a:solidFill>
        </p:spPr>
        <p:txBody>
          <a:bodyPr/>
          <a:lstStyle/>
          <a:p>
            <a:endParaRPr/>
          </a:p>
        </p:txBody>
      </p:sp>
      <p:sp>
        <p:nvSpPr>
          <p:cNvPr id="12" name="Text 10">
            <a:extLst>
              <a:ext uri="{FF2B5EF4-FFF2-40B4-BE49-F238E27FC236}">
                <a16:creationId xmlns:a16="http://schemas.microsoft.com/office/drawing/2014/main" id="{83220C33-3268-4FF3-99E4-E96739FC104E}"/>
              </a:ext>
            </a:extLst>
          </p:cNvPr>
          <p:cNvSpPr>
            <a:spLocks noGrp="1"/>
          </p:cNvSpPr>
          <p:nvPr/>
        </p:nvSpPr>
        <p:spPr>
          <a:xfrm>
            <a:off x="3657600" y="1097280"/>
            <a:ext cx="5120640" cy="292608"/>
          </a:xfrm>
          <a:prstGeom prst="rect">
            <a:avLst/>
          </a:prstGeom>
          <a:noFill/>
        </p:spPr>
        <p:txBody>
          <a:bodyPr wrap="square" anchor="ctr"/>
          <a:lstStyle/>
          <a:p>
            <a:pPr marL="0" indent="0" algn="ctr">
              <a:buNone/>
            </a:pPr>
            <a:r>
              <a:rPr sz="1250" b="1">
                <a:solidFill>
                  <a:srgbClr val="FFFFFF"/>
                </a:solidFill>
                <a:latin typeface="Arial"/>
                <a:ea typeface="Arial"/>
                <a:cs typeface="Arial"/>
              </a:rPr>
              <a:t>What the Evidence Says</a:t>
            </a:r>
            <a:endParaRPr sz="1250"/>
          </a:p>
        </p:txBody>
      </p:sp>
      <p:sp>
        <p:nvSpPr>
          <p:cNvPr id="13" name="Text 11">
            <a:extLst>
              <a:ext uri="{FF2B5EF4-FFF2-40B4-BE49-F238E27FC236}">
                <a16:creationId xmlns:a16="http://schemas.microsoft.com/office/drawing/2014/main" id="{155F9E7F-F05A-45F4-95F8-DD238CD24D87}"/>
              </a:ext>
            </a:extLst>
          </p:cNvPr>
          <p:cNvSpPr>
            <a:spLocks noGrp="1"/>
          </p:cNvSpPr>
          <p:nvPr/>
        </p:nvSpPr>
        <p:spPr>
          <a:xfrm>
            <a:off x="3822192" y="1536192"/>
            <a:ext cx="4791456" cy="1508760"/>
          </a:xfrm>
          <a:prstGeom prst="rect">
            <a:avLst/>
          </a:prstGeom>
          <a:noFill/>
        </p:spPr>
        <p:txBody>
          <a:bodyPr wrap="square" anchor="t"/>
          <a:lstStyle/>
          <a:p>
            <a:pPr marL="0" indent="0">
              <a:lnSpc>
                <a:spcPts val="1300"/>
              </a:lnSpc>
              <a:buNone/>
            </a:pPr>
            <a:r>
              <a:rPr sz="1100" b="1">
                <a:solidFill>
                  <a:srgbClr val="C55A11"/>
                </a:solidFill>
                <a:latin typeface="Arial"/>
                <a:ea typeface="Arial"/>
                <a:cs typeface="Arial"/>
              </a:rPr>
              <a:t>Attention proxy: slightly better
Part–colour output: no reliable gain
FID: slightly worse in all seeds
R-precision: essentially unchanged</a:t>
            </a:r>
            <a:endParaRPr sz="1100"/>
          </a:p>
        </p:txBody>
      </p:sp>
      <p:sp>
        <p:nvSpPr>
          <p:cNvPr id="14" name="Shape 12">
            <a:extLst>
              <a:ext uri="{FF2B5EF4-FFF2-40B4-BE49-F238E27FC236}">
                <a16:creationId xmlns:a16="http://schemas.microsoft.com/office/drawing/2014/main" id="{CC890284-C1AF-4979-A49C-452AA809E4C8}"/>
              </a:ext>
            </a:extLst>
          </p:cNvPr>
          <p:cNvSpPr>
            <a:spLocks noGrp="1"/>
          </p:cNvSpPr>
          <p:nvPr/>
        </p:nvSpPr>
        <p:spPr>
          <a:xfrm>
            <a:off x="365760" y="3337560"/>
            <a:ext cx="5120640" cy="914400"/>
          </a:xfrm>
          <a:prstGeom prst="roundRect">
            <a:avLst>
              <a:gd name="adj" fmla="val 6000"/>
            </a:avLst>
          </a:prstGeom>
          <a:solidFill>
            <a:srgbClr val="E8EEF7"/>
          </a:solidFill>
          <a:ln w="12700">
            <a:solidFill>
              <a:srgbClr val="0E7C7B"/>
            </a:solidFill>
            <a:prstDash val="solid"/>
          </a:ln>
        </p:spPr>
        <p:txBody>
          <a:bodyPr/>
          <a:lstStyle/>
          <a:p>
            <a:endParaRPr/>
          </a:p>
        </p:txBody>
      </p:sp>
      <p:sp>
        <p:nvSpPr>
          <p:cNvPr id="15" name="Text 13">
            <a:extLst>
              <a:ext uri="{FF2B5EF4-FFF2-40B4-BE49-F238E27FC236}">
                <a16:creationId xmlns:a16="http://schemas.microsoft.com/office/drawing/2014/main" id="{F5320E88-2104-4B95-8441-13CB06DAC331}"/>
              </a:ext>
            </a:extLst>
          </p:cNvPr>
          <p:cNvSpPr>
            <a:spLocks noGrp="1"/>
          </p:cNvSpPr>
          <p:nvPr/>
        </p:nvSpPr>
        <p:spPr>
          <a:xfrm>
            <a:off x="502920" y="3410712"/>
            <a:ext cx="1463040" cy="274320"/>
          </a:xfrm>
          <a:prstGeom prst="rect">
            <a:avLst/>
          </a:prstGeom>
          <a:noFill/>
        </p:spPr>
        <p:txBody>
          <a:bodyPr wrap="square" anchor="ctr"/>
          <a:lstStyle/>
          <a:p>
            <a:pPr marL="0" indent="0">
              <a:buNone/>
            </a:pPr>
            <a:r>
              <a:rPr sz="1200" b="1">
                <a:solidFill>
                  <a:srgbClr val="1F3864"/>
                </a:solidFill>
                <a:latin typeface="Arial"/>
                <a:ea typeface="Arial"/>
                <a:cs typeface="Arial"/>
              </a:rPr>
              <a:t>Next Study</a:t>
            </a:r>
            <a:endParaRPr sz="1200"/>
          </a:p>
        </p:txBody>
      </p:sp>
      <p:sp>
        <p:nvSpPr>
          <p:cNvPr id="16" name="Text 14">
            <a:extLst>
              <a:ext uri="{FF2B5EF4-FFF2-40B4-BE49-F238E27FC236}">
                <a16:creationId xmlns:a16="http://schemas.microsoft.com/office/drawing/2014/main" id="{2B01C8CC-A496-4985-A3C2-8D9A806D4322}"/>
              </a:ext>
            </a:extLst>
          </p:cNvPr>
          <p:cNvSpPr>
            <a:spLocks noGrp="1"/>
          </p:cNvSpPr>
          <p:nvPr/>
        </p:nvSpPr>
        <p:spPr>
          <a:xfrm>
            <a:off x="502920" y="3675888"/>
            <a:ext cx="4846320" cy="502920"/>
          </a:xfrm>
          <a:prstGeom prst="rect">
            <a:avLst/>
          </a:prstGeom>
          <a:noFill/>
        </p:spPr>
        <p:txBody>
          <a:bodyPr wrap="square" anchor="ctr"/>
          <a:lstStyle/>
          <a:p>
            <a:pPr marL="0" indent="0">
              <a:lnSpc>
                <a:spcPts val="1200"/>
              </a:lnSpc>
              <a:buNone/>
            </a:pPr>
            <a:r>
              <a:rPr sz="1050">
                <a:solidFill>
                  <a:srgbClr val="1F2937"/>
                </a:solidFill>
                <a:latin typeface="Arial"/>
                <a:ea typeface="Arial"/>
                <a:cs typeface="Arial"/>
              </a:rPr>
              <a:t>Independent generated-image part detector or blinded human scoring, then longer multi-seed training.</a:t>
            </a:r>
            <a:endParaRPr sz="1050"/>
          </a:p>
        </p:txBody>
      </p:sp>
      <p:sp>
        <p:nvSpPr>
          <p:cNvPr id="17" name="Shape 15">
            <a:extLst>
              <a:ext uri="{FF2B5EF4-FFF2-40B4-BE49-F238E27FC236}">
                <a16:creationId xmlns:a16="http://schemas.microsoft.com/office/drawing/2014/main" id="{4CBC7606-5E03-4C13-9CBE-8C0A220C3D53}"/>
              </a:ext>
            </a:extLst>
          </p:cNvPr>
          <p:cNvSpPr>
            <a:spLocks noGrp="1"/>
          </p:cNvSpPr>
          <p:nvPr/>
        </p:nvSpPr>
        <p:spPr>
          <a:xfrm>
            <a:off x="5669280" y="3337560"/>
            <a:ext cx="3108960" cy="914400"/>
          </a:xfrm>
          <a:prstGeom prst="roundRect">
            <a:avLst>
              <a:gd name="adj" fmla="val 6000"/>
            </a:avLst>
          </a:prstGeom>
          <a:solidFill>
            <a:srgbClr val="1F3864"/>
          </a:solidFill>
        </p:spPr>
        <p:txBody>
          <a:bodyPr/>
          <a:lstStyle/>
          <a:p>
            <a:endParaRPr/>
          </a:p>
        </p:txBody>
      </p:sp>
      <p:sp>
        <p:nvSpPr>
          <p:cNvPr id="18" name="Text 16">
            <a:extLst>
              <a:ext uri="{FF2B5EF4-FFF2-40B4-BE49-F238E27FC236}">
                <a16:creationId xmlns:a16="http://schemas.microsoft.com/office/drawing/2014/main" id="{4C168151-475E-4BAE-B8B7-3CEAF14E6DE9}"/>
              </a:ext>
            </a:extLst>
          </p:cNvPr>
          <p:cNvSpPr>
            <a:spLocks noGrp="1"/>
          </p:cNvSpPr>
          <p:nvPr/>
        </p:nvSpPr>
        <p:spPr>
          <a:xfrm>
            <a:off x="5833872" y="3429000"/>
            <a:ext cx="2779776" cy="731520"/>
          </a:xfrm>
          <a:prstGeom prst="rect">
            <a:avLst/>
          </a:prstGeom>
          <a:noFill/>
        </p:spPr>
        <p:txBody>
          <a:bodyPr wrap="square" anchor="ctr"/>
          <a:lstStyle/>
          <a:p>
            <a:pPr marL="0" indent="0">
              <a:lnSpc>
                <a:spcPts val="1200"/>
              </a:lnSpc>
              <a:buNone/>
            </a:pPr>
            <a:r>
              <a:rPr sz="1100" b="1">
                <a:solidFill>
                  <a:srgbClr val="FFFFFF"/>
                </a:solidFill>
                <a:latin typeface="Arial"/>
                <a:ea typeface="Arial"/>
                <a:cs typeface="Arial"/>
              </a:rPr>
              <a:t>Validated baseline → fair experiment → honest null result</a:t>
            </a:r>
            <a:endParaRPr sz="1100"/>
          </a:p>
        </p:txBody>
      </p:sp>
      <p:sp>
        <p:nvSpPr>
          <p:cNvPr id="20" name="Text 18">
            <a:extLst>
              <a:ext uri="{FF2B5EF4-FFF2-40B4-BE49-F238E27FC236}">
                <a16:creationId xmlns:a16="http://schemas.microsoft.com/office/drawing/2014/main" id="{8A8A924B-940B-446F-A61E-6E5DF2C31C7B}"/>
              </a:ext>
            </a:extLst>
          </p:cNvPr>
          <p:cNvSpPr>
            <a:spLocks noGrp="1"/>
          </p:cNvSpPr>
          <p:nvPr/>
        </p:nvSpPr>
        <p:spPr>
          <a:xfrm>
            <a:off x="365760" y="4828032"/>
            <a:ext cx="914400" cy="201168"/>
          </a:xfrm>
          <a:prstGeom prst="rect">
            <a:avLst/>
          </a:prstGeom>
          <a:noFill/>
        </p:spPr>
        <p:txBody>
          <a:bodyPr wrap="square" anchor="ctr"/>
          <a:lstStyle/>
          <a:p>
            <a:pPr marL="0" indent="0">
              <a:buNone/>
            </a:pPr>
            <a:r>
              <a:rPr sz="900">
                <a:solidFill>
                  <a:srgbClr val="6B7280"/>
                </a:solidFill>
                <a:latin typeface="Arial"/>
                <a:ea typeface="Arial"/>
                <a:cs typeface="Arial"/>
              </a:rPr>
              <a:t>15 / 15</a:t>
            </a:r>
            <a:endParaRPr sz="900"/>
          </a:p>
        </p:txBody>
      </p:sp>
      <p:sp>
        <p:nvSpPr>
          <p:cNvPr id="21" name="Shape 19">
            <a:extLst>
              <a:ext uri="{FF2B5EF4-FFF2-40B4-BE49-F238E27FC236}">
                <a16:creationId xmlns:a16="http://schemas.microsoft.com/office/drawing/2014/main" id="{330F4208-A699-4B9E-8419-2220300566B9}"/>
              </a:ext>
            </a:extLst>
          </p:cNvPr>
          <p:cNvSpPr>
            <a:spLocks noGrp="1"/>
          </p:cNvSpPr>
          <p:nvPr/>
        </p:nvSpPr>
        <p:spPr>
          <a:xfrm>
            <a:off x="7955280" y="4864608"/>
            <a:ext cx="822960" cy="54864"/>
          </a:xfrm>
          <a:prstGeom prst="rect">
            <a:avLst/>
          </a:prstGeom>
          <a:solidFill>
            <a:srgbClr val="E8EEF7"/>
          </a:solidFill>
        </p:spPr>
        <p:txBody>
          <a:bodyPr/>
          <a:lstStyle/>
          <a:p>
            <a:endParaRPr/>
          </a:p>
        </p:txBody>
      </p:sp>
      <p:sp>
        <p:nvSpPr>
          <p:cNvPr id="22" name="Shape 20">
            <a:extLst>
              <a:ext uri="{FF2B5EF4-FFF2-40B4-BE49-F238E27FC236}">
                <a16:creationId xmlns:a16="http://schemas.microsoft.com/office/drawing/2014/main" id="{A1315EB0-AC15-477B-A7DA-7B44B53CDDF3}"/>
              </a:ext>
            </a:extLst>
          </p:cNvPr>
          <p:cNvSpPr>
            <a:spLocks noGrp="1"/>
          </p:cNvSpPr>
          <p:nvPr/>
        </p:nvSpPr>
        <p:spPr>
          <a:xfrm>
            <a:off x="7955280" y="4864608"/>
            <a:ext cx="822960" cy="54864"/>
          </a:xfrm>
          <a:prstGeom prst="rect">
            <a:avLst/>
          </a:prstGeom>
          <a:solidFill>
            <a:srgbClr val="1F3864"/>
          </a:solidFill>
        </p:spPr>
        <p:txBody>
          <a:bodyPr/>
          <a:lstStyle/>
          <a:p>
            <a:endParaRPr/>
          </a:p>
        </p:txBody>
      </p:sp>
    </p:spTree>
    <p:extLst>
      <p:ext uri="{BB962C8B-B14F-4D97-AF65-F5344CB8AC3E}">
        <p14:creationId xmlns:p14="http://schemas.microsoft.com/office/powerpoint/2010/main" val="2086258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3008</Words>
  <Application>Microsoft Office PowerPoint</Application>
  <DocSecurity>0</DocSecurity>
  <PresentationFormat>全屏显示(16:9)</PresentationFormat>
  <Paragraphs>253</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贝 贝</cp:lastModifiedBy>
  <cp:revision>1</cp:revision>
  <dcterms:created xsi:type="dcterms:W3CDTF">2026-09-02T11:07:40Z</dcterms:created>
  <dcterms:modified xsi:type="dcterms:W3CDTF">2026-09-03T15:37:52Z</dcterms:modified>
</cp:coreProperties>
</file>